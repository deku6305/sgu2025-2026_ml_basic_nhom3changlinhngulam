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</p:sldMasterIdLst>
  <p:notesMasterIdLst>
    <p:notesMasterId r:id="rId50"/>
  </p:notesMasterIdLst>
  <p:sldIdLst>
    <p:sldId id="292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80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304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67" r:id="rId49"/>
  </p:sldIdLst>
  <p:sldSz cx="12192000" cy="6858000"/>
  <p:notesSz cx="6858000" cy="9144000"/>
  <p:embeddedFontLst>
    <p:embeddedFont>
      <p:font typeface="Calibri" panose="020F0502020204030204" pitchFamily="34" charset="0"/>
      <p:regular r:id="rId51"/>
      <p:bold r:id="rId52"/>
      <p:italic r:id="rId53"/>
      <p:boldItalic r:id="rId54"/>
    </p:embeddedFont>
    <p:embeddedFont>
      <p:font typeface="DM Sans" panose="020B0604020202020204" charset="0"/>
      <p:regular r:id="rId55"/>
      <p:bold r:id="rId56"/>
      <p:italic r:id="rId57"/>
      <p:boldItalic r:id="rId58"/>
    </p:embeddedFont>
    <p:embeddedFont>
      <p:font typeface="Merriweather" panose="020B0604020202020204" charset="0"/>
      <p:regular r:id="rId59"/>
      <p:bold r:id="rId60"/>
      <p:italic r:id="rId61"/>
      <p:boldItalic r:id="rId62"/>
    </p:embeddedFont>
    <p:embeddedFont>
      <p:font typeface="Trebuchet MS" panose="020B0603020202020204" pitchFamily="34" charset="0"/>
      <p:regular r:id="rId63"/>
      <p:bold r:id="rId64"/>
      <p:italic r:id="rId65"/>
      <p:boldItalic r:id="rId66"/>
    </p:embeddedFont>
    <p:embeddedFont>
      <p:font typeface="Wingdings 3" panose="05040102010807070707" pitchFamily="18" charset="2"/>
      <p:regular r:id="rId6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3.fntdata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66" Type="http://schemas.openxmlformats.org/officeDocument/2006/relationships/font" Target="fonts/font16.fntdata"/><Relationship Id="rId5" Type="http://schemas.openxmlformats.org/officeDocument/2006/relationships/slide" Target="slides/slide4.xml"/><Relationship Id="rId61" Type="http://schemas.openxmlformats.org/officeDocument/2006/relationships/font" Target="fonts/font1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6.fntdata"/><Relationship Id="rId64" Type="http://schemas.openxmlformats.org/officeDocument/2006/relationships/font" Target="fonts/font14.fntdata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9.fntdata"/><Relationship Id="rId67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62" Type="http://schemas.openxmlformats.org/officeDocument/2006/relationships/font" Target="fonts/font12.fntdata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Relationship Id="rId60" Type="http://schemas.openxmlformats.org/officeDocument/2006/relationships/font" Target="fonts/font10.fntdata"/><Relationship Id="rId65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8667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86111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76006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024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55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94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14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497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088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760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311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8349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3001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410293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46414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546379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99427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236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37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174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8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C27C8E-555E-45F5-BAE8-8F2B0684B0E6}"/>
              </a:ext>
            </a:extLst>
          </p:cNvPr>
          <p:cNvSpPr/>
          <p:nvPr/>
        </p:nvSpPr>
        <p:spPr>
          <a:xfrm>
            <a:off x="4185272" y="1371025"/>
            <a:ext cx="42306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162B1C-6168-4F41-B45C-6C90AD6A84C5}"/>
              </a:ext>
            </a:extLst>
          </p:cNvPr>
          <p:cNvSpPr/>
          <p:nvPr/>
        </p:nvSpPr>
        <p:spPr>
          <a:xfrm>
            <a:off x="4628566" y="1844874"/>
            <a:ext cx="33440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vi-VN" sz="1400" cap="all" dirty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 hướng dẫn: TS. Đỗ Như Tài</a:t>
            </a:r>
            <a:endParaRPr lang="vi-VN" sz="1400" cap="all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58027E-96D7-4097-9775-4D476EE6C3DB}"/>
              </a:ext>
            </a:extLst>
          </p:cNvPr>
          <p:cNvSpPr/>
          <p:nvPr/>
        </p:nvSpPr>
        <p:spPr>
          <a:xfrm>
            <a:off x="3215272" y="2840607"/>
            <a:ext cx="6096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3200" b="1" dirty="0" err="1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b="1" dirty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3200" b="1" dirty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3200" b="1" dirty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 :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dirty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 </a:t>
            </a:r>
            <a:r>
              <a:rPr lang="en-US" sz="3200" dirty="0" err="1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Tuấn</a:t>
            </a:r>
            <a:r>
              <a:rPr lang="en-US" sz="3200" dirty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3200" dirty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3123410070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dirty="0" err="1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Châu</a:t>
            </a:r>
            <a:r>
              <a:rPr lang="en-US" sz="3200" dirty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r>
              <a:rPr lang="en-US" sz="3200" dirty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Đăng – 3123410075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dirty="0" err="1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Trần</a:t>
            </a:r>
            <a:r>
              <a:rPr lang="en-US" sz="3200" dirty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3200" dirty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Thắng</a:t>
            </a:r>
            <a:r>
              <a:rPr lang="en-US" sz="3200" dirty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3123410346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dirty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 </a:t>
            </a:r>
            <a:r>
              <a:rPr lang="en-US" sz="3200" dirty="0" err="1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Xuân</a:t>
            </a:r>
            <a:r>
              <a:rPr lang="en-US" sz="3200" dirty="0">
                <a:solidFill>
                  <a:srgbClr val="3036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Đăng – 3123410077</a:t>
            </a:r>
            <a:endParaRPr lang="en-US" sz="3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F21E9C-4226-4660-99E6-580FF34E9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139" y="538455"/>
            <a:ext cx="9276958" cy="16141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0C9F1D-B8C7-4862-85E6-218E860F6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777" y="64387"/>
            <a:ext cx="1752362" cy="175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40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95275" y="2358479"/>
            <a:ext cx="116014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Dự đoán Giá nhà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3572619" y="3539579"/>
            <a:ext cx="5046612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Phân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tích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&amp;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Hồi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quy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Nâng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cao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Bộ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dữ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liệu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"House Prices"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từ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Ames, Iowa (Kaggle)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571500" y="1238250"/>
            <a:ext cx="56007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Thách thức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571500" y="1743075"/>
            <a:ext cx="899237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Việc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định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giá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chính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xác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một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bất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động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sản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như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nhà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ở)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là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một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bài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toán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phức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tạp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nhưng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lại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giá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trị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thực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tiễn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cao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hỗ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trợ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cho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cả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người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mua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người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bán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các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nhà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đầu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tư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tổ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chức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tài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chính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571500" y="3152775"/>
            <a:ext cx="56007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Bộ dữ liệu Kaggle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3657600"/>
            <a:ext cx="899237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Cuộc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thi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"House Prices - Advanced Regression Techniques"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cung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cấp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một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bộ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dữ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liệu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chi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tiết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về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các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ngôi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nhà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được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bán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ở Ames, Iowa.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Bộ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dữ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liệu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này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bao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gồm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79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đặc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trưng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mô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tả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là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cơ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hội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tuyệt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vời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để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ứng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dụng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Học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máy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nhằm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xây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dựng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một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mô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hình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dự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đoán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giá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chính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xác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Bối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cảnh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&amp;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Tầm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quan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trọng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/>
        </p:nvSpPr>
        <p:spPr>
          <a:xfrm>
            <a:off x="2238375" y="1238250"/>
            <a:ext cx="8143875" cy="86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Làm sạch: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Xử lý bộ dữ liệu phức tạp với nhiều loại dữ liệu (số, phân loại) và nhiều giá trị bị thiếu.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2238375" y="2141041"/>
            <a:ext cx="8143875" cy="86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EDA: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Phân tích khám phá để hiểu rõ đặc điểm và mối quan hệ giữa các biến với giá bán (SalePrice).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2238375" y="3053357"/>
            <a:ext cx="8143875" cy="431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Feature Engineering: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Xây dựng và lựa chọn các đặc trưng mới để tối ưu hóa thông tin đầu vào.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2238375" y="3956149"/>
            <a:ext cx="8143875" cy="86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Mô hình hóa: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Xây dựng, huấn luyện và đánh giá các mô hình hồi quy (ví dụ: Random Forest, Gradient Boosting).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2238375" y="4858940"/>
            <a:ext cx="8143875" cy="86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Đánh giá: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Đo lường hiệu suất mô hình dựa trên tiêu chí Root Mean Squared Logarithmic Error (RMSLE).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128587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188666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10098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003774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90656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Mục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tiêu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Nghiên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cứu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238250"/>
            <a:ext cx="35559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7950" y="1238250"/>
            <a:ext cx="35559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1238250"/>
            <a:ext cx="3555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1219200" y="1528375"/>
            <a:ext cx="280363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Dữ liệu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809625" y="2171700"/>
            <a:ext cx="30797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Sử</a:t>
            </a:r>
            <a:r>
              <a:rPr lang="en-US" sz="16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dụng</a:t>
            </a:r>
            <a:r>
              <a:rPr lang="en-US" sz="16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bộ</a:t>
            </a:r>
            <a:r>
              <a:rPr lang="en-US" sz="16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dữ</a:t>
            </a:r>
            <a:r>
              <a:rPr lang="en-US" sz="16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liệu</a:t>
            </a:r>
            <a:r>
              <a:rPr lang="en-US" sz="16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train.csv (1460 </a:t>
            </a:r>
            <a:r>
              <a:rPr lang="en-US" sz="16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mẫu</a:t>
            </a:r>
            <a:r>
              <a:rPr lang="en-US" sz="16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 </a:t>
            </a:r>
            <a:r>
              <a:rPr lang="en-US" sz="16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</a:t>
            </a:r>
            <a:r>
              <a:rPr lang="en-US" sz="16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test.csv (1459 </a:t>
            </a:r>
            <a:r>
              <a:rPr lang="en-US" sz="16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mẫu</a:t>
            </a:r>
            <a:r>
              <a:rPr lang="en-US" sz="16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 </a:t>
            </a:r>
            <a:r>
              <a:rPr lang="en-US" sz="16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được</a:t>
            </a:r>
            <a:r>
              <a:rPr lang="en-US" sz="16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cung</a:t>
            </a:r>
            <a:r>
              <a:rPr lang="en-US" sz="16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cấp</a:t>
            </a:r>
            <a:r>
              <a:rPr lang="en-US" sz="16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bởi</a:t>
            </a:r>
            <a:r>
              <a:rPr lang="en-US" sz="16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cuộc</a:t>
            </a:r>
            <a:r>
              <a:rPr lang="en-US" sz="16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thi</a:t>
            </a:r>
            <a:r>
              <a:rPr lang="en-US" sz="16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"House Prices" </a:t>
            </a:r>
            <a:r>
              <a:rPr lang="en-US" sz="16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trên</a:t>
            </a:r>
            <a:r>
              <a:rPr lang="en-US" sz="16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Kaggle.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5079950" y="1528375"/>
            <a:ext cx="268361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Công cụ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4556075" y="2171700"/>
            <a:ext cx="30797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Ngôn ngữ lập trình Python và các thư viện phổ biến: Pandas, Matplotlib, Seaborn, và Scikit-learn.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8750200" y="1528375"/>
            <a:ext cx="27636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Phương pháp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8302525" y="2171700"/>
            <a:ext cx="30797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Tập trung vào Phân tích Khám phá Dữ liệu (EDA), Kỹ thuật Đặc trưng (Feature Engineering) và các mô hình Hồi quy.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5" name="Google Shape;12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1504950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56075" y="150495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02525" y="15049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Phạm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vi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Đề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tài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/>
        </p:nvSpPr>
        <p:spPr>
          <a:xfrm>
            <a:off x="295275" y="1929855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Tổng</a:t>
            </a:r>
            <a:r>
              <a:rPr lang="en-US" sz="45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5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quan</a:t>
            </a:r>
            <a:r>
              <a:rPr lang="en-US" sz="45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5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Bộ</a:t>
            </a:r>
            <a:r>
              <a:rPr lang="en-US" sz="45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5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Dữ</a:t>
            </a:r>
            <a:r>
              <a:rPr lang="en-US" sz="45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5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liệu</a:t>
            </a:r>
            <a:endParaRPr dirty="0"/>
          </a:p>
        </p:txBody>
      </p:sp>
      <p:sp>
        <p:nvSpPr>
          <p:cNvPr id="135" name="Google Shape;135;p17"/>
          <p:cNvSpPr txBox="1"/>
          <p:nvPr/>
        </p:nvSpPr>
        <p:spPr>
          <a:xfrm>
            <a:off x="2369690" y="3063330"/>
            <a:ext cx="745262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Khám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phá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81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đặc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trưng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của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nhà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ở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tại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Ames, Iowa (2006-2010)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59707"/>
            <a:ext cx="4419600" cy="217542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857250" y="2145457"/>
            <a:ext cx="3848100" cy="1500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0" b="1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1460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857250" y="3383707"/>
            <a:ext cx="38481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1CAA0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Mẫu dữ liệu Huấn luyện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5353050" y="1402507"/>
            <a:ext cx="68199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Hai </a:t>
            </a:r>
            <a:r>
              <a:rPr lang="en-US" sz="1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tệp</a:t>
            </a:r>
            <a:r>
              <a:rPr lang="en-US" sz="1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1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dữ</a:t>
            </a:r>
            <a:r>
              <a:rPr lang="en-US" sz="1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1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liệu</a:t>
            </a:r>
            <a:r>
              <a:rPr lang="en-US" sz="1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1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chính</a:t>
            </a:r>
            <a:r>
              <a:rPr lang="en-US" sz="1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5638800" y="1859707"/>
            <a:ext cx="63436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train.csv: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5638800" y="3012232"/>
            <a:ext cx="63436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test.csv: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5924550" y="2164507"/>
            <a:ext cx="60579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1460</a:t>
            </a:r>
            <a:r>
              <a:rPr lang="en-US" sz="16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mẫu quan sát.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5924550" y="2583607"/>
            <a:ext cx="60579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81</a:t>
            </a:r>
            <a:r>
              <a:rPr lang="en-US" sz="16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cột: 79 đặc trưng + Id + SalePrice.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5924550" y="3317032"/>
            <a:ext cx="60579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1459</a:t>
            </a:r>
            <a:r>
              <a:rPr lang="en-US" sz="16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mẫu quan sát.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5924550" y="3736132"/>
            <a:ext cx="60579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80</a:t>
            </a:r>
            <a:r>
              <a:rPr lang="en-US" sz="16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cột (không có SalePrice).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Cấu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trúc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Dữ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liệu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238250"/>
            <a:ext cx="533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238250"/>
            <a:ext cx="533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866775" y="1533525"/>
            <a:ext cx="498062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Biến Định lượng (37 cột)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866775" y="2038350"/>
            <a:ext cx="4743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Bao gồm các đặc trưng dạng số (int/float).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6581775" y="1533525"/>
            <a:ext cx="498062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Biến Định tính (43 cột)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6581775" y="2038350"/>
            <a:ext cx="4743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Bao gồm các đặc trưng dạng chữ (object).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1152525" y="2533650"/>
            <a:ext cx="44577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Liên tục:</a:t>
            </a: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LotArea (diện tích), GrLivArea (dt sinh hoạt), GarageArea.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1152525" y="3276600"/>
            <a:ext cx="44577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Rời rạc:</a:t>
            </a: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YearBuilt (năm xây), OverallQual (chất lượng 1-10), FullBath.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6867525" y="2533650"/>
            <a:ext cx="44577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Ví dụ:</a:t>
            </a: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Neighborhood (khu dân cư), MSZoning (quy hoạch), GarageType (loại gara), KitchenQual.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Các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loại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Biến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/>
        </p:nvSpPr>
        <p:spPr>
          <a:xfrm>
            <a:off x="571500" y="1238250"/>
            <a:ext cx="56007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Biến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195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Mục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195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tiêu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: </a:t>
            </a:r>
            <a:r>
              <a:rPr lang="en-US" sz="195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SalePrice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71499" y="1762125"/>
            <a:ext cx="9141667" cy="418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Đây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là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giá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trị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liên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tục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mà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mô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hình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cần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dự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đoán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dao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động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từ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34,900 USD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đến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755,000 USD.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571500" y="2562225"/>
            <a:ext cx="56007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Thách thức: Lệch Phải (Skewness = 1.88)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71499" y="3067050"/>
            <a:ext cx="9253635" cy="837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Phân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phối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của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SalePrice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bị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lệch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nặng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Hầu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hết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nhà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có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giá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trung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bình-thấp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nhưng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có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một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số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ít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giá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trị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ngoại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lệ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(outliers)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rất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cao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71500" y="3876675"/>
            <a:ext cx="9253634" cy="837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Hàm</a:t>
            </a:r>
            <a:r>
              <a:rPr lang="en-US" sz="1700" b="1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ý: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Cần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phải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áp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dụng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biến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đổi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logarit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(Log Transform)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để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chuẩn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hóa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biến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này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trước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khi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huấn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luyện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mô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hình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Thách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thức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: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Biến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Mục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tiêu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&amp;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Phân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bố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Lệch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238250"/>
            <a:ext cx="533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238250"/>
            <a:ext cx="533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866775" y="1533525"/>
            <a:ext cx="498062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Loại 1: Thiếu do "Không có"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866775" y="2038350"/>
            <a:ext cx="47434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Phần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lớn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giá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trị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NaN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trong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19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cột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thực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chất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ý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nghĩa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là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"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Không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có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"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đặc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điểm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đó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không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phải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lỗi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dữ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liệu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866775" y="4819650"/>
            <a:ext cx="47434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Giải pháp:</a:t>
            </a: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Mã hóa các giá trị `NaN` này thành một hạng mục riêng (ví dụ: 'None').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6581775" y="1533525"/>
            <a:ext cx="498062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Loại 2: Thiếu Thực sự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6581775" y="2038350"/>
            <a:ext cx="47434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Một số cột bị thiếu dữ liệu và đòi hỏi các kỹ thuật điền giá trị (imputation) thông minh.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6581775" y="4067175"/>
            <a:ext cx="47434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Giải pháp:</a:t>
            </a: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Điền giá trị (Imputation), ví dụ: bằng trung vị (median) của các nhà trong cùng khu vực.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1152525" y="3152775"/>
            <a:ext cx="44577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PoolQC (Chất lượng hồ bơi) `NaN` → "Không có Hồ bơi".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1152525" y="3886200"/>
            <a:ext cx="4457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Alley (Lối đi) `NaN` → "Không có Lối đi".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1152525" y="4314825"/>
            <a:ext cx="4457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GarageType `NaN` → "Không có Gara".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6867525" y="2838450"/>
            <a:ext cx="4457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LotFrontage (Mặt tiền) bị thiếu 17.74%.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6867525" y="3267075"/>
            <a:ext cx="44577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Giá trị này có khả năng liên quan đến khu vực (Neighborhood) hoặc loại lô đất (LotConfig).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Thách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thức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: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Dữ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liệu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thiếu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(Missing Values)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 txBox="1"/>
          <p:nvPr/>
        </p:nvSpPr>
        <p:spPr>
          <a:xfrm>
            <a:off x="-756168" y="1808169"/>
            <a:ext cx="56007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Phân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195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bố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195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Lệch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(Input Skew)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571500" y="2143903"/>
            <a:ext cx="8731120" cy="837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Nhiều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biến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đầu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vào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như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LotArea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cũng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bị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lệch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nặng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(Skew &gt; 12),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cần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được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chuẩn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hóa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ví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dụ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 Log Transform).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-492190" y="3726905"/>
            <a:ext cx="56007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Đa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195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cộng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195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tuyến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(Multicollinearity)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571500" y="4034571"/>
            <a:ext cx="8864470" cy="418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Tương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quan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cao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giữa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các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biến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đầu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vào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ví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dụ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GarageArea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GarageCars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Tương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quan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 0.88).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Thách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thức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: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Lệch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(Skew) &amp;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Đa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cộng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tuyến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"/>
          <p:cNvSpPr txBox="1"/>
          <p:nvPr/>
        </p:nvSpPr>
        <p:spPr>
          <a:xfrm>
            <a:off x="2238375" y="1238250"/>
            <a:ext cx="8143875" cy="431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Mục tiêu: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Xây dựng mô hình hồi quy dự đoán SalePrice từ 79 đặc trưng.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2238375" y="1794420"/>
            <a:ext cx="8143875" cy="431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Thước đo (Metric):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Root Mean Squared Logarithmic Error (RMSLE).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Google Shape;228;p23"/>
          <p:cNvSpPr txBox="1"/>
          <p:nvPr/>
        </p:nvSpPr>
        <p:spPr>
          <a:xfrm>
            <a:off x="2238375" y="2341066"/>
            <a:ext cx="8143875" cy="86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Ý nghĩa RMSLE: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Thước đo này (a) xử lý độ lệch (skewness) của SalePrice và (b) phạt nặng hơn khi dự đoán *thấp* hơn là dự đoán *cao*.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2238375" y="3253382"/>
            <a:ext cx="8143875" cy="431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Ý nghĩa Học tập:</a:t>
            </a:r>
            <a:r>
              <a:rPr lang="en-US" sz="165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Rèn luyện toàn diện kỹ năng EDA, xử lý dữ liệu, và feature engineering.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0" name="Google Shape;23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128587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1842045"/>
            <a:ext cx="1143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388691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301007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Mục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tiêu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Phân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tích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&amp;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Thước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đo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730579" y="2545109"/>
            <a:ext cx="6730841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Tiền Xử Lý Dữ Liệu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3402955" y="3718470"/>
            <a:ext cx="5385941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Phân tích và Chuẩn bị Dữ liệu cho Mô hình Học máy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571500" y="1524000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Mục</a:t>
            </a:r>
            <a:r>
              <a:rPr lang="en-US" sz="21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21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tiêu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846533" y="1843054"/>
            <a:ext cx="9519777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-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Đảm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bảo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tính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nhất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quán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giữa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tập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huấn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luyện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(train)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tập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kiểm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tra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(test).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857250" y="2433985"/>
            <a:ext cx="9061191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-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Xử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lý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các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giá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trị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bị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thiếu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(missing values)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một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cách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có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ý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nghĩa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857250" y="3020806"/>
            <a:ext cx="9519777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-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Chuẩn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hóa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biến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đổi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các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đặc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trưng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để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phù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hợp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với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giả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định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của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mô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hình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857250" y="3716750"/>
            <a:ext cx="9341109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-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Tạo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ra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các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đặc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trưng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mới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(feature engineering)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để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tăng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cường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sức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mạnh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dự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2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đoán</a:t>
            </a:r>
            <a:r>
              <a:rPr lang="en-US" sz="2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Mục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tiêu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&amp; </a:t>
            </a:r>
            <a:r>
              <a:rPr lang="en-US" sz="3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Quy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trình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Tổng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quan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22193" y="1606600"/>
            <a:ext cx="5286375" cy="275418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1062037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Biến đổi Mục tiêu (SalePrice)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1595437"/>
            <a:ext cx="52863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Biến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mục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tiêu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SalePrice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bị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lệch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phải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Áp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dụng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biến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đổi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Logarit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(np.log)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để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đưa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về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phân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phối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chuẩn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giúp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các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mô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hình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tuyến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tính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hoạt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động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hiệu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quả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hơn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2719387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Gộp Dữ liệu (Train &amp; Test)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3252787"/>
            <a:ext cx="52863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Gộp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train (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đã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bỏ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SalePrice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test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thành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data.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Điều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này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đảm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bảo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mọi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phép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biến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đổi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(scaling, one-hot)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được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áp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dụng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đồng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nhất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trên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cả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hai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tập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tránh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rò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rỉ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dữ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liệu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109537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Bước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1: </a:t>
            </a:r>
            <a:r>
              <a:rPr lang="en-US" sz="3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Gộp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Dữ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liệu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&amp; </a:t>
            </a:r>
            <a:r>
              <a:rPr lang="en-US" sz="3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Biến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đổi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Mục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tiêu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F2B422-2497-4E0B-AA60-CD2AFFDF37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509" y="1733677"/>
            <a:ext cx="5169742" cy="249647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300162"/>
            <a:ext cx="5381625" cy="52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300162"/>
            <a:ext cx="5381625" cy="52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34150" y="1595437"/>
            <a:ext cx="4791075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866775" y="2233612"/>
            <a:ext cx="503062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Khi</a:t>
            </a:r>
            <a:r>
              <a:rPr lang="en-US" sz="1800" b="1" i="0" u="none" strike="noStrike" cap="none" dirty="0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`</a:t>
            </a:r>
            <a:r>
              <a:rPr lang="en-US" sz="1800" b="1" i="0" u="none" strike="noStrike" cap="none" dirty="0" err="1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NaN</a:t>
            </a:r>
            <a:r>
              <a:rPr lang="en-US" sz="1800" b="1" i="0" u="none" strike="noStrike" cap="none" dirty="0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` </a:t>
            </a:r>
            <a:r>
              <a:rPr lang="en-US" sz="1800" b="1" i="0" u="none" strike="noStrike" cap="none" dirty="0" err="1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có</a:t>
            </a:r>
            <a:r>
              <a:rPr lang="en-US" sz="1800" b="1" i="0" u="none" strike="noStrike" cap="none" dirty="0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1800" b="1" i="0" u="none" strike="noStrike" cap="none" dirty="0" err="1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nghĩa</a:t>
            </a:r>
            <a:r>
              <a:rPr lang="en-US" sz="1800" b="1" i="0" u="none" strike="noStrike" cap="none" dirty="0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1800" b="1" i="0" u="none" strike="noStrike" cap="none" dirty="0" err="1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là</a:t>
            </a:r>
            <a:r>
              <a:rPr lang="en-US" sz="1800" b="1" i="0" u="none" strike="noStrike" cap="none" dirty="0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"</a:t>
            </a:r>
            <a:r>
              <a:rPr lang="en-US" sz="1800" b="1" i="0" u="none" strike="noStrike" cap="none" dirty="0" err="1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Không</a:t>
            </a:r>
            <a:r>
              <a:rPr lang="en-US" sz="1800" b="1" i="0" u="none" strike="noStrike" cap="none" dirty="0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1800" b="1" i="0" u="none" strike="noStrike" cap="none" dirty="0" err="1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có</a:t>
            </a:r>
            <a:r>
              <a:rPr lang="en-US" sz="1800" b="1" i="0" u="none" strike="noStrike" cap="none" dirty="0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"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866775" y="2700337"/>
            <a:ext cx="47910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Với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các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đặc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trưng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như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PoolQC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GarageType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Alley,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NaN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có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nghĩa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là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"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Không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có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" (No Pool, No Garage).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866775" y="3386137"/>
            <a:ext cx="47910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Hành</a:t>
            </a:r>
            <a:r>
              <a:rPr lang="en-US" sz="1500" b="1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1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động</a:t>
            </a:r>
            <a:r>
              <a:rPr lang="en-US" sz="1500" b="1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Điền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NaN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bằng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chuỗi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'None'.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6534150" y="2233612"/>
            <a:ext cx="503062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Khi</a:t>
            </a:r>
            <a:r>
              <a:rPr lang="en-US" sz="1800" b="1" i="0" u="none" strike="noStrike" cap="none" dirty="0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`</a:t>
            </a:r>
            <a:r>
              <a:rPr lang="en-US" sz="1800" b="1" i="0" u="none" strike="noStrike" cap="none" dirty="0" err="1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NaN</a:t>
            </a:r>
            <a:r>
              <a:rPr lang="en-US" sz="1800" b="1" i="0" u="none" strike="noStrike" cap="none" dirty="0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` </a:t>
            </a:r>
            <a:r>
              <a:rPr lang="en-US" sz="1800" b="1" i="0" u="none" strike="noStrike" cap="none" dirty="0" err="1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thực</a:t>
            </a:r>
            <a:r>
              <a:rPr lang="en-US" sz="1800" b="1" i="0" u="none" strike="noStrike" cap="none" dirty="0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1800" b="1" i="0" u="none" strike="noStrike" cap="none" dirty="0" err="1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sự</a:t>
            </a:r>
            <a:r>
              <a:rPr lang="en-US" sz="1800" b="1" i="0" u="none" strike="noStrike" cap="none" dirty="0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1800" b="1" i="0" u="none" strike="noStrike" cap="none" dirty="0" err="1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bị</a:t>
            </a:r>
            <a:r>
              <a:rPr lang="en-US" sz="1800" b="1" i="0" u="none" strike="noStrike" cap="none" dirty="0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1800" b="1" i="0" u="none" strike="noStrike" cap="none" dirty="0" err="1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thiếu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6534150" y="2700337"/>
            <a:ext cx="47910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Với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MSZoning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Utilities,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giá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trị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NaN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thực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sự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bị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thiếu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6534150" y="3128962"/>
            <a:ext cx="47910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Hành</a:t>
            </a:r>
            <a:r>
              <a:rPr lang="en-US" sz="1500" b="1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1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động</a:t>
            </a:r>
            <a:r>
              <a:rPr lang="en-US" sz="1500" b="1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Điền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bằng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giá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trị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xuất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hiện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nhiều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nhất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(Mode) </a:t>
            </a:r>
            <a:r>
              <a:rPr lang="en-US" sz="1500" b="0" i="1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trong</a:t>
            </a:r>
            <a:r>
              <a:rPr lang="en-US" sz="1500" b="0" i="1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1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cùng</a:t>
            </a:r>
            <a:r>
              <a:rPr lang="en-US" sz="1500" b="0" i="1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1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khu</a:t>
            </a:r>
            <a:r>
              <a:rPr lang="en-US" sz="1500" b="0" i="1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1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vực</a:t>
            </a:r>
            <a:r>
              <a:rPr lang="en-US" sz="1500" b="0" i="1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(Neighborhood)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để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giữ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tính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logic.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347662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Bước 2: Xử lý Giá trị Thiếu (Dữ liệu Phân loại)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171575"/>
            <a:ext cx="5381625" cy="546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171575"/>
            <a:ext cx="5381625" cy="546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775" y="1466850"/>
            <a:ext cx="4791075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866775" y="2105025"/>
            <a:ext cx="503062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Điền `NaN` bằng Trung vị (Median)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866775" y="2571750"/>
            <a:ext cx="47910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LotFrontage (Diện tích mặt tiền) bị thiếu. Các nhà gần nhau thường có mặt tiền tương tự.</a:t>
            </a:r>
            <a:endParaRPr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866775" y="3257550"/>
            <a:ext cx="47910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Hành động:</a:t>
            </a:r>
            <a:r>
              <a:rPr lang="en-US" sz="1500" b="0" i="0" u="none" strike="noStrike" cap="none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Điền bằng giá trị trung vị (Median) </a:t>
            </a:r>
            <a:r>
              <a:rPr lang="en-US" sz="1500" b="0" i="1" u="none" strike="noStrike" cap="none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của khu vực (Neighborhood)</a:t>
            </a:r>
            <a:r>
              <a:rPr lang="en-US" sz="1500" b="0" i="0" u="none" strike="noStrike" cap="none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6534150" y="2105025"/>
            <a:ext cx="503062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Điền `NaN` bằng 0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6534150" y="2571750"/>
            <a:ext cx="47910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GarageYrBlt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MasVnrArea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BsmtFullBath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`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NaN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`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khi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không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có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garage,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ốp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đá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hoặc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tầng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hầm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6534150" y="3257550"/>
            <a:ext cx="47910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Hành</a:t>
            </a:r>
            <a:r>
              <a:rPr lang="en-US" sz="1500" b="1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1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động</a:t>
            </a:r>
            <a:r>
              <a:rPr lang="en-US" sz="1500" b="1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Điền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NaN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bằng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0.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219075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Bước 2: Xử lý Giá trị Thiếu (Dữ liệu Số)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22193" y="2442956"/>
            <a:ext cx="5286375" cy="2769248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571500" y="124291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Tạo</a:t>
            </a:r>
            <a:r>
              <a:rPr lang="en-US" sz="21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21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Đặc</a:t>
            </a:r>
            <a:r>
              <a:rPr lang="en-US" sz="21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21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trưng</a:t>
            </a:r>
            <a:r>
              <a:rPr lang="en-US" sz="21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21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Tổ</a:t>
            </a:r>
            <a:r>
              <a:rPr lang="en-US" sz="21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21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hợp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571500" y="1776315"/>
            <a:ext cx="5286375" cy="125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Kết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hợp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các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đặc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trưng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liên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quan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để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tạo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ra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các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biến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tổng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hợp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có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ý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nghĩa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hơn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giúp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mô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hình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hiểu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rõ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hơn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về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quy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mô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tiện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nghi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của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ngôi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nhà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905264" y="3090503"/>
            <a:ext cx="5000625" cy="837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TotalArea</a:t>
            </a:r>
            <a:r>
              <a:rPr lang="en-US" sz="1700" b="1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Tổng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diện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tích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tầng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hầm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diện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tích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sinh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hoạt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905265" y="3986115"/>
            <a:ext cx="5000625" cy="837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TotalBaths</a:t>
            </a:r>
            <a:r>
              <a:rPr lang="en-US" sz="1700" b="1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Tổng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số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phòng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tắm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(bao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gồm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cả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phòng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tắm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phụ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).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846533" y="4997600"/>
            <a:ext cx="5000625" cy="418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TotalPorch</a:t>
            </a:r>
            <a:r>
              <a:rPr lang="en-US" sz="1700" b="1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Tổng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diện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tích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của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tất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cả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các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loại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hiên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nhà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571500" y="76459"/>
            <a:ext cx="116014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Bước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3: Feature Engineering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(</a:t>
            </a:r>
            <a:r>
              <a:rPr lang="en-US" sz="3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Tạo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đặc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trưng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tổ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hợp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F962AC-D8CB-47D0-AA6C-84335AF67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831" y="2614406"/>
            <a:ext cx="5095097" cy="238319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1763697"/>
            <a:ext cx="5286375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584330" y="1410542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Tạo</a:t>
            </a:r>
            <a:r>
              <a:rPr lang="en-US" sz="21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21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Đặc</a:t>
            </a:r>
            <a:r>
              <a:rPr lang="en-US" sz="21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21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trưng</a:t>
            </a:r>
            <a:r>
              <a:rPr lang="en-US" sz="21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Logic (Boolean)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584330" y="1763697"/>
            <a:ext cx="5286375" cy="837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Chuyển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đổi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các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đặc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trưng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số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nhưng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chủ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yếu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là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0)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thành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dạng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cờ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(0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hoặc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1)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để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biểu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thị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sự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tồn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tại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của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một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tiện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ích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590550" y="2600849"/>
            <a:ext cx="5286375" cy="125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Ví</a:t>
            </a:r>
            <a:r>
              <a:rPr lang="en-US" sz="1700" b="1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1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dụ</a:t>
            </a:r>
            <a:r>
              <a:rPr lang="en-US" sz="1700" b="1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PoolArea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diện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tích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hồ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bơi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có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99%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giá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trị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là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0.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Biến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Pool (1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nếu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có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0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nếu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không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có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thể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hữu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ích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hơn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cho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mô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hình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571499" y="3856577"/>
            <a:ext cx="5286375" cy="837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Áp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dụng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tương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tự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cho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Garage,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Bsmt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tầng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hầm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), Fireplace (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lò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sưởi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),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Porch.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584330" y="196882"/>
            <a:ext cx="116014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Bước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3: Feature Engineering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(</a:t>
            </a:r>
            <a:r>
              <a:rPr lang="en-US" sz="3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Tạo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đặc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6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trưng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logic)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7F3BFC-C436-4CE0-AD2B-4C751F609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048" y="2091238"/>
            <a:ext cx="4954277" cy="193781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357312"/>
            <a:ext cx="5381625" cy="509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357312"/>
            <a:ext cx="5381625" cy="509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866775" y="2290762"/>
            <a:ext cx="503062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Đặc trưng Tuần hoàn (Cyclical)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866775" y="2716553"/>
            <a:ext cx="47910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MoSold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Tháng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bán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là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dữ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liệu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tuần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hoàn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tháng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12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gần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tháng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1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hơn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tháng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11).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866775" y="3368334"/>
            <a:ext cx="4791075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Hành</a:t>
            </a:r>
            <a:r>
              <a:rPr lang="en-US" sz="1500" b="1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1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động</a:t>
            </a:r>
            <a:r>
              <a:rPr lang="en-US" sz="1500" b="1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Chuyển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đổi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sang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tọa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độ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Sin/Cos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để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thể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hiện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tính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tuần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hoàn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giúp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mô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hình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hiểu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đúng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khoảng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cách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giữa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các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tháng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6534150" y="2290762"/>
            <a:ext cx="503062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Đặc trưng Phân loại (Categorical)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6534150" y="2757487"/>
            <a:ext cx="47910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MSSubClass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Loại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nhà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YrSold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Năm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bán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là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các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số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nhưng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thực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chất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đại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diện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cho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các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danh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mục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(categories).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534150" y="3443287"/>
            <a:ext cx="47910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Hành động:</a:t>
            </a:r>
            <a:r>
              <a:rPr lang="en-US" sz="1500" b="0" i="0" u="none" strike="noStrike" cap="none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Chuyển đổi kiểu dữ liệu sang category để get_dummies có thể xử lý ở bước sau.</a:t>
            </a:r>
            <a:endParaRPr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1" name="Google Shape;18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775" y="170021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34150" y="170021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571500" y="404812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Bước 4: Biến đổi Kiểu Dữ liệu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/>
        </p:nvSpPr>
        <p:spPr>
          <a:xfrm>
            <a:off x="571500" y="12382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Vấn đề: Phân phối bị Lệch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571500" y="657225"/>
            <a:ext cx="8675137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Nhiều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đặc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trưng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số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ví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dụ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LotArea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bị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lệch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nặng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(skewed), vi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phạm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giả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định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của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nhiều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mô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hình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hồi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quy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như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tính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chuẩn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của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phần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dư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571500" y="1771650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Giải pháp: Biến đổi Toán học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571500" y="2305050"/>
            <a:ext cx="8675137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Áp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dụng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các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phép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biến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đổi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để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đưa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phân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phối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về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gần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dạng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chuẩn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hình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chuông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857250" y="3105150"/>
            <a:ext cx="8949223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Log Transform (np.log1p):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Sử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dụng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cho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các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biến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có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độ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lệch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cao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an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toàn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với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giá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trị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0 (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như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LotArea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857250" y="3876675"/>
            <a:ext cx="8389387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Box-Cox Transform (boxcox1p):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Tự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động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tìm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phép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biến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đổi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lũy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thừa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(lambda)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tốt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nhất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để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chuẩn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hóa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dữ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liệu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bị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lệch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dương</a:t>
            </a:r>
            <a:r>
              <a:rPr lang="en-US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571500" y="-828675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Bước 4: Xử lý Độ Lệch (Skewness)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00225"/>
            <a:ext cx="5381625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800225"/>
            <a:ext cx="5381625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866775" y="2733675"/>
            <a:ext cx="503062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Chuẩn hóa Đặc trưng (Scaling)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866775" y="3200400"/>
            <a:ext cx="47910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Mục tiêu:</a:t>
            </a:r>
            <a:r>
              <a:rPr lang="en-US" sz="13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Đưa tất cả các đặc trưng số về cùng một thang đo, giúp các mô hình (như Ridge, Lasso, SVM) hội tụ nhanh và chính xác hơn.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866775" y="4143375"/>
            <a:ext cx="47910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Phương pháp:</a:t>
            </a:r>
            <a:r>
              <a:rPr lang="en-US" sz="13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RobustScaler được sử dụng vì nó ít bị ảnh hưởng bởi các giá trị ngoại lệ (outliers) hơn.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6534150" y="2733675"/>
            <a:ext cx="503062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Mã hóa One-Hot (Encoding)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6534150" y="3200400"/>
            <a:ext cx="47910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Mục tiêu:</a:t>
            </a:r>
            <a:r>
              <a:rPr lang="en-US" sz="13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Chuyển đổi các đặc trưng category (đã tạo ở bước trước) thành các cột nhị phân (0/1) để mô hình có thể hiểu được.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6534150" y="4143375"/>
            <a:ext cx="47910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Phương pháp:</a:t>
            </a:r>
            <a:r>
              <a:rPr lang="en-US" sz="1350" b="0" i="0" u="none" strike="noStrike" cap="non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pd.get_dummies() tự động mã hóa tất cả các cột có kiểu dữ liệu `category`.</a:t>
            </a:r>
            <a:endParaRPr/>
          </a:p>
        </p:txBody>
      </p:sp>
      <p:pic>
        <p:nvPicPr>
          <p:cNvPr id="211" name="Google Shape;21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775" y="21431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34150" y="2143125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571500" y="276225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Bước 4: Chuẩn hóa (Scaling) &amp; Mã hóa (Encoding)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41243" y="2009489"/>
            <a:ext cx="5286375" cy="299434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 txBox="1"/>
          <p:nvPr/>
        </p:nvSpPr>
        <p:spPr>
          <a:xfrm>
            <a:off x="590550" y="1530998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Tách</a:t>
            </a:r>
            <a:r>
              <a:rPr lang="en-US" sz="21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21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Dữ</a:t>
            </a:r>
            <a:r>
              <a:rPr lang="en-US" sz="21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21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liệu</a:t>
            </a:r>
            <a:r>
              <a:rPr lang="en-US" sz="21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&amp; </a:t>
            </a:r>
            <a:r>
              <a:rPr lang="en-US" sz="21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Tìm</a:t>
            </a:r>
            <a:r>
              <a:rPr lang="en-US" sz="21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21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Ngoại</a:t>
            </a:r>
            <a:r>
              <a:rPr lang="en-US" sz="21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21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lệ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590550" y="2064398"/>
            <a:ext cx="5286375" cy="837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Sau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khi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xử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lý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chúng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ta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tách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data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trở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lại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thành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X_train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(1460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dòng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X_test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(1459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dòng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).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590550" y="2883548"/>
            <a:ext cx="5286375" cy="125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Tìm</a:t>
            </a:r>
            <a:r>
              <a:rPr lang="en-US" sz="1700" b="1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1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ngoại</a:t>
            </a:r>
            <a:r>
              <a:rPr lang="en-US" sz="1700" b="1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1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lệ</a:t>
            </a:r>
            <a:r>
              <a:rPr lang="en-US" sz="1700" b="1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Huấn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luyện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một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mô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hình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LinearRegression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đơn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giản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Các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điểm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dữ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liệu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có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phần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dư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(residual)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quá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lớn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(Z-score &gt; 3)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được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coi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là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ngoại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lệ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590550" y="4111749"/>
            <a:ext cx="5286375" cy="418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Hành</a:t>
            </a:r>
            <a:r>
              <a:rPr lang="en-US" sz="1700" b="1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1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động</a:t>
            </a:r>
            <a:r>
              <a:rPr lang="en-US" sz="1700" b="1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Loại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bỏ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20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điểm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ngoại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lệ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khỏi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X_train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y.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590550" y="4502798"/>
            <a:ext cx="5286375" cy="418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Kết quả:</a:t>
            </a:r>
            <a:r>
              <a:rPr lang="en-US" sz="17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Dữ liệu huấn luyện cuối cùng có (1440, 331).</a:t>
            </a:r>
            <a:endParaRPr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590550" y="578498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Bước 5: Loại bỏ Ngoại lệ (Outlier Removal)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010653-BF52-4D82-9840-F4A0752B0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5852" y="2414804"/>
            <a:ext cx="4984765" cy="223447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/>
        </p:nvSpPr>
        <p:spPr>
          <a:xfrm>
            <a:off x="1265681" y="1766800"/>
            <a:ext cx="9660488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SAU KHI THỰC HIỆN V</a:t>
            </a:r>
            <a:r>
              <a:rPr lang="en-US" sz="48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ỚI </a:t>
            </a:r>
            <a:r>
              <a:rPr lang="en-US" sz="4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MODEL THÌ </a:t>
            </a:r>
            <a:r>
              <a:rPr lang="en-US" sz="48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ĐIỂM KAGGLE LÀ </a:t>
            </a:r>
            <a:endParaRPr lang="en-US" sz="4800" b="1" i="0" u="none" strike="noStrike" cap="none" dirty="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6" name="Google Shape;218;p23" descr="image.png">
            <a:extLst>
              <a:ext uri="{FF2B5EF4-FFF2-40B4-BE49-F238E27FC236}">
                <a16:creationId xmlns:a16="http://schemas.microsoft.com/office/drawing/2014/main" id="{40217991-32C3-4F56-B9D8-AA3211DA64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4598" y="3429001"/>
            <a:ext cx="8722422" cy="1150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D62A87-A869-43DE-B048-86323C4A6A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3584" y="3521437"/>
            <a:ext cx="7604449" cy="96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8013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95275" y="2690336"/>
            <a:ext cx="116014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Quy</a:t>
            </a:r>
            <a:r>
              <a:rPr lang="en-US" sz="4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8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Trình</a:t>
            </a:r>
            <a:r>
              <a:rPr lang="en-US" sz="4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8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Tiền</a:t>
            </a:r>
            <a:r>
              <a:rPr lang="en-US" sz="4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8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Xử</a:t>
            </a:r>
            <a:r>
              <a:rPr lang="en-US" sz="4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8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Lý</a:t>
            </a:r>
            <a:r>
              <a:rPr lang="en-US" sz="4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8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Dữ</a:t>
            </a:r>
            <a:r>
              <a:rPr lang="en-US" sz="4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8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Liệu</a:t>
            </a:r>
            <a:r>
              <a:rPr lang="en-US" sz="4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800" b="1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Cải</a:t>
            </a:r>
            <a:r>
              <a:rPr lang="en-US" sz="48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800" b="1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Tiến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238250"/>
            <a:ext cx="533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238250"/>
            <a:ext cx="533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771525" y="1438275"/>
            <a:ext cx="518064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Mục tiêu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6486525" y="1438275"/>
            <a:ext cx="518064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Thư viện chính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6486525" y="1943100"/>
            <a:ext cx="4933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Sử dụng các thư viện cốt lõi của Python cho khoa học dữ liệu: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057275" y="1895475"/>
            <a:ext cx="4648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Đọc và tách biệt dữ liệu train/test và biến mục tiêu.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057275" y="2314575"/>
            <a:ext cx="46482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Tạo các đặc trưng mới (feature engineering) để tăng thông tin.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057275" y="3038475"/>
            <a:ext cx="4648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Xử lý toàn diện các giá trị bị thiếu (missing values).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057275" y="3457575"/>
            <a:ext cx="4648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Mã hóa các biến phân loại (categorical) sang dạng số.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057275" y="4181475"/>
            <a:ext cx="46482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Chuẩn hóa (scale) các biến số để mô hình hoạt động hiệu quả.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1057275" y="4905375"/>
            <a:ext cx="4648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Lưu dữ liệu sạch, sẵn sàng cho huấn luyện.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Mục tiêu &amp; Thư viện Chính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/>
          <p:nvPr/>
        </p:nvSpPr>
        <p:spPr>
          <a:xfrm>
            <a:off x="571500" y="476250"/>
            <a:ext cx="584073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Bước 1: Tải &amp; Tách Dữ liệu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1238250"/>
            <a:ext cx="584073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Hàm: `preprocess_house_prices_data`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1743075"/>
            <a:ext cx="5562600" cy="418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Bước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đầu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tiên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là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đọc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file train.csv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test.csv.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2247900"/>
            <a:ext cx="5562600" cy="837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Biến mục tiêu SalePrice được tách ra thành y. Dữ liệu X_train và X_test được giữ lại để xử lý.</a:t>
            </a:r>
            <a:endParaRPr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3067050"/>
            <a:ext cx="5562600" cy="837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Cột Id được loại bỏ vì nó không mang giá trị dự đoán và có thể gây nhiễu cho mô hình.</a:t>
            </a:r>
            <a:endParaRPr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6C419C-EE74-45CB-A294-660790C4F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100" y="952500"/>
            <a:ext cx="5677392" cy="421422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238250"/>
            <a:ext cx="35559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7950" y="1238250"/>
            <a:ext cx="35559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1238250"/>
            <a:ext cx="3555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809625" y="2019300"/>
            <a:ext cx="323368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Tổng Diện Tích (TotalSF)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809625" y="2590800"/>
            <a:ext cx="30797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Kết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hợp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diện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tích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tầng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hầm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tầng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1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tầng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2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để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có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cái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nhìn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tổng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quan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về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quy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mô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4556075" y="2019300"/>
            <a:ext cx="323368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Tuổi Nhà (HouseAge)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4556075" y="2590800"/>
            <a:ext cx="30797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Tính tuổi của ngôi nhà tại thời điểm bán. Thường quan trọng hơn năm xây dựng.</a:t>
            </a:r>
            <a:endParaRPr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8302525" y="2019300"/>
            <a:ext cx="323368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Đã Cải tạo (IsRemodeled)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8302525" y="2590800"/>
            <a:ext cx="30797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Tạo cờ nhị phân (0/1) cho biết ngôi nhà đã từng được cải tạo hay chưa.</a:t>
            </a:r>
            <a:endParaRPr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151447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56075" y="151447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02525" y="151447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Bước 2: Feature Engineering (Tạo đặc trưng mới) - P1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238250"/>
            <a:ext cx="35559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7950" y="1238250"/>
            <a:ext cx="35559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1238250"/>
            <a:ext cx="3555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809625" y="2019300"/>
            <a:ext cx="323368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Tổng Phòng Tắm (TotalBath)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809625" y="2590800"/>
            <a:ext cx="30797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Tính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tổng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số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lượng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phòng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tắm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với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phòng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tắm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phụ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HalfBath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được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tính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là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0.5.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4556075" y="2019300"/>
            <a:ext cx="323368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Điểm Tổng Thể (OverallScore)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4556075" y="2857500"/>
            <a:ext cx="30797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Kết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hợp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chất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lượng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điều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kiện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tổng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thể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thành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một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điểm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số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duy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nhất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8302525" y="2019300"/>
            <a:ext cx="323368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Tổng Diện Tích Hiên (TotalPorchSF)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8302525" y="2857500"/>
            <a:ext cx="30797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Cộng tổng diện tích của tất cả các loại hiên (WoodDeck, OpenPorch, v.v.).</a:t>
            </a:r>
            <a:endParaRPr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8" name="Google Shape;14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151447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56075" y="151447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02525" y="1514475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Bước 2: Feature Engineering (Tạo đặc trưng mới) - P2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238250"/>
            <a:ext cx="533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238250"/>
            <a:ext cx="533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771525" y="1438275"/>
            <a:ext cx="518064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Biến Số (Numeric)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771525" y="1943100"/>
            <a:ext cx="4933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Vấn đề:</a:t>
            </a: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Các cột số (như `LotFrontage`) có giá trị NaN.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771525" y="2447925"/>
            <a:ext cx="49339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Giải pháp:</a:t>
            </a: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Sử dụng SimpleImputer với chiến lược 'median' (trung vị) để điền vào các ô trống. Trung vị ít bị ảnh hưởng bởi ngoại lệ hơn trung bình (mean).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6486525" y="1438275"/>
            <a:ext cx="518064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Biến Phân loại (Categorical)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6486525" y="1943100"/>
            <a:ext cx="49339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Vấn đề:</a:t>
            </a: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Các cột dạng chữ (như `Alley`, `GarageType`) có giá trị NaN.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6486525" y="2752725"/>
            <a:ext cx="49339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Giải pháp:</a:t>
            </a: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Sử dụng SimpleImputer với chiến lược 'most_frequent' (mode) để điền vào các ô trống bằng giá trị xuất hiện nhiều nhất.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Bước 3: Xử lý Giá trị Thiếu (Imputation)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/>
        </p:nvSpPr>
        <p:spPr>
          <a:xfrm>
            <a:off x="571500" y="476250"/>
            <a:ext cx="58407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Bước 4: Mã hóa Biến Phân loại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571500" y="1714500"/>
            <a:ext cx="584073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Hàm: `encode_categorical_features`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571500" y="2219325"/>
            <a:ext cx="55626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Mô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hình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học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máy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không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thể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xử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lý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dữ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liệu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dạng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văn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bản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ví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dụ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 'RL', 'Pave').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Chúng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ta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cần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chuyển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đổi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chúng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thành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dạng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số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571500" y="3019425"/>
            <a:ext cx="5562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Phương pháp:</a:t>
            </a: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Sử dụng LabelEncoder của Scikit-learn.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571500" y="3524250"/>
            <a:ext cx="55626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Lưu ý quan trọng:</a:t>
            </a: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Để đảm bảo tính nhất quán (ví dụ: 'RL' luôn là 3), chúng ta fit Encoder trên dữ liệu gộp của cả train và test.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426C85-09BF-46DF-8617-16623A6B0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100" y="1481822"/>
            <a:ext cx="5761219" cy="344453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/>
        </p:nvSpPr>
        <p:spPr>
          <a:xfrm>
            <a:off x="571500" y="476250"/>
            <a:ext cx="584073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Bước 5: Chuẩn hóa Đặc trưng (Scaling)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71500" y="1714500"/>
            <a:ext cx="584073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Hàm: `scale_features`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571500" y="2219325"/>
            <a:ext cx="55626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Sau khi mã hóa, tất cả các đặc trưng đều là số, nhưng chúng có các thang đo (scale) rất khác nhau (ví dụ: TotalSF từ 0 đến 10000+, trong khi TotalBath chỉ từ 0 đến 5).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71500" y="3343275"/>
            <a:ext cx="55626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Giải pháp:</a:t>
            </a: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Sử dụng StandardScaler để điều chỉnh tất cả các đặc trưng về cùng một thang đo (thường là mean=0, std=1).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71500" y="4152900"/>
            <a:ext cx="55626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Lưu ý quan trọng:</a:t>
            </a: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Chúng ta fit Scaler (học trung bình và độ lệch chuẩn) **chỉ** trên X_train, sau đó dùng nó để transform cả X_train và X_test để tránh rò rỉ dữ liệu (data leakage).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FCB8EC-B06B-4716-97ED-5A0727C4D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142" y="2014582"/>
            <a:ext cx="5424430" cy="293523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238250"/>
            <a:ext cx="533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238250"/>
            <a:ext cx="533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771525" y="1438275"/>
            <a:ext cx="518064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Kết quả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771525" y="1943100"/>
            <a:ext cx="4933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Từ dữ liệu thô ban đầu, chúng ta thu được: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771525" y="3771900"/>
            <a:ext cx="4933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Dữ liệu này đã hoàn toàn "sạch":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6486525" y="1438275"/>
            <a:ext cx="5180647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Lưu trữ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6486525" y="1943100"/>
            <a:ext cx="49339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Hàm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save_processed_data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lưu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các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DataFrame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đã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xử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lý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vào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thư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mục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../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exps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/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feature_Labels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/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để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sử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dụng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cho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bước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huấn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luyện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mô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hình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tiếp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theo.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1057275" y="2438400"/>
            <a:ext cx="4648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X_train</a:t>
            </a:r>
            <a:r>
              <a:rPr lang="en-US" sz="1500" b="1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 (1460, 86)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1057275" y="2857500"/>
            <a:ext cx="4648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X_test: (1459, 86)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1057275" y="3276600"/>
            <a:ext cx="4648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y_train: (1460, 1)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1057275" y="4267200"/>
            <a:ext cx="4648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Tất cả đều là số.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1057275" y="4686300"/>
            <a:ext cx="4648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Không còn giá trị thiếu.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1057275" y="5105400"/>
            <a:ext cx="4648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Đã được chuẩn hóa (scaled).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057275" y="5524500"/>
            <a:ext cx="4648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Sẵn sàng đưa vào huấn luyện mô hình.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Bước 6: Lưu Dữ liệu &amp; Kết quả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28750"/>
            <a:ext cx="198879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36515" y="1762125"/>
            <a:ext cx="1988790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01530" y="1428750"/>
            <a:ext cx="1988790" cy="1460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66545" y="1762125"/>
            <a:ext cx="198879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31560" y="1428750"/>
            <a:ext cx="1988790" cy="141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1123950" y="3790950"/>
            <a:ext cx="9944100" cy="38100"/>
          </a:xfrm>
          <a:prstGeom prst="roundRect">
            <a:avLst>
              <a:gd name="adj" fmla="val 16667"/>
            </a:avLst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681800" y="1581150"/>
            <a:ext cx="176818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1. Tải &amp; Tách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723900" y="1952625"/>
            <a:ext cx="1683990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Đọc</a:t>
            </a:r>
            <a:r>
              <a:rPr lang="en-US" sz="1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file CSV. </a:t>
            </a:r>
            <a:r>
              <a:rPr lang="en-US" sz="1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Tách</a:t>
            </a:r>
            <a:r>
              <a:rPr lang="en-US" sz="1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`y` (</a:t>
            </a:r>
            <a:r>
              <a:rPr lang="en-US" sz="1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SalePrice</a:t>
            </a:r>
            <a:r>
              <a:rPr lang="en-US" sz="1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 </a:t>
            </a:r>
            <a:r>
              <a:rPr lang="en-US" sz="1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</a:t>
            </a:r>
            <a:r>
              <a:rPr lang="en-US" sz="1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bỏ</a:t>
            </a:r>
            <a:r>
              <a:rPr lang="en-US" sz="1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`Id`.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2946815" y="1914525"/>
            <a:ext cx="176818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2. Tạo Đặc trưng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2988915" y="2286000"/>
            <a:ext cx="168399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Tạo 7 đặc trưng mới (TotalSF, HouseAge, TotalBath...)</a:t>
            </a:r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5211830" y="1581150"/>
            <a:ext cx="176818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3. Xử lý Thiếu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5253930" y="1952625"/>
            <a:ext cx="1683990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Điền</a:t>
            </a:r>
            <a:r>
              <a:rPr lang="en-US" sz="1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giá</a:t>
            </a:r>
            <a:r>
              <a:rPr lang="en-US" sz="1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trị</a:t>
            </a:r>
            <a:r>
              <a:rPr lang="en-US" sz="1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`median` (</a:t>
            </a:r>
            <a:r>
              <a:rPr lang="en-US" sz="1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số</a:t>
            </a:r>
            <a:r>
              <a:rPr lang="en-US" sz="1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 </a:t>
            </a:r>
            <a:r>
              <a:rPr lang="en-US" sz="1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</a:t>
            </a:r>
            <a:r>
              <a:rPr lang="en-US" sz="1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`mode` (</a:t>
            </a:r>
            <a:r>
              <a:rPr lang="en-US" sz="1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phân</a:t>
            </a:r>
            <a:r>
              <a:rPr lang="en-US" sz="1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4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loại</a:t>
            </a:r>
            <a:r>
              <a:rPr lang="en-US" sz="14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7476845" y="1914525"/>
            <a:ext cx="176818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4. Mã hóa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7518945" y="2286000"/>
            <a:ext cx="1683990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Dùng `LabelEncoder` cho 43 cột phân loại.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9741861" y="1581150"/>
            <a:ext cx="176818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5. Chuẩn hóa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9783960" y="1952625"/>
            <a:ext cx="1683990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Dùng `StandardScaler` cho 86 cột số (đã mã hóa).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571500" y="476250"/>
            <a:ext cx="116014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Tóm</a:t>
            </a:r>
            <a:r>
              <a:rPr lang="en-US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tắt</a:t>
            </a:r>
            <a:r>
              <a:rPr lang="en-US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Quy</a:t>
            </a:r>
            <a:r>
              <a:rPr lang="en-US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trình</a:t>
            </a:r>
            <a:r>
              <a:rPr lang="en-US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Pipeline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1446831" y="3709987"/>
            <a:ext cx="238125" cy="238125"/>
          </a:xfrm>
          <a:prstGeom prst="roundRect">
            <a:avLst>
              <a:gd name="adj" fmla="val 50000"/>
            </a:avLst>
          </a:prstGeom>
          <a:solidFill>
            <a:srgbClr val="F3F0DF"/>
          </a:solidFill>
          <a:ln w="38100" cap="flat" cmpd="sng">
            <a:solidFill>
              <a:srgbClr val="11CA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3817606" y="3709986"/>
            <a:ext cx="238125" cy="238125"/>
          </a:xfrm>
          <a:prstGeom prst="roundRect">
            <a:avLst>
              <a:gd name="adj" fmla="val 50000"/>
            </a:avLst>
          </a:prstGeom>
          <a:solidFill>
            <a:srgbClr val="F3F0DF"/>
          </a:solidFill>
          <a:ln w="38100" cap="flat" cmpd="sng">
            <a:solidFill>
              <a:srgbClr val="11CA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5987689" y="3690937"/>
            <a:ext cx="238125" cy="238125"/>
          </a:xfrm>
          <a:prstGeom prst="roundRect">
            <a:avLst>
              <a:gd name="adj" fmla="val 50000"/>
            </a:avLst>
          </a:prstGeom>
          <a:solidFill>
            <a:srgbClr val="F3F0DF"/>
          </a:solidFill>
          <a:ln w="38100" cap="flat" cmpd="sng">
            <a:solidFill>
              <a:srgbClr val="11CA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8247534" y="3709986"/>
            <a:ext cx="238125" cy="238125"/>
          </a:xfrm>
          <a:prstGeom prst="roundRect">
            <a:avLst>
              <a:gd name="adj" fmla="val 50000"/>
            </a:avLst>
          </a:prstGeom>
          <a:solidFill>
            <a:srgbClr val="F3F0DF"/>
          </a:solidFill>
          <a:ln w="38100" cap="flat" cmpd="sng">
            <a:solidFill>
              <a:srgbClr val="11CA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10506892" y="3709986"/>
            <a:ext cx="238125" cy="238125"/>
          </a:xfrm>
          <a:prstGeom prst="roundRect">
            <a:avLst>
              <a:gd name="adj" fmla="val 50000"/>
            </a:avLst>
          </a:prstGeom>
          <a:solidFill>
            <a:srgbClr val="F3F0DF"/>
          </a:solidFill>
          <a:ln w="38100" cap="flat" cmpd="sng">
            <a:solidFill>
              <a:srgbClr val="11CA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/>
        </p:nvSpPr>
        <p:spPr>
          <a:xfrm>
            <a:off x="571500" y="1885172"/>
            <a:ext cx="584073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Kết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quả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Cuối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cùng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571500" y="2647172"/>
            <a:ext cx="584073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Dữ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195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liệu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195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Sẵn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195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sàng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195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cho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195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Mô</a:t>
            </a:r>
            <a:r>
              <a:rPr lang="en-US" sz="195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195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hình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571500" y="3151997"/>
            <a:ext cx="5562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Bảng dữ liệu X_train và X_test cuối cùng có 86 đặc trưng.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571500" y="3656822"/>
            <a:ext cx="55626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Tất cả các cột đều ở định dạng số và đã được chuẩn hóa, không còn giá trị thiếu, đảm bảo mô hình có thể học một cách hiệu quả nhất.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19652D-394A-4909-A46B-AEB1E526F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100" y="714375"/>
            <a:ext cx="5765560" cy="507367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0B0FCB7-8A3C-416C-A6E6-AAF0F036D4B0}"/>
              </a:ext>
            </a:extLst>
          </p:cNvPr>
          <p:cNvSpPr/>
          <p:nvPr/>
        </p:nvSpPr>
        <p:spPr>
          <a:xfrm>
            <a:off x="5969202" y="3244334"/>
            <a:ext cx="253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/>
        </p:nvSpPr>
        <p:spPr>
          <a:xfrm>
            <a:off x="1265681" y="1766800"/>
            <a:ext cx="9660488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SAU KHI THỰC HIỆN V</a:t>
            </a:r>
            <a:r>
              <a:rPr lang="en-US" sz="48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ỚI </a:t>
            </a:r>
            <a:r>
              <a:rPr lang="en-US" sz="4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MODEL THÌ </a:t>
            </a:r>
            <a:r>
              <a:rPr lang="en-US" sz="48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ĐIỂM KAGGLE LÀ </a:t>
            </a:r>
            <a:endParaRPr lang="en-US" sz="4800" b="1" i="0" u="none" strike="noStrike" cap="none" dirty="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6" name="Google Shape;218;p23" descr="image.png">
            <a:extLst>
              <a:ext uri="{FF2B5EF4-FFF2-40B4-BE49-F238E27FC236}">
                <a16:creationId xmlns:a16="http://schemas.microsoft.com/office/drawing/2014/main" id="{40217991-32C3-4F56-B9D8-AA3211DA64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4598" y="3429001"/>
            <a:ext cx="8722422" cy="1150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5ACBF8-8574-494E-8544-82BE157957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3090" y="3615590"/>
            <a:ext cx="8065437" cy="77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255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95275" y="2541240"/>
            <a:ext cx="116014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Huấn luyện &amp; Tối ưu hóa Mô hình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3045693" y="3246165"/>
            <a:ext cx="6100613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Dự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đoán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Giá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Nhà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Sử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dụng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Ensemble Learning (Stacking)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295275" y="2714625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Thiết</a:t>
            </a:r>
            <a:r>
              <a:rPr lang="en-US" sz="45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5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lập</a:t>
            </a:r>
            <a:r>
              <a:rPr lang="en-US" sz="45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5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Môi</a:t>
            </a:r>
            <a:r>
              <a:rPr lang="en-US" sz="45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5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trường</a:t>
            </a:r>
            <a:r>
              <a:rPr lang="en-US" sz="45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&amp; </a:t>
            </a:r>
            <a:r>
              <a:rPr lang="en-US" sz="45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Dữ</a:t>
            </a:r>
            <a:r>
              <a:rPr lang="en-US" sz="45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5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liệu</a:t>
            </a: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/>
        </p:nvSpPr>
        <p:spPr>
          <a:xfrm>
            <a:off x="571500" y="1238250"/>
            <a:ext cx="56007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Nguồn Dữ liệu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571500" y="1743075"/>
            <a:ext cx="533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Chúng ta bắt đầu bằng cách tải dữ liệu đã được tiền xử lý ở giai đoạn trước (ex2_train.csv, ex2_test.csv).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571500" y="2552700"/>
            <a:ext cx="533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Dữ liệu này đã được: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571500" y="4305300"/>
            <a:ext cx="56007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Thư viện chính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571500" y="4810125"/>
            <a:ext cx="533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Sử dụng các thư viện Scikit-learn cho mô hình hóa và đánh giá.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857250" y="3048000"/>
            <a:ext cx="5048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Làm sạch (xử lý NaN).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857250" y="3467100"/>
            <a:ext cx="5048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Tạo đặc trưng mới (feature engineered).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857250" y="3886200"/>
            <a:ext cx="5048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Mã hóa (encoded) và Chuẩn hóa (scaled).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Bước 1: Tải Dữ liệu &amp; Thư viện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02FE0B-A20A-4B4D-8641-DE043C7F5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695" y="2121780"/>
            <a:ext cx="4846740" cy="769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971402-ABED-4354-AF00-C496EFF3E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0695" y="3543300"/>
            <a:ext cx="5048250" cy="231842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72200" y="2124403"/>
            <a:ext cx="5334000" cy="2521987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571500" y="1238250"/>
            <a:ext cx="56007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K-Fold Cross-Validation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571500" y="1743075"/>
            <a:ext cx="533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Để đánh giá độ ổn định của mô hình, chúng ta sử dụng </a:t>
            </a:r>
            <a:r>
              <a:rPr lang="en-US" sz="1500" b="1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K-Fold Cross-Validation</a:t>
            </a: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(với k=5).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571500" y="2543175"/>
            <a:ext cx="5334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Dữ liệu huấn luyện được chia thành 5 phần. Mô hình sẽ được huấn luyện 5 lần, mỗi lần sử dụng 4 phần để huấn luyện và 1 phần để kiểm tra.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571500" y="3648075"/>
            <a:ext cx="56007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Thước đo: RMSE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571500" y="4152900"/>
            <a:ext cx="533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Chúng ta sử dụng </a:t>
            </a:r>
            <a:r>
              <a:rPr lang="en-US" sz="1500" b="1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Root Mean Squared Error (RMSE)</a:t>
            </a: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để đo lường sai số dự đoán. Mục tiêu là giảm chỉ số RMSE càng thấp càng tốt.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Bước 2: Thiết lập Phương pháp Đánh giá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FBCC40-DF91-4FCD-8A46-DBF3973FE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2424485"/>
            <a:ext cx="4835078" cy="2009029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93490"/>
            <a:ext cx="3555950" cy="4888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7950" y="1493490"/>
            <a:ext cx="3555950" cy="4888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1493490"/>
            <a:ext cx="3555950" cy="488825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1219200" y="1776107"/>
            <a:ext cx="2803631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SVR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809625" y="2379315"/>
            <a:ext cx="30797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Support Vector Regressor.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Mô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hình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mạnh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mẽ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nhưng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khá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nhạy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cảm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với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tham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số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có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RMSE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cao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nhất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ở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mặc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định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809625" y="4004529"/>
            <a:ext cx="3213206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RMSE TB: 78544.25 ( EX2_PP 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4937075" y="1776107"/>
            <a:ext cx="283363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Random Forest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4556075" y="2379315"/>
            <a:ext cx="30797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Mô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hình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Ensemble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dựa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trên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cây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quyết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định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 Cho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kết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quả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tốt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ngay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cả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khi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chưa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tối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ưu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4556075" y="3994574"/>
            <a:ext cx="32702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RMSE TB: 30303.41 ( EX2_PP 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8683525" y="1776107"/>
            <a:ext cx="283363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Gradient Boosting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8302525" y="2379315"/>
            <a:ext cx="30797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Mô hình Ensemble tuần tự, học hỏi từ lỗi của cây trước đó. Cho kết quả baseline tốt nhất.</a:t>
            </a:r>
            <a:endParaRPr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8302525" y="3365152"/>
            <a:ext cx="30797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RMSE TB: 0.1150 (EX1_PP)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6" name="Google Shape;13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176971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56075" y="1769715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02525" y="1769715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Bước 3: Đánh giá Mô hình Cơ sở (Baseline)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571500" y="1047750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Chạy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3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mô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hình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hồi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quy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mạnh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mẽ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với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tham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số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mặc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định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để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lấy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kết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quả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làm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mốc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so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sánh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A64BF0-7A48-40A2-A6E6-8745DF153876}"/>
              </a:ext>
            </a:extLst>
          </p:cNvPr>
          <p:cNvSpPr/>
          <p:nvPr/>
        </p:nvSpPr>
        <p:spPr>
          <a:xfrm>
            <a:off x="753058" y="3429000"/>
            <a:ext cx="3117328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RMSE TB: 0.1153 ( EX1_PP 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Google Shape;132;p17">
            <a:extLst>
              <a:ext uri="{FF2B5EF4-FFF2-40B4-BE49-F238E27FC236}">
                <a16:creationId xmlns:a16="http://schemas.microsoft.com/office/drawing/2014/main" id="{4B8BA980-C87D-436E-9C84-9F2AE59A14F0}"/>
              </a:ext>
            </a:extLst>
          </p:cNvPr>
          <p:cNvSpPr txBox="1"/>
          <p:nvPr/>
        </p:nvSpPr>
        <p:spPr>
          <a:xfrm>
            <a:off x="4556075" y="3438265"/>
            <a:ext cx="30797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RMSE TB: 0.1278 (EX1_PP)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Google Shape;135;p17">
            <a:extLst>
              <a:ext uri="{FF2B5EF4-FFF2-40B4-BE49-F238E27FC236}">
                <a16:creationId xmlns:a16="http://schemas.microsoft.com/office/drawing/2014/main" id="{F4BC74CD-0668-4576-BC76-24CAF02A8EFD}"/>
              </a:ext>
            </a:extLst>
          </p:cNvPr>
          <p:cNvSpPr txBox="1"/>
          <p:nvPr/>
        </p:nvSpPr>
        <p:spPr>
          <a:xfrm>
            <a:off x="8302525" y="4004529"/>
            <a:ext cx="30797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RMSE TB: 28451.31 (EX2_PP)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/>
        </p:nvSpPr>
        <p:spPr>
          <a:xfrm>
            <a:off x="295275" y="2714625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Tối</a:t>
            </a:r>
            <a:r>
              <a:rPr lang="en-US" sz="45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5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ưu</a:t>
            </a:r>
            <a:r>
              <a:rPr lang="en-US" sz="45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5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hóa</a:t>
            </a:r>
            <a:r>
              <a:rPr lang="en-US" sz="45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5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Siêu</a:t>
            </a:r>
            <a:r>
              <a:rPr lang="en-US" sz="45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5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tham</a:t>
            </a:r>
            <a:r>
              <a:rPr lang="en-US" sz="45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5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số</a:t>
            </a:r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/>
        </p:nvSpPr>
        <p:spPr>
          <a:xfrm>
            <a:off x="571500" y="1238250"/>
            <a:ext cx="56007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Tại sao dùng RandomizedSearch?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571500" y="1743075"/>
            <a:ext cx="5334000" cy="837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GridSearchCV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thử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TẤT CẢ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các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kết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hợp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tham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số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rất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tốn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thời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gian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571500" y="2691938"/>
            <a:ext cx="5334000" cy="125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RandomizedSearchCV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chỉ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thử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một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số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lượng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n_iter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kết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hợp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ngẫu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nhiên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từ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không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gian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tham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số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(grid).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Điều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này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hiệu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quả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hơn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nhiều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thường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tìm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được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kết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quả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gần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như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tối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ưu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571500" y="4059377"/>
            <a:ext cx="5334000" cy="125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Chúng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ta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sẽ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định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nghĩa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một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không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gian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tham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số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(hyperparameter grid)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cho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mỗi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mô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hình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để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RandomizedSearchCV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tìm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ra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tổ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hợp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tốt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7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nhất</a:t>
            </a:r>
            <a:r>
              <a:rPr lang="en-US" sz="17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Bước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4: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Tối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ưu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hóa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với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RandomizedSearchCV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828FBC-11E4-4AC6-AC77-BEAE7E3C9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855" y="1083581"/>
            <a:ext cx="4027872" cy="507451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238250"/>
            <a:ext cx="35559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7950" y="1238250"/>
            <a:ext cx="35559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1238250"/>
            <a:ext cx="3555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1219200" y="1520867"/>
            <a:ext cx="2803631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SVR (Tối ưu)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809625" y="2124075"/>
            <a:ext cx="30797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RMSE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cải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thiện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nhẹ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so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với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mặc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định</a:t>
            </a:r>
            <a:r>
              <a:rPr lang="en-US" sz="1500" b="0" i="0" u="none" strike="noStrike" cap="none" dirty="0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690563" y="2624137"/>
            <a:ext cx="355594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Best RMSE: 77566.01 (EX2_PP)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928686" y="4858910"/>
            <a:ext cx="30797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7D2FE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Params: {'gamma': 0.00085, 'epsilon': 0.03, 'C': 95}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937075" y="1520867"/>
            <a:ext cx="283363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Random Forest (Tối ưu)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556075" y="2124075"/>
            <a:ext cx="30797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RMSE cải thiện đáng kể so với mặc định.</a:t>
            </a:r>
            <a:endParaRPr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556075" y="2741204"/>
            <a:ext cx="32702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Best RMSE: 29167.64 (EX2_PP)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675137" y="4813025"/>
            <a:ext cx="30797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7D2FE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Params: {'</a:t>
            </a:r>
            <a:r>
              <a:rPr lang="en-US" sz="1500" b="0" i="0" u="none" strike="noStrike" cap="none" dirty="0" err="1">
                <a:solidFill>
                  <a:srgbClr val="C7D2FE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n_estimators</a:t>
            </a:r>
            <a:r>
              <a:rPr lang="en-US" sz="1500" b="0" i="0" u="none" strike="noStrike" cap="none" dirty="0">
                <a:solidFill>
                  <a:srgbClr val="C7D2FE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': 300, '</a:t>
            </a:r>
            <a:r>
              <a:rPr lang="en-US" sz="1500" b="0" i="0" u="none" strike="noStrike" cap="none" dirty="0" err="1">
                <a:solidFill>
                  <a:srgbClr val="C7D2FE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min_samples_split</a:t>
            </a:r>
            <a:r>
              <a:rPr lang="en-US" sz="1500" b="0" i="0" u="none" strike="noStrike" cap="none" dirty="0">
                <a:solidFill>
                  <a:srgbClr val="C7D2FE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': 5, '</a:t>
            </a:r>
            <a:r>
              <a:rPr lang="en-US" sz="1500" b="0" i="0" u="none" strike="noStrike" cap="none" dirty="0" err="1">
                <a:solidFill>
                  <a:srgbClr val="C7D2FE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min_samples_leaf</a:t>
            </a:r>
            <a:r>
              <a:rPr lang="en-US" sz="1500" b="0" i="0" u="none" strike="noStrike" cap="none" dirty="0">
                <a:solidFill>
                  <a:srgbClr val="C7D2FE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': 1, '</a:t>
            </a:r>
            <a:r>
              <a:rPr lang="en-US" sz="1500" b="0" i="0" u="none" strike="noStrike" cap="none" dirty="0" err="1">
                <a:solidFill>
                  <a:srgbClr val="C7D2FE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max_features</a:t>
            </a:r>
            <a:r>
              <a:rPr lang="en-US" sz="1500" b="0" i="0" u="none" strike="noStrike" cap="none" dirty="0">
                <a:solidFill>
                  <a:srgbClr val="C7D2FE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': 0.4, '</a:t>
            </a:r>
            <a:r>
              <a:rPr lang="en-US" sz="1500" b="0" i="0" u="none" strike="noStrike" cap="none" dirty="0" err="1">
                <a:solidFill>
                  <a:srgbClr val="C7D2FE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max_depth</a:t>
            </a:r>
            <a:r>
              <a:rPr lang="en-US" sz="1500" b="0" i="0" u="none" strike="noStrike" cap="none" dirty="0">
                <a:solidFill>
                  <a:srgbClr val="C7D2FE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': 30}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8683525" y="1616117"/>
            <a:ext cx="283363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1CAA0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Gradient Boosting (Tối ưu)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8302525" y="2314575"/>
            <a:ext cx="30797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3F0D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Tiếp tục là mô hình mạnh nhất, RMSE giảm rõ rệt.</a:t>
            </a:r>
            <a:endParaRPr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8302524" y="3057525"/>
            <a:ext cx="33178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Best RMSE: 26213.09 (EX2_PP)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8302525" y="4858910"/>
            <a:ext cx="307970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7D2FE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Params: {'</a:t>
            </a:r>
            <a:r>
              <a:rPr lang="en-US" sz="1500" b="0" i="0" u="none" strike="noStrike" cap="none" dirty="0" err="1">
                <a:solidFill>
                  <a:srgbClr val="C7D2FE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n_estimators</a:t>
            </a:r>
            <a:r>
              <a:rPr lang="en-US" sz="1500" b="0" i="0" u="none" strike="noStrike" cap="none" dirty="0">
                <a:solidFill>
                  <a:srgbClr val="C7D2FE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': 1000, '</a:t>
            </a:r>
            <a:r>
              <a:rPr lang="en-US" sz="1500" b="0" i="0" u="none" strike="noStrike" cap="none" dirty="0" err="1">
                <a:solidFill>
                  <a:srgbClr val="C7D2FE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max_features</a:t>
            </a:r>
            <a:r>
              <a:rPr lang="en-US" sz="1500" b="0" i="0" u="none" strike="noStrike" cap="none" dirty="0">
                <a:solidFill>
                  <a:srgbClr val="C7D2FE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': 0.5, '</a:t>
            </a:r>
            <a:r>
              <a:rPr lang="en-US" sz="1500" b="0" i="0" u="none" strike="noStrike" cap="none" dirty="0" err="1">
                <a:solidFill>
                  <a:srgbClr val="C7D2FE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max_depth</a:t>
            </a:r>
            <a:r>
              <a:rPr lang="en-US" sz="1500" b="0" i="0" u="none" strike="noStrike" cap="none" dirty="0">
                <a:solidFill>
                  <a:srgbClr val="C7D2FE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': 3, '</a:t>
            </a:r>
            <a:r>
              <a:rPr lang="en-US" sz="1500" b="0" i="0" u="none" strike="noStrike" cap="none" dirty="0" err="1">
                <a:solidFill>
                  <a:srgbClr val="C7D2FE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learning_rate</a:t>
            </a:r>
            <a:r>
              <a:rPr lang="en-US" sz="1500" b="0" i="0" u="none" strike="noStrike" cap="none" dirty="0">
                <a:solidFill>
                  <a:srgbClr val="C7D2FE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': 0.039}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7" name="Google Shape;17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151447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56075" y="1514475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02525" y="1609725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Bước 4: Kết quả Tối ưu hóa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Google Shape;167;p20">
            <a:extLst>
              <a:ext uri="{FF2B5EF4-FFF2-40B4-BE49-F238E27FC236}">
                <a16:creationId xmlns:a16="http://schemas.microsoft.com/office/drawing/2014/main" id="{066CD12E-0F63-4AF7-A120-0DAABB8E60E8}"/>
              </a:ext>
            </a:extLst>
          </p:cNvPr>
          <p:cNvSpPr txBox="1"/>
          <p:nvPr/>
        </p:nvSpPr>
        <p:spPr>
          <a:xfrm>
            <a:off x="690562" y="3057525"/>
            <a:ext cx="355594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Best RMSE: 0.1216 (EX1_PP)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Google Shape;171;p20">
            <a:extLst>
              <a:ext uri="{FF2B5EF4-FFF2-40B4-BE49-F238E27FC236}">
                <a16:creationId xmlns:a16="http://schemas.microsoft.com/office/drawing/2014/main" id="{330A2144-53A9-4CB0-B3E3-67145A0E6AEA}"/>
              </a:ext>
            </a:extLst>
          </p:cNvPr>
          <p:cNvSpPr txBox="1"/>
          <p:nvPr/>
        </p:nvSpPr>
        <p:spPr>
          <a:xfrm>
            <a:off x="4556075" y="3291866"/>
            <a:ext cx="32702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Best RMSE: 0.1065 (EX1_PP)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Google Shape;175;p20">
            <a:extLst>
              <a:ext uri="{FF2B5EF4-FFF2-40B4-BE49-F238E27FC236}">
                <a16:creationId xmlns:a16="http://schemas.microsoft.com/office/drawing/2014/main" id="{90455849-050F-4100-B0D4-22A5D7E06CD4}"/>
              </a:ext>
            </a:extLst>
          </p:cNvPr>
          <p:cNvSpPr txBox="1"/>
          <p:nvPr/>
        </p:nvSpPr>
        <p:spPr>
          <a:xfrm>
            <a:off x="8302524" y="3703179"/>
            <a:ext cx="33178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Best RMSE: 0.1068 (EX2_PP)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/>
        </p:nvSpPr>
        <p:spPr>
          <a:xfrm>
            <a:off x="295275" y="2714625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Học</a:t>
            </a:r>
            <a:r>
              <a:rPr lang="en-US" sz="45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5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tập</a:t>
            </a:r>
            <a:r>
              <a:rPr lang="en-US" sz="45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5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Kết</a:t>
            </a:r>
            <a:r>
              <a:rPr lang="en-US" sz="45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5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hợp</a:t>
            </a:r>
            <a:r>
              <a:rPr lang="en-US" sz="45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(Ensemble Learning)</a:t>
            </a:r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/>
        </p:nvSpPr>
        <p:spPr>
          <a:xfrm>
            <a:off x="571500" y="1238250"/>
            <a:ext cx="56007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Stacking (Xếp chồng) là gì?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571500" y="1743075"/>
            <a:ext cx="5334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Stacking là một kỹ thuật ensemble tiên tiến. Thay vì chỉ lấy trung bình kết quả, nó sửo dụng một "siêu mô hình" (meta-model) để học cách kết hợp dự đoán từ các mô hình cơ sở.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571500" y="2847975"/>
            <a:ext cx="5334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Quy trình: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571500" y="4876800"/>
            <a:ext cx="533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Mục</a:t>
            </a:r>
            <a:r>
              <a:rPr lang="en-US" sz="1500" b="1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1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tiêu</a:t>
            </a:r>
            <a:r>
              <a:rPr lang="en-US" sz="1500" b="1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Tận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dụng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điểm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mạnh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của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từng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mô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hình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giảm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thiểu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điểm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yếu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của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chúng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952500" y="3343275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Base Models (Lớp 0):</a:t>
            </a: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3 mô hình đã tối ưu (SVR, RFR, GBM) đưa ra dự đoán.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952500" y="4067175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Meta-Model (Lớp 1):</a:t>
            </a: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Mô hình RidgeCV sẽ học từ các dự đoán của Lớp 0 để đưa ra quyết định cuối cùng.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Bước 5: Xây dựng Mô hình Stacking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BC4867-2A88-41CF-809B-DA37486E6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602" y="1097063"/>
            <a:ext cx="3715916" cy="466387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/>
        </p:nvSpPr>
        <p:spPr>
          <a:xfrm>
            <a:off x="571500" y="1238250"/>
            <a:ext cx="56007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Huấn luyện Mô hình Stacking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571500" y="1743075"/>
            <a:ext cx="533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Chúng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ta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kết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hợp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các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mô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hình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cơ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sở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base_estimators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mô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hình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meta (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meta_model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)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vào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một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StackingRegressor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571500" y="2562225"/>
            <a:ext cx="533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Sau đó, chúng ta huấn luyện (.fit) mô hình Stacking này trên toàn bộ dữ liệu X_train.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9" name="Google Shape;209;p23"/>
          <p:cNvSpPr txBox="1"/>
          <p:nvPr/>
        </p:nvSpPr>
        <p:spPr>
          <a:xfrm>
            <a:off x="571500" y="3381375"/>
            <a:ext cx="56007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Tạo Dự đoán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571500" y="3886200"/>
            <a:ext cx="533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Cuối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cùng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sử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dụng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mô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hình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stacked_model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đã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huấn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luyện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để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dự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đoán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(.predict)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trên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tập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X_test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và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lưu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kết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quả</a:t>
            </a:r>
            <a:r>
              <a:rPr lang="en-US" sz="1500" b="0" i="0" u="none" strike="noStrike" cap="none" dirty="0">
                <a:solidFill>
                  <a:srgbClr val="121212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ra file submission.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Bước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6: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Huấn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luyện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&amp;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Dự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đoán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Cuối</a:t>
            </a:r>
            <a:r>
              <a:rPr lang="en-US" sz="3000" b="1" i="0" u="none" strike="noStrike" cap="none" dirty="0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000" b="1" i="0" u="none" strike="noStrike" cap="none" dirty="0" err="1">
                <a:solidFill>
                  <a:srgbClr val="005088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cùng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D9716B-6828-4337-852A-C561C9E64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5" y="2101715"/>
            <a:ext cx="3307367" cy="7386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6188A1-88CB-4D2E-889A-E151DF482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4" y="1316780"/>
            <a:ext cx="3307367" cy="7386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4DF1C9-86D5-45F5-8E37-2D1B7EDF40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0335" y="3574197"/>
            <a:ext cx="4861250" cy="1417443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 txBox="1"/>
          <p:nvPr/>
        </p:nvSpPr>
        <p:spPr>
          <a:xfrm>
            <a:off x="295275" y="2690336"/>
            <a:ext cx="116014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Cảm</a:t>
            </a:r>
            <a:r>
              <a:rPr lang="en-US" sz="4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8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ơn</a:t>
            </a:r>
            <a:r>
              <a:rPr lang="en-US" sz="4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8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Thầy</a:t>
            </a:r>
            <a:r>
              <a:rPr lang="en-US" sz="4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8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và</a:t>
            </a:r>
            <a:r>
              <a:rPr lang="en-US" sz="4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8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các</a:t>
            </a:r>
            <a:r>
              <a:rPr lang="en-US" sz="4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8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bạn</a:t>
            </a:r>
            <a:r>
              <a:rPr lang="en-US" sz="4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đã</a:t>
            </a:r>
            <a:r>
              <a:rPr lang="en-US" sz="4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8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lắng</a:t>
            </a:r>
            <a:r>
              <a:rPr lang="en-US" sz="4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8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nghe</a:t>
            </a:r>
            <a:r>
              <a:rPr lang="en-US" sz="48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</TotalTime>
  <Words>4112</Words>
  <Application>Microsoft Office PowerPoint</Application>
  <PresentationFormat>Widescreen</PresentationFormat>
  <Paragraphs>291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Times New Roman</vt:lpstr>
      <vt:lpstr>Arial</vt:lpstr>
      <vt:lpstr>Calibri</vt:lpstr>
      <vt:lpstr>Trebuchet MS</vt:lpstr>
      <vt:lpstr>Merriweather</vt:lpstr>
      <vt:lpstr>Wingdings 3</vt:lpstr>
      <vt:lpstr>DM Sans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Administrator</cp:lastModifiedBy>
  <cp:revision>23</cp:revision>
  <dcterms:modified xsi:type="dcterms:W3CDTF">2025-11-13T12:29:52Z</dcterms:modified>
</cp:coreProperties>
</file>