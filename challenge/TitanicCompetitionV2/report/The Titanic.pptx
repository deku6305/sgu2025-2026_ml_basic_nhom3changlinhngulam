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48" r:id="rId2"/>
  </p:sldMasterIdLst>
  <p:notesMasterIdLst>
    <p:notesMasterId r:id="rId27"/>
  </p:notesMasterIdLst>
  <p:sldIdLst>
    <p:sldId id="256" r:id="rId3"/>
    <p:sldId id="294" r:id="rId4"/>
    <p:sldId id="257" r:id="rId5"/>
    <p:sldId id="258" r:id="rId6"/>
    <p:sldId id="273" r:id="rId7"/>
    <p:sldId id="274" r:id="rId8"/>
    <p:sldId id="275" r:id="rId9"/>
    <p:sldId id="276" r:id="rId10"/>
    <p:sldId id="277" r:id="rId11"/>
    <p:sldId id="278" r:id="rId12"/>
    <p:sldId id="279" r:id="rId13"/>
    <p:sldId id="280" r:id="rId14"/>
    <p:sldId id="281" r:id="rId15"/>
    <p:sldId id="283" r:id="rId16"/>
    <p:sldId id="285" r:id="rId17"/>
    <p:sldId id="282" r:id="rId18"/>
    <p:sldId id="284" r:id="rId19"/>
    <p:sldId id="286" r:id="rId20"/>
    <p:sldId id="287" r:id="rId21"/>
    <p:sldId id="288" r:id="rId22"/>
    <p:sldId id="289" r:id="rId23"/>
    <p:sldId id="290" r:id="rId24"/>
    <p:sldId id="291" r:id="rId25"/>
    <p:sldId id="293"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CC"/>
    <a:srgbClr val="CC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731D58-A6A2-4CB2-BB35-41F7A5C87B0D}" v="1389" dt="2025-10-30T07:13:42.41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8" d="100"/>
          <a:sy n="98" d="100"/>
        </p:scale>
        <p:origin x="72" y="2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7A4BB4-8228-4715-B4D7-0F8200B86615}" type="doc">
      <dgm:prSet loTypeId="urn:microsoft.com/office/officeart/2005/8/layout/arrow2" loCatId="process" qsTypeId="urn:microsoft.com/office/officeart/2005/8/quickstyle/simple1" qsCatId="simple" csTypeId="urn:microsoft.com/office/officeart/2005/8/colors/accent1_2" csCatId="accent1" phldr="1"/>
      <dgm:spPr/>
      <dgm:t>
        <a:bodyPr/>
        <a:lstStyle/>
        <a:p>
          <a:endParaRPr lang="en-US"/>
        </a:p>
      </dgm:t>
    </dgm:pt>
    <dgm:pt modelId="{833FED3F-F8E8-4E99-90C9-74F71BF24C95}">
      <dgm:prSet phldrT="[Văn bản]" phldr="0"/>
      <dgm:spPr/>
      <dgm:t>
        <a:bodyPr/>
        <a:lstStyle/>
        <a:p>
          <a:r>
            <a:rPr lang="en-US" dirty="0"/>
            <a:t>Data Input</a:t>
          </a:r>
        </a:p>
      </dgm:t>
    </dgm:pt>
    <dgm:pt modelId="{B27E4B84-D532-4041-AE12-C20A3920A4F2}" type="parTrans" cxnId="{2ADC7A43-E12E-4F22-A8E5-6156FA7B6C67}">
      <dgm:prSet/>
      <dgm:spPr/>
      <dgm:t>
        <a:bodyPr/>
        <a:lstStyle/>
        <a:p>
          <a:endParaRPr lang="en-US"/>
        </a:p>
      </dgm:t>
    </dgm:pt>
    <dgm:pt modelId="{AFE5B06D-6865-4B46-99FD-535847091FDA}" type="sibTrans" cxnId="{2ADC7A43-E12E-4F22-A8E5-6156FA7B6C67}">
      <dgm:prSet/>
      <dgm:spPr/>
      <dgm:t>
        <a:bodyPr/>
        <a:lstStyle/>
        <a:p>
          <a:endParaRPr lang="en-US"/>
        </a:p>
      </dgm:t>
    </dgm:pt>
    <dgm:pt modelId="{0C614D04-8637-4D0E-8B12-D69B078D5C0D}">
      <dgm:prSet phldrT="[Văn bản]" phldr="0"/>
      <dgm:spPr/>
      <dgm:t>
        <a:bodyPr/>
        <a:lstStyle/>
        <a:p>
          <a:r>
            <a:rPr lang="en-US" dirty="0"/>
            <a:t>EDA</a:t>
          </a:r>
        </a:p>
      </dgm:t>
    </dgm:pt>
    <dgm:pt modelId="{EC63A1D0-8EF6-421B-89E9-FDD370F9D53E}" type="parTrans" cxnId="{A9FBAE59-B4EB-4A0B-82AD-7E59BD957466}">
      <dgm:prSet/>
      <dgm:spPr/>
      <dgm:t>
        <a:bodyPr/>
        <a:lstStyle/>
        <a:p>
          <a:endParaRPr lang="en-US"/>
        </a:p>
      </dgm:t>
    </dgm:pt>
    <dgm:pt modelId="{930208D3-E26A-41D1-8057-5A9C25F01651}" type="sibTrans" cxnId="{A9FBAE59-B4EB-4A0B-82AD-7E59BD957466}">
      <dgm:prSet/>
      <dgm:spPr/>
      <dgm:t>
        <a:bodyPr/>
        <a:lstStyle/>
        <a:p>
          <a:endParaRPr lang="en-US"/>
        </a:p>
      </dgm:t>
    </dgm:pt>
    <dgm:pt modelId="{BBC79F9A-23E6-4743-BFB2-4DAE504D11EA}">
      <dgm:prSet phldrT="[Văn bản]" phldr="0"/>
      <dgm:spPr/>
      <dgm:t>
        <a:bodyPr/>
        <a:lstStyle/>
        <a:p>
          <a:r>
            <a:rPr lang="en-US" dirty="0" err="1"/>
            <a:t>Preproccessing</a:t>
          </a:r>
          <a:r>
            <a:rPr lang="en-US" dirty="0"/>
            <a:t> &amp; feature </a:t>
          </a:r>
          <a:r>
            <a:rPr lang="en-US" dirty="0" err="1"/>
            <a:t>enginnering</a:t>
          </a:r>
          <a:endParaRPr lang="en-US" dirty="0"/>
        </a:p>
      </dgm:t>
    </dgm:pt>
    <dgm:pt modelId="{22F92EA5-E357-44AF-BFEF-E054F928579F}" type="parTrans" cxnId="{02025F70-F7D6-4EA9-B265-1A1C5DB74F44}">
      <dgm:prSet/>
      <dgm:spPr/>
      <dgm:t>
        <a:bodyPr/>
        <a:lstStyle/>
        <a:p>
          <a:endParaRPr lang="en-US"/>
        </a:p>
      </dgm:t>
    </dgm:pt>
    <dgm:pt modelId="{E31C43C0-2035-403F-AF01-DFB2EEE311E8}" type="sibTrans" cxnId="{02025F70-F7D6-4EA9-B265-1A1C5DB74F44}">
      <dgm:prSet/>
      <dgm:spPr/>
      <dgm:t>
        <a:bodyPr/>
        <a:lstStyle/>
        <a:p>
          <a:endParaRPr lang="en-US"/>
        </a:p>
      </dgm:t>
    </dgm:pt>
    <dgm:pt modelId="{3960D8B7-84EF-43A5-BDDE-D02036D83191}">
      <dgm:prSet phldrT="[Văn bản]" phldr="0"/>
      <dgm:spPr/>
      <dgm:t>
        <a:bodyPr/>
        <a:lstStyle/>
        <a:p>
          <a:r>
            <a:rPr lang="en-US" dirty="0"/>
            <a:t>Optimize model</a:t>
          </a:r>
        </a:p>
      </dgm:t>
    </dgm:pt>
    <dgm:pt modelId="{2B4B9E09-02E1-4581-AF7E-93D3CE95443B}" type="parTrans" cxnId="{4090A36A-0F99-4ABF-A39C-130C9C65C5E3}">
      <dgm:prSet/>
      <dgm:spPr/>
      <dgm:t>
        <a:bodyPr/>
        <a:lstStyle/>
        <a:p>
          <a:endParaRPr lang="en-US"/>
        </a:p>
      </dgm:t>
    </dgm:pt>
    <dgm:pt modelId="{A83B2E15-F3A9-4C02-A5D2-59EE45D60997}" type="sibTrans" cxnId="{4090A36A-0F99-4ABF-A39C-130C9C65C5E3}">
      <dgm:prSet/>
      <dgm:spPr/>
      <dgm:t>
        <a:bodyPr/>
        <a:lstStyle/>
        <a:p>
          <a:endParaRPr lang="en-US"/>
        </a:p>
      </dgm:t>
    </dgm:pt>
    <dgm:pt modelId="{58F02474-D35C-489B-9A33-8AB161632F56}">
      <dgm:prSet phldrT="[Văn bản]" phldr="0"/>
      <dgm:spPr/>
      <dgm:t>
        <a:bodyPr/>
        <a:lstStyle/>
        <a:p>
          <a:r>
            <a:rPr lang="en-US" dirty="0"/>
            <a:t>Models </a:t>
          </a:r>
          <a:r>
            <a:rPr lang="en-US" dirty="0" err="1"/>
            <a:t>tranning</a:t>
          </a:r>
          <a:endParaRPr lang="en-US" dirty="0"/>
        </a:p>
      </dgm:t>
    </dgm:pt>
    <dgm:pt modelId="{F81B6602-D938-4DFA-9AE6-DF09A0C72844}" type="parTrans" cxnId="{4BD02869-65C8-4BB5-8D2C-D494ACF48AA0}">
      <dgm:prSet/>
      <dgm:spPr/>
      <dgm:t>
        <a:bodyPr/>
        <a:lstStyle/>
        <a:p>
          <a:endParaRPr lang="en-US"/>
        </a:p>
      </dgm:t>
    </dgm:pt>
    <dgm:pt modelId="{1173D067-639F-4260-A0AA-90B459DEC5B0}" type="sibTrans" cxnId="{4BD02869-65C8-4BB5-8D2C-D494ACF48AA0}">
      <dgm:prSet/>
      <dgm:spPr/>
      <dgm:t>
        <a:bodyPr/>
        <a:lstStyle/>
        <a:p>
          <a:endParaRPr lang="en-US"/>
        </a:p>
      </dgm:t>
    </dgm:pt>
    <dgm:pt modelId="{643B9D5D-335E-4624-9C4B-FC684AEFEE84}" type="pres">
      <dgm:prSet presAssocID="{0E7A4BB4-8228-4715-B4D7-0F8200B86615}" presName="arrowDiagram" presStyleCnt="0">
        <dgm:presLayoutVars>
          <dgm:chMax val="5"/>
          <dgm:dir/>
          <dgm:resizeHandles val="exact"/>
        </dgm:presLayoutVars>
      </dgm:prSet>
      <dgm:spPr/>
    </dgm:pt>
    <dgm:pt modelId="{F73E52A7-A941-4009-B833-6DA60D9DC8E4}" type="pres">
      <dgm:prSet presAssocID="{0E7A4BB4-8228-4715-B4D7-0F8200B86615}" presName="arrow" presStyleLbl="bgShp" presStyleIdx="0" presStyleCnt="1"/>
      <dgm:spPr/>
    </dgm:pt>
    <dgm:pt modelId="{09A240FB-BC37-4E9C-9C92-4D0CFAABB00C}" type="pres">
      <dgm:prSet presAssocID="{0E7A4BB4-8228-4715-B4D7-0F8200B86615}" presName="arrowDiagram5" presStyleCnt="0"/>
      <dgm:spPr/>
    </dgm:pt>
    <dgm:pt modelId="{478A40F7-A22A-49A2-AE35-E123E14409FB}" type="pres">
      <dgm:prSet presAssocID="{833FED3F-F8E8-4E99-90C9-74F71BF24C95}" presName="bullet5a" presStyleLbl="node1" presStyleIdx="0" presStyleCnt="5"/>
      <dgm:spPr/>
    </dgm:pt>
    <dgm:pt modelId="{9E201A56-E53E-449B-8741-A9A317DC2410}" type="pres">
      <dgm:prSet presAssocID="{833FED3F-F8E8-4E99-90C9-74F71BF24C95}" presName="textBox5a" presStyleLbl="revTx" presStyleIdx="0" presStyleCnt="5">
        <dgm:presLayoutVars>
          <dgm:bulletEnabled val="1"/>
        </dgm:presLayoutVars>
      </dgm:prSet>
      <dgm:spPr/>
    </dgm:pt>
    <dgm:pt modelId="{48817906-1EF5-4A99-8355-A6352596A518}" type="pres">
      <dgm:prSet presAssocID="{0C614D04-8637-4D0E-8B12-D69B078D5C0D}" presName="bullet5b" presStyleLbl="node1" presStyleIdx="1" presStyleCnt="5"/>
      <dgm:spPr/>
    </dgm:pt>
    <dgm:pt modelId="{EE9B5D92-553E-4ECE-ABF1-D32F8EEE050E}" type="pres">
      <dgm:prSet presAssocID="{0C614D04-8637-4D0E-8B12-D69B078D5C0D}" presName="textBox5b" presStyleLbl="revTx" presStyleIdx="1" presStyleCnt="5">
        <dgm:presLayoutVars>
          <dgm:bulletEnabled val="1"/>
        </dgm:presLayoutVars>
      </dgm:prSet>
      <dgm:spPr/>
    </dgm:pt>
    <dgm:pt modelId="{83B93065-99E5-4242-BDA9-71487B6BAE9F}" type="pres">
      <dgm:prSet presAssocID="{BBC79F9A-23E6-4743-BFB2-4DAE504D11EA}" presName="bullet5c" presStyleLbl="node1" presStyleIdx="2" presStyleCnt="5"/>
      <dgm:spPr/>
    </dgm:pt>
    <dgm:pt modelId="{45360A41-77AD-4042-84D2-45460A0A3ECD}" type="pres">
      <dgm:prSet presAssocID="{BBC79F9A-23E6-4743-BFB2-4DAE504D11EA}" presName="textBox5c" presStyleLbl="revTx" presStyleIdx="2" presStyleCnt="5">
        <dgm:presLayoutVars>
          <dgm:bulletEnabled val="1"/>
        </dgm:presLayoutVars>
      </dgm:prSet>
      <dgm:spPr/>
    </dgm:pt>
    <dgm:pt modelId="{55F29FF6-053D-4A5C-82C2-237DAC22F2EA}" type="pres">
      <dgm:prSet presAssocID="{58F02474-D35C-489B-9A33-8AB161632F56}" presName="bullet5d" presStyleLbl="node1" presStyleIdx="3" presStyleCnt="5"/>
      <dgm:spPr/>
    </dgm:pt>
    <dgm:pt modelId="{434B99AE-A783-43B7-BD4A-27DFF14E0994}" type="pres">
      <dgm:prSet presAssocID="{58F02474-D35C-489B-9A33-8AB161632F56}" presName="textBox5d" presStyleLbl="revTx" presStyleIdx="3" presStyleCnt="5">
        <dgm:presLayoutVars>
          <dgm:bulletEnabled val="1"/>
        </dgm:presLayoutVars>
      </dgm:prSet>
      <dgm:spPr/>
    </dgm:pt>
    <dgm:pt modelId="{D8B6547C-3172-42F4-BD99-84F5295A6558}" type="pres">
      <dgm:prSet presAssocID="{3960D8B7-84EF-43A5-BDDE-D02036D83191}" presName="bullet5e" presStyleLbl="node1" presStyleIdx="4" presStyleCnt="5"/>
      <dgm:spPr/>
    </dgm:pt>
    <dgm:pt modelId="{D17022DE-0D36-48C2-98E4-61C5C939DE16}" type="pres">
      <dgm:prSet presAssocID="{3960D8B7-84EF-43A5-BDDE-D02036D83191}" presName="textBox5e" presStyleLbl="revTx" presStyleIdx="4" presStyleCnt="5">
        <dgm:presLayoutVars>
          <dgm:bulletEnabled val="1"/>
        </dgm:presLayoutVars>
      </dgm:prSet>
      <dgm:spPr/>
    </dgm:pt>
  </dgm:ptLst>
  <dgm:cxnLst>
    <dgm:cxn modelId="{688F8435-47FF-49CA-9BC1-3DB5E1884223}" type="presOf" srcId="{3960D8B7-84EF-43A5-BDDE-D02036D83191}" destId="{D17022DE-0D36-48C2-98E4-61C5C939DE16}" srcOrd="0" destOrd="0" presId="urn:microsoft.com/office/officeart/2005/8/layout/arrow2"/>
    <dgm:cxn modelId="{5EF6EF39-D1DE-4049-907F-00B62355CD18}" type="presOf" srcId="{BBC79F9A-23E6-4743-BFB2-4DAE504D11EA}" destId="{45360A41-77AD-4042-84D2-45460A0A3ECD}" srcOrd="0" destOrd="0" presId="urn:microsoft.com/office/officeart/2005/8/layout/arrow2"/>
    <dgm:cxn modelId="{2ADC7A43-E12E-4F22-A8E5-6156FA7B6C67}" srcId="{0E7A4BB4-8228-4715-B4D7-0F8200B86615}" destId="{833FED3F-F8E8-4E99-90C9-74F71BF24C95}" srcOrd="0" destOrd="0" parTransId="{B27E4B84-D532-4041-AE12-C20A3920A4F2}" sibTransId="{AFE5B06D-6865-4B46-99FD-535847091FDA}"/>
    <dgm:cxn modelId="{4BD02869-65C8-4BB5-8D2C-D494ACF48AA0}" srcId="{0E7A4BB4-8228-4715-B4D7-0F8200B86615}" destId="{58F02474-D35C-489B-9A33-8AB161632F56}" srcOrd="3" destOrd="0" parTransId="{F81B6602-D938-4DFA-9AE6-DF09A0C72844}" sibTransId="{1173D067-639F-4260-A0AA-90B459DEC5B0}"/>
    <dgm:cxn modelId="{4090A36A-0F99-4ABF-A39C-130C9C65C5E3}" srcId="{0E7A4BB4-8228-4715-B4D7-0F8200B86615}" destId="{3960D8B7-84EF-43A5-BDDE-D02036D83191}" srcOrd="4" destOrd="0" parTransId="{2B4B9E09-02E1-4581-AF7E-93D3CE95443B}" sibTransId="{A83B2E15-F3A9-4C02-A5D2-59EE45D60997}"/>
    <dgm:cxn modelId="{02025F70-F7D6-4EA9-B265-1A1C5DB74F44}" srcId="{0E7A4BB4-8228-4715-B4D7-0F8200B86615}" destId="{BBC79F9A-23E6-4743-BFB2-4DAE504D11EA}" srcOrd="2" destOrd="0" parTransId="{22F92EA5-E357-44AF-BFEF-E054F928579F}" sibTransId="{E31C43C0-2035-403F-AF01-DFB2EEE311E8}"/>
    <dgm:cxn modelId="{A9FBAE59-B4EB-4A0B-82AD-7E59BD957466}" srcId="{0E7A4BB4-8228-4715-B4D7-0F8200B86615}" destId="{0C614D04-8637-4D0E-8B12-D69B078D5C0D}" srcOrd="1" destOrd="0" parTransId="{EC63A1D0-8EF6-421B-89E9-FDD370F9D53E}" sibTransId="{930208D3-E26A-41D1-8057-5A9C25F01651}"/>
    <dgm:cxn modelId="{0046BE97-443A-4772-9F5F-A83830352868}" type="presOf" srcId="{0C614D04-8637-4D0E-8B12-D69B078D5C0D}" destId="{EE9B5D92-553E-4ECE-ABF1-D32F8EEE050E}" srcOrd="0" destOrd="0" presId="urn:microsoft.com/office/officeart/2005/8/layout/arrow2"/>
    <dgm:cxn modelId="{71477CB1-300A-4F56-82E9-37C1398D564D}" type="presOf" srcId="{833FED3F-F8E8-4E99-90C9-74F71BF24C95}" destId="{9E201A56-E53E-449B-8741-A9A317DC2410}" srcOrd="0" destOrd="0" presId="urn:microsoft.com/office/officeart/2005/8/layout/arrow2"/>
    <dgm:cxn modelId="{648EA5DC-96B2-4E92-8468-EA3C8A9E6B6E}" type="presOf" srcId="{58F02474-D35C-489B-9A33-8AB161632F56}" destId="{434B99AE-A783-43B7-BD4A-27DFF14E0994}" srcOrd="0" destOrd="0" presId="urn:microsoft.com/office/officeart/2005/8/layout/arrow2"/>
    <dgm:cxn modelId="{B641A6EB-ECF1-480A-96BF-B02BCB2D7742}" type="presOf" srcId="{0E7A4BB4-8228-4715-B4D7-0F8200B86615}" destId="{643B9D5D-335E-4624-9C4B-FC684AEFEE84}" srcOrd="0" destOrd="0" presId="urn:microsoft.com/office/officeart/2005/8/layout/arrow2"/>
    <dgm:cxn modelId="{D6DD5122-46E1-49CA-AEFF-EB9C50359348}" type="presParOf" srcId="{643B9D5D-335E-4624-9C4B-FC684AEFEE84}" destId="{F73E52A7-A941-4009-B833-6DA60D9DC8E4}" srcOrd="0" destOrd="0" presId="urn:microsoft.com/office/officeart/2005/8/layout/arrow2"/>
    <dgm:cxn modelId="{0D5A293D-1A24-47BB-9537-0540B599DA8D}" type="presParOf" srcId="{643B9D5D-335E-4624-9C4B-FC684AEFEE84}" destId="{09A240FB-BC37-4E9C-9C92-4D0CFAABB00C}" srcOrd="1" destOrd="0" presId="urn:microsoft.com/office/officeart/2005/8/layout/arrow2"/>
    <dgm:cxn modelId="{A25A790E-EF37-4B9B-8017-A476407E5CAF}" type="presParOf" srcId="{09A240FB-BC37-4E9C-9C92-4D0CFAABB00C}" destId="{478A40F7-A22A-49A2-AE35-E123E14409FB}" srcOrd="0" destOrd="0" presId="urn:microsoft.com/office/officeart/2005/8/layout/arrow2"/>
    <dgm:cxn modelId="{6907CEDB-6D6D-428A-B9D8-1908F9684E3C}" type="presParOf" srcId="{09A240FB-BC37-4E9C-9C92-4D0CFAABB00C}" destId="{9E201A56-E53E-449B-8741-A9A317DC2410}" srcOrd="1" destOrd="0" presId="urn:microsoft.com/office/officeart/2005/8/layout/arrow2"/>
    <dgm:cxn modelId="{5D1A5FFA-D51A-41B8-87E2-1F9E9B4DDFBE}" type="presParOf" srcId="{09A240FB-BC37-4E9C-9C92-4D0CFAABB00C}" destId="{48817906-1EF5-4A99-8355-A6352596A518}" srcOrd="2" destOrd="0" presId="urn:microsoft.com/office/officeart/2005/8/layout/arrow2"/>
    <dgm:cxn modelId="{AEC59AA2-F5F6-40BC-9C5E-F09C60BF239F}" type="presParOf" srcId="{09A240FB-BC37-4E9C-9C92-4D0CFAABB00C}" destId="{EE9B5D92-553E-4ECE-ABF1-D32F8EEE050E}" srcOrd="3" destOrd="0" presId="urn:microsoft.com/office/officeart/2005/8/layout/arrow2"/>
    <dgm:cxn modelId="{C861B21D-6C93-4F28-8BF0-EE16400E35CF}" type="presParOf" srcId="{09A240FB-BC37-4E9C-9C92-4D0CFAABB00C}" destId="{83B93065-99E5-4242-BDA9-71487B6BAE9F}" srcOrd="4" destOrd="0" presId="urn:microsoft.com/office/officeart/2005/8/layout/arrow2"/>
    <dgm:cxn modelId="{490D9F85-520A-4BB0-BC32-A1965FE56144}" type="presParOf" srcId="{09A240FB-BC37-4E9C-9C92-4D0CFAABB00C}" destId="{45360A41-77AD-4042-84D2-45460A0A3ECD}" srcOrd="5" destOrd="0" presId="urn:microsoft.com/office/officeart/2005/8/layout/arrow2"/>
    <dgm:cxn modelId="{63FE765C-C011-4E0B-80A1-1243DE7FDE32}" type="presParOf" srcId="{09A240FB-BC37-4E9C-9C92-4D0CFAABB00C}" destId="{55F29FF6-053D-4A5C-82C2-237DAC22F2EA}" srcOrd="6" destOrd="0" presId="urn:microsoft.com/office/officeart/2005/8/layout/arrow2"/>
    <dgm:cxn modelId="{0D8B5DB4-F88D-4F1F-BCCC-73D00681AC4C}" type="presParOf" srcId="{09A240FB-BC37-4E9C-9C92-4D0CFAABB00C}" destId="{434B99AE-A783-43B7-BD4A-27DFF14E0994}" srcOrd="7" destOrd="0" presId="urn:microsoft.com/office/officeart/2005/8/layout/arrow2"/>
    <dgm:cxn modelId="{67813676-0A2C-4323-80EF-05B11BDA2D3B}" type="presParOf" srcId="{09A240FB-BC37-4E9C-9C92-4D0CFAABB00C}" destId="{D8B6547C-3172-42F4-BD99-84F5295A6558}" srcOrd="8" destOrd="0" presId="urn:microsoft.com/office/officeart/2005/8/layout/arrow2"/>
    <dgm:cxn modelId="{5822401E-A8AC-42A2-99E5-56031CF61DDF}" type="presParOf" srcId="{09A240FB-BC37-4E9C-9C92-4D0CFAABB00C}" destId="{D17022DE-0D36-48C2-98E4-61C5C939DE16}" srcOrd="9" destOrd="0" presId="urn:microsoft.com/office/officeart/2005/8/layout/arrow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3E52A7-A941-4009-B833-6DA60D9DC8E4}">
      <dsp:nvSpPr>
        <dsp:cNvPr id="0" name=""/>
        <dsp:cNvSpPr/>
      </dsp:nvSpPr>
      <dsp:spPr>
        <a:xfrm>
          <a:off x="0" y="169333"/>
          <a:ext cx="8128000" cy="5079999"/>
        </a:xfrm>
        <a:prstGeom prst="swooshArrow">
          <a:avLst>
            <a:gd name="adj1" fmla="val 25000"/>
            <a:gd name="adj2" fmla="val 25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8A40F7-A22A-49A2-AE35-E123E14409FB}">
      <dsp:nvSpPr>
        <dsp:cNvPr id="0" name=""/>
        <dsp:cNvSpPr/>
      </dsp:nvSpPr>
      <dsp:spPr>
        <a:xfrm>
          <a:off x="800607" y="3946821"/>
          <a:ext cx="186944" cy="186944"/>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E201A56-E53E-449B-8741-A9A317DC2410}">
      <dsp:nvSpPr>
        <dsp:cNvPr id="0" name=""/>
        <dsp:cNvSpPr/>
      </dsp:nvSpPr>
      <dsp:spPr>
        <a:xfrm>
          <a:off x="894079" y="4040293"/>
          <a:ext cx="1064768" cy="12090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58" tIns="0" rIns="0" bIns="0" numCol="1" spcCol="1270" anchor="t" anchorCtr="0">
          <a:noAutofit/>
        </a:bodyPr>
        <a:lstStyle/>
        <a:p>
          <a:pPr marL="0" lvl="0" indent="0" algn="l" defTabSz="711200">
            <a:lnSpc>
              <a:spcPct val="90000"/>
            </a:lnSpc>
            <a:spcBef>
              <a:spcPct val="0"/>
            </a:spcBef>
            <a:spcAft>
              <a:spcPct val="35000"/>
            </a:spcAft>
            <a:buNone/>
          </a:pPr>
          <a:r>
            <a:rPr lang="en-US" sz="1600" kern="1200" dirty="0"/>
            <a:t>Data Input</a:t>
          </a:r>
        </a:p>
      </dsp:txBody>
      <dsp:txXfrm>
        <a:off x="894079" y="4040293"/>
        <a:ext cx="1064768" cy="1209040"/>
      </dsp:txXfrm>
    </dsp:sp>
    <dsp:sp modelId="{48817906-1EF5-4A99-8355-A6352596A518}">
      <dsp:nvSpPr>
        <dsp:cNvPr id="0" name=""/>
        <dsp:cNvSpPr/>
      </dsp:nvSpPr>
      <dsp:spPr>
        <a:xfrm>
          <a:off x="1812543" y="2974509"/>
          <a:ext cx="292608" cy="292608"/>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9B5D92-553E-4ECE-ABF1-D32F8EEE050E}">
      <dsp:nvSpPr>
        <dsp:cNvPr id="0" name=""/>
        <dsp:cNvSpPr/>
      </dsp:nvSpPr>
      <dsp:spPr>
        <a:xfrm>
          <a:off x="1958847" y="3120813"/>
          <a:ext cx="1349248" cy="21285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5047" tIns="0" rIns="0" bIns="0" numCol="1" spcCol="1270" anchor="t" anchorCtr="0">
          <a:noAutofit/>
        </a:bodyPr>
        <a:lstStyle/>
        <a:p>
          <a:pPr marL="0" lvl="0" indent="0" algn="l" defTabSz="711200">
            <a:lnSpc>
              <a:spcPct val="90000"/>
            </a:lnSpc>
            <a:spcBef>
              <a:spcPct val="0"/>
            </a:spcBef>
            <a:spcAft>
              <a:spcPct val="35000"/>
            </a:spcAft>
            <a:buNone/>
          </a:pPr>
          <a:r>
            <a:rPr lang="en-US" sz="1600" kern="1200" dirty="0"/>
            <a:t>EDA</a:t>
          </a:r>
        </a:p>
      </dsp:txBody>
      <dsp:txXfrm>
        <a:off x="1958847" y="3120813"/>
        <a:ext cx="1349248" cy="2128519"/>
      </dsp:txXfrm>
    </dsp:sp>
    <dsp:sp modelId="{83B93065-99E5-4242-BDA9-71487B6BAE9F}">
      <dsp:nvSpPr>
        <dsp:cNvPr id="0" name=""/>
        <dsp:cNvSpPr/>
      </dsp:nvSpPr>
      <dsp:spPr>
        <a:xfrm>
          <a:off x="3113023" y="2199301"/>
          <a:ext cx="390144" cy="390144"/>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5360A41-77AD-4042-84D2-45460A0A3ECD}">
      <dsp:nvSpPr>
        <dsp:cNvPr id="0" name=""/>
        <dsp:cNvSpPr/>
      </dsp:nvSpPr>
      <dsp:spPr>
        <a:xfrm>
          <a:off x="3308095" y="2394373"/>
          <a:ext cx="1568704" cy="28549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6729" tIns="0" rIns="0" bIns="0" numCol="1" spcCol="1270" anchor="t" anchorCtr="0">
          <a:noAutofit/>
        </a:bodyPr>
        <a:lstStyle/>
        <a:p>
          <a:pPr marL="0" lvl="0" indent="0" algn="l" defTabSz="711200">
            <a:lnSpc>
              <a:spcPct val="90000"/>
            </a:lnSpc>
            <a:spcBef>
              <a:spcPct val="0"/>
            </a:spcBef>
            <a:spcAft>
              <a:spcPct val="35000"/>
            </a:spcAft>
            <a:buNone/>
          </a:pPr>
          <a:r>
            <a:rPr lang="en-US" sz="1600" kern="1200" dirty="0" err="1"/>
            <a:t>Preproccessing</a:t>
          </a:r>
          <a:r>
            <a:rPr lang="en-US" sz="1600" kern="1200" dirty="0"/>
            <a:t> &amp; feature </a:t>
          </a:r>
          <a:r>
            <a:rPr lang="en-US" sz="1600" kern="1200" dirty="0" err="1"/>
            <a:t>enginnering</a:t>
          </a:r>
          <a:endParaRPr lang="en-US" sz="1600" kern="1200" dirty="0"/>
        </a:p>
      </dsp:txBody>
      <dsp:txXfrm>
        <a:off x="3308095" y="2394373"/>
        <a:ext cx="1568704" cy="2854960"/>
      </dsp:txXfrm>
    </dsp:sp>
    <dsp:sp modelId="{55F29FF6-053D-4A5C-82C2-237DAC22F2EA}">
      <dsp:nvSpPr>
        <dsp:cNvPr id="0" name=""/>
        <dsp:cNvSpPr/>
      </dsp:nvSpPr>
      <dsp:spPr>
        <a:xfrm>
          <a:off x="4624832" y="1593765"/>
          <a:ext cx="503936" cy="50393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34B99AE-A783-43B7-BD4A-27DFF14E0994}">
      <dsp:nvSpPr>
        <dsp:cNvPr id="0" name=""/>
        <dsp:cNvSpPr/>
      </dsp:nvSpPr>
      <dsp:spPr>
        <a:xfrm>
          <a:off x="4876800" y="1845733"/>
          <a:ext cx="1625600" cy="3403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7025" tIns="0" rIns="0" bIns="0" numCol="1" spcCol="1270" anchor="t" anchorCtr="0">
          <a:noAutofit/>
        </a:bodyPr>
        <a:lstStyle/>
        <a:p>
          <a:pPr marL="0" lvl="0" indent="0" algn="l" defTabSz="711200">
            <a:lnSpc>
              <a:spcPct val="90000"/>
            </a:lnSpc>
            <a:spcBef>
              <a:spcPct val="0"/>
            </a:spcBef>
            <a:spcAft>
              <a:spcPct val="35000"/>
            </a:spcAft>
            <a:buNone/>
          </a:pPr>
          <a:r>
            <a:rPr lang="en-US" sz="1600" kern="1200" dirty="0"/>
            <a:t>Models </a:t>
          </a:r>
          <a:r>
            <a:rPr lang="en-US" sz="1600" kern="1200" dirty="0" err="1"/>
            <a:t>tranning</a:t>
          </a:r>
          <a:endParaRPr lang="en-US" sz="1600" kern="1200" dirty="0"/>
        </a:p>
      </dsp:txBody>
      <dsp:txXfrm>
        <a:off x="4876800" y="1845733"/>
        <a:ext cx="1625600" cy="3403600"/>
      </dsp:txXfrm>
    </dsp:sp>
    <dsp:sp modelId="{D8B6547C-3172-42F4-BD99-84F5295A6558}">
      <dsp:nvSpPr>
        <dsp:cNvPr id="0" name=""/>
        <dsp:cNvSpPr/>
      </dsp:nvSpPr>
      <dsp:spPr>
        <a:xfrm>
          <a:off x="6181343" y="1189397"/>
          <a:ext cx="642112" cy="642112"/>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17022DE-0D36-48C2-98E4-61C5C939DE16}">
      <dsp:nvSpPr>
        <dsp:cNvPr id="0" name=""/>
        <dsp:cNvSpPr/>
      </dsp:nvSpPr>
      <dsp:spPr>
        <a:xfrm>
          <a:off x="6502399" y="1510453"/>
          <a:ext cx="1625600" cy="3738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0242" tIns="0" rIns="0" bIns="0" numCol="1" spcCol="1270" anchor="t" anchorCtr="0">
          <a:noAutofit/>
        </a:bodyPr>
        <a:lstStyle/>
        <a:p>
          <a:pPr marL="0" lvl="0" indent="0" algn="l" defTabSz="711200">
            <a:lnSpc>
              <a:spcPct val="90000"/>
            </a:lnSpc>
            <a:spcBef>
              <a:spcPct val="0"/>
            </a:spcBef>
            <a:spcAft>
              <a:spcPct val="35000"/>
            </a:spcAft>
            <a:buNone/>
          </a:pPr>
          <a:r>
            <a:rPr lang="en-US" sz="1600" kern="1200" dirty="0"/>
            <a:t>Optimize model</a:t>
          </a:r>
        </a:p>
      </dsp:txBody>
      <dsp:txXfrm>
        <a:off x="6502399" y="1510453"/>
        <a:ext cx="1625600" cy="3738880"/>
      </dsp:txXfrm>
    </dsp:sp>
  </dsp:spTree>
</dsp:drawing>
</file>

<file path=ppt/diagrams/layout1.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6382A6-93C4-4A10-8414-7F1C90571834}" type="datetimeFigureOut">
              <a:rPr lang="en-US" smtClean="0"/>
              <a:t>10/30/2025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832536-2AA3-4CFC-B4F9-E207601A9CFC}" type="slidenum">
              <a:rPr lang="en-US" smtClean="0"/>
              <a:t>‹#›</a:t>
            </a:fld>
            <a:endParaRPr lang="en-US"/>
          </a:p>
        </p:txBody>
      </p:sp>
    </p:spTree>
    <p:extLst>
      <p:ext uri="{BB962C8B-B14F-4D97-AF65-F5344CB8AC3E}">
        <p14:creationId xmlns:p14="http://schemas.microsoft.com/office/powerpoint/2010/main" val="10405413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832536-2AA3-4CFC-B4F9-E207601A9CFC}" type="slidenum">
              <a:rPr lang="en-US" smtClean="0"/>
              <a:t>1</a:t>
            </a:fld>
            <a:endParaRPr lang="en-US"/>
          </a:p>
        </p:txBody>
      </p:sp>
    </p:spTree>
    <p:extLst>
      <p:ext uri="{BB962C8B-B14F-4D97-AF65-F5344CB8AC3E}">
        <p14:creationId xmlns:p14="http://schemas.microsoft.com/office/powerpoint/2010/main" val="3762256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2CA8C-E791-5442-DDBF-EB5DC535D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54A39-60F8-30ED-53D0-19A826536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54C940-EB6F-A287-FAEE-74E30A995D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64A72C-5347-BFE2-1B1B-AF241B346756}"/>
              </a:ext>
            </a:extLst>
          </p:cNvPr>
          <p:cNvSpPr>
            <a:spLocks noGrp="1"/>
          </p:cNvSpPr>
          <p:nvPr>
            <p:ph type="sldNum" sz="quarter" idx="5"/>
          </p:nvPr>
        </p:nvSpPr>
        <p:spPr/>
        <p:txBody>
          <a:bodyPr/>
          <a:lstStyle/>
          <a:p>
            <a:fld id="{D6832536-2AA3-4CFC-B4F9-E207601A9CFC}" type="slidenum">
              <a:rPr lang="en-US" smtClean="0"/>
              <a:t>2</a:t>
            </a:fld>
            <a:endParaRPr lang="en-US"/>
          </a:p>
        </p:txBody>
      </p:sp>
    </p:spTree>
    <p:extLst>
      <p:ext uri="{BB962C8B-B14F-4D97-AF65-F5344CB8AC3E}">
        <p14:creationId xmlns:p14="http://schemas.microsoft.com/office/powerpoint/2010/main" val="38154266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551591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5890031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0876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3378144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878581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3549378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7096340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140351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339634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623467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10/30/2025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3611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08DF4-2B07-40BF-9578-E6BB743AD9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47C343-18CC-C400-4425-8B75745146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024639-1894-11E6-6005-5D68804CA5EE}"/>
              </a:ext>
            </a:extLst>
          </p:cNvPr>
          <p:cNvSpPr>
            <a:spLocks noGrp="1"/>
          </p:cNvSpPr>
          <p:nvPr>
            <p:ph type="dt" sz="half" idx="10"/>
          </p:nvPr>
        </p:nvSpPr>
        <p:spPr/>
        <p:txBody>
          <a:bodyPr/>
          <a:lstStyle/>
          <a:p>
            <a:fld id="{FDC2FFE8-ADB8-4602-9361-BB104C534158}" type="datetimeFigureOut">
              <a:rPr lang="en-US" smtClean="0"/>
              <a:t>10/30/2025</a:t>
            </a:fld>
            <a:endParaRPr lang="en-US" dirty="0"/>
          </a:p>
        </p:txBody>
      </p:sp>
      <p:sp>
        <p:nvSpPr>
          <p:cNvPr id="5" name="Footer Placeholder 4">
            <a:extLst>
              <a:ext uri="{FF2B5EF4-FFF2-40B4-BE49-F238E27FC236}">
                <a16:creationId xmlns:a16="http://schemas.microsoft.com/office/drawing/2014/main" id="{E9BDBCA1-F316-1FBA-960E-0569A2981DE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686DF5E-CC20-EC94-8BE3-7A67DEB8B1E4}"/>
              </a:ext>
            </a:extLst>
          </p:cNvPr>
          <p:cNvSpPr>
            <a:spLocks noGrp="1"/>
          </p:cNvSpPr>
          <p:nvPr>
            <p:ph type="sldNum" sz="quarter" idx="12"/>
          </p:nvPr>
        </p:nvSpPr>
        <p:spPr/>
        <p:txBody>
          <a:bodyPr/>
          <a:lstStyle/>
          <a:p>
            <a:fld id="{3E7497B8-51E4-40D4-A027-5062C1885348}" type="slidenum">
              <a:rPr lang="en-US" smtClean="0"/>
              <a:t>‹#›</a:t>
            </a:fld>
            <a:endParaRPr lang="en-US" dirty="0"/>
          </a:p>
        </p:txBody>
      </p:sp>
    </p:spTree>
    <p:extLst>
      <p:ext uri="{BB962C8B-B14F-4D97-AF65-F5344CB8AC3E}">
        <p14:creationId xmlns:p14="http://schemas.microsoft.com/office/powerpoint/2010/main" val="22713133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10/30/2025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497846325"/>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0B6EA-2D82-9E10-2B1A-2EEA4E5AE32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EBB773-A179-FACA-3AEF-AD8F48C7A0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C298DA-44C3-88E7-A2A4-B90E99B3F9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C2FFE8-ADB8-4602-9361-BB104C534158}" type="datetimeFigureOut">
              <a:rPr lang="en-US" smtClean="0"/>
              <a:t>10/30/2025</a:t>
            </a:fld>
            <a:endParaRPr lang="en-US" dirty="0"/>
          </a:p>
        </p:txBody>
      </p:sp>
      <p:sp>
        <p:nvSpPr>
          <p:cNvPr id="5" name="Footer Placeholder 4">
            <a:extLst>
              <a:ext uri="{FF2B5EF4-FFF2-40B4-BE49-F238E27FC236}">
                <a16:creationId xmlns:a16="http://schemas.microsoft.com/office/drawing/2014/main" id="{102B95D2-A848-15B3-EA58-2D591821EF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9FEC0FD5-235F-BD01-652C-68AC1EFA79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E7497B8-51E4-40D4-A027-5062C1885348}" type="slidenum">
              <a:rPr lang="en-US" smtClean="0"/>
              <a:t>‹#›</a:t>
            </a:fld>
            <a:endParaRPr lang="en-US" dirty="0"/>
          </a:p>
        </p:txBody>
      </p:sp>
    </p:spTree>
    <p:extLst>
      <p:ext uri="{BB962C8B-B14F-4D97-AF65-F5344CB8AC3E}">
        <p14:creationId xmlns:p14="http://schemas.microsoft.com/office/powerpoint/2010/main" val="3685691633"/>
      </p:ext>
    </p:extLst>
  </p:cSld>
  <p:clrMap bg1="lt1" tx1="dk1" bg2="lt2" tx2="dk2" accent1="accent1" accent2="accent2" accent3="accent3" accent4="accent4" accent5="accent5" accent6="accent6" hlink="hlink" folHlink="folHlink"/>
  <p:sldLayoutIdLst>
    <p:sldLayoutId id="214748365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www.kaggle.com/competitions/titanic"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www.kaggle.com/competitions/titanic"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Top view of wood desk with the plant, white keyboard, coffee in a white mug, notebook, and pen">
            <a:extLst>
              <a:ext uri="{FF2B5EF4-FFF2-40B4-BE49-F238E27FC236}">
                <a16:creationId xmlns:a16="http://schemas.microsoft.com/office/drawing/2014/main" id="{6B01D60B-4093-47D5-8063-72380AEAAEA9}"/>
              </a:ext>
            </a:extLst>
          </p:cNvPr>
          <p:cNvPicPr>
            <a:picLocks noChangeAspect="1"/>
          </p:cNvPicPr>
          <p:nvPr/>
        </p:nvPicPr>
        <p:blipFill>
          <a:blip r:embed="rId3"/>
          <a:srcRect t="4687" b="12287"/>
          <a:stretch>
            <a:fillRect/>
          </a:stretch>
        </p:blipFill>
        <p:spPr>
          <a:xfrm>
            <a:off x="-2" y="10"/>
            <a:ext cx="12191979" cy="6857990"/>
          </a:xfrm>
          <a:prstGeom prst="rect">
            <a:avLst/>
          </a:prstGeom>
        </p:spPr>
      </p:pic>
      <p:sp>
        <p:nvSpPr>
          <p:cNvPr id="11" name="Rectangle 10">
            <a:extLst>
              <a:ext uri="{FF2B5EF4-FFF2-40B4-BE49-F238E27FC236}">
                <a16:creationId xmlns:a16="http://schemas.microsoft.com/office/drawing/2014/main" id="{912025B4-7337-735E-4DC9-E634D20119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73183" y="173181"/>
            <a:ext cx="6858002" cy="6511640"/>
          </a:xfrm>
          <a:prstGeom prst="rect">
            <a:avLst/>
          </a:prstGeom>
          <a:gradFill>
            <a:gsLst>
              <a:gs pos="0">
                <a:schemeClr val="bg1">
                  <a:alpha val="0"/>
                </a:schemeClr>
              </a:gs>
              <a:gs pos="46000">
                <a:schemeClr val="bg1">
                  <a:alpha val="20000"/>
                </a:schemeClr>
              </a:gs>
              <a:gs pos="26000">
                <a:schemeClr val="bg1">
                  <a:alpha val="7000"/>
                </a:schemeClr>
              </a:gs>
              <a:gs pos="100000">
                <a:schemeClr val="bg1">
                  <a:alpha val="3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516EB9D-7F7E-9B1B-8EAA-D89888C2F302}"/>
              </a:ext>
            </a:extLst>
          </p:cNvPr>
          <p:cNvSpPr>
            <a:spLocks noGrp="1"/>
          </p:cNvSpPr>
          <p:nvPr>
            <p:ph type="ctrTitle"/>
          </p:nvPr>
        </p:nvSpPr>
        <p:spPr>
          <a:xfrm>
            <a:off x="438910" y="978408"/>
            <a:ext cx="4795819" cy="3969960"/>
          </a:xfrm>
        </p:spPr>
        <p:txBody>
          <a:bodyPr anchor="t">
            <a:normAutofit/>
          </a:bodyPr>
          <a:lstStyle/>
          <a:p>
            <a:r>
              <a:rPr lang="en-US" sz="6600" b="0" dirty="0"/>
              <a:t>The Titanic: ML From Disaster</a:t>
            </a:r>
          </a:p>
        </p:txBody>
      </p:sp>
      <p:sp>
        <p:nvSpPr>
          <p:cNvPr id="3" name="Subtitle 2">
            <a:extLst>
              <a:ext uri="{FF2B5EF4-FFF2-40B4-BE49-F238E27FC236}">
                <a16:creationId xmlns:a16="http://schemas.microsoft.com/office/drawing/2014/main" id="{5FACBBB5-D3F8-9FC1-EC3C-BC61F0E83DFF}"/>
              </a:ext>
            </a:extLst>
          </p:cNvPr>
          <p:cNvSpPr>
            <a:spLocks noGrp="1"/>
          </p:cNvSpPr>
          <p:nvPr>
            <p:ph type="subTitle" idx="1"/>
          </p:nvPr>
        </p:nvSpPr>
        <p:spPr>
          <a:xfrm>
            <a:off x="438910" y="4948369"/>
            <a:ext cx="4381634" cy="1157436"/>
          </a:xfrm>
        </p:spPr>
        <p:txBody>
          <a:bodyPr anchor="b">
            <a:normAutofit/>
          </a:bodyPr>
          <a:lstStyle/>
          <a:p>
            <a:r>
              <a:rPr lang="en-US" sz="2400" dirty="0" err="1">
                <a:solidFill>
                  <a:srgbClr val="FF0000"/>
                </a:solidFill>
              </a:rPr>
              <a:t>Source:</a:t>
            </a:r>
            <a:r>
              <a:rPr lang="en-US" sz="2400" dirty="0" err="1">
                <a:solidFill>
                  <a:srgbClr val="FFFF00"/>
                </a:solidFill>
                <a:hlinkClick r:id="rId4">
                  <a:extLst>
                    <a:ext uri="{A12FA001-AC4F-418D-AE19-62706E023703}">
                      <ahyp:hlinkClr xmlns:ahyp="http://schemas.microsoft.com/office/drawing/2018/hyperlinkcolor" val="tx"/>
                    </a:ext>
                  </a:extLst>
                </a:hlinkClick>
              </a:rPr>
              <a:t>https</a:t>
            </a:r>
            <a:r>
              <a:rPr lang="en-US" sz="2400" dirty="0">
                <a:solidFill>
                  <a:srgbClr val="FFFF00"/>
                </a:solidFill>
                <a:hlinkClick r:id="rId4">
                  <a:extLst>
                    <a:ext uri="{A12FA001-AC4F-418D-AE19-62706E023703}">
                      <ahyp:hlinkClr xmlns:ahyp="http://schemas.microsoft.com/office/drawing/2018/hyperlinkcolor" val="tx"/>
                    </a:ext>
                  </a:extLst>
                </a:hlinkClick>
              </a:rPr>
              <a:t>://www.kaggle.com/competitions/titanic</a:t>
            </a:r>
            <a:endParaRPr lang="en-US" sz="2400" dirty="0">
              <a:solidFill>
                <a:srgbClr val="FFFF00"/>
              </a:solidFill>
            </a:endParaRPr>
          </a:p>
        </p:txBody>
      </p:sp>
      <p:sp>
        <p:nvSpPr>
          <p:cNvPr id="13" name="Rectangle 12">
            <a:extLst>
              <a:ext uri="{FF2B5EF4-FFF2-40B4-BE49-F238E27FC236}">
                <a16:creationId xmlns:a16="http://schemas.microsoft.com/office/drawing/2014/main" id="{150CDACD-D191-E642-F686-FCB54B7E5F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508090"/>
            <a:ext cx="4695702"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5" name="Title 1">
            <a:extLst>
              <a:ext uri="{FF2B5EF4-FFF2-40B4-BE49-F238E27FC236}">
                <a16:creationId xmlns:a16="http://schemas.microsoft.com/office/drawing/2014/main" id="{2395B0B7-C19A-8D5C-3E4D-54BDF5F1AD34}"/>
              </a:ext>
            </a:extLst>
          </p:cNvPr>
          <p:cNvSpPr txBox="1">
            <a:spLocks/>
          </p:cNvSpPr>
          <p:nvPr/>
        </p:nvSpPr>
        <p:spPr>
          <a:xfrm rot="19180499">
            <a:off x="8684686" y="4546147"/>
            <a:ext cx="2272432" cy="2429259"/>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7200" b="1" kern="1200">
                <a:solidFill>
                  <a:schemeClr val="tx1"/>
                </a:solidFill>
                <a:latin typeface="+mj-lt"/>
                <a:ea typeface="+mj-ea"/>
                <a:cs typeface="+mj-cs"/>
              </a:defRPr>
            </a:lvl1pPr>
          </a:lstStyle>
          <a:p>
            <a:r>
              <a:rPr lang="en-US" sz="3200" dirty="0">
                <a:solidFill>
                  <a:srgbClr val="FF0000"/>
                </a:solidFill>
              </a:rPr>
              <a:t>Members:</a:t>
            </a:r>
            <a:br>
              <a:rPr lang="en-US" sz="4000" dirty="0"/>
            </a:br>
            <a:r>
              <a:rPr lang="en-US" sz="2400" b="0" dirty="0" err="1">
                <a:solidFill>
                  <a:schemeClr val="tx2">
                    <a:lumMod val="10000"/>
                  </a:schemeClr>
                </a:solidFill>
                <a:latin typeface="Bahnschrift SemiBold SemiConden" panose="020B0502040204020203" pitchFamily="34" charset="0"/>
                <a:cs typeface="Angsana New" panose="020B0502040204020203" pitchFamily="18" charset="-34"/>
              </a:rPr>
              <a:t>Trần</a:t>
            </a:r>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 </a:t>
            </a:r>
            <a:r>
              <a:rPr lang="en-US" sz="2400" b="0" dirty="0" err="1">
                <a:solidFill>
                  <a:schemeClr val="tx2">
                    <a:lumMod val="10000"/>
                  </a:schemeClr>
                </a:solidFill>
                <a:latin typeface="Bahnschrift SemiBold SemiConden" panose="020B0502040204020203" pitchFamily="34" charset="0"/>
                <a:cs typeface="Angsana New" panose="020B0502040204020203" pitchFamily="18" charset="-34"/>
              </a:rPr>
              <a:t>Đại</a:t>
            </a:r>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 Thắng</a:t>
            </a:r>
            <a:br>
              <a:rPr lang="en-US" sz="2400" b="0" dirty="0">
                <a:solidFill>
                  <a:schemeClr val="tx2">
                    <a:lumMod val="10000"/>
                  </a:schemeClr>
                </a:solidFill>
                <a:latin typeface="Bahnschrift SemiBold SemiConden" panose="020B0502040204020203" pitchFamily="34" charset="0"/>
                <a:cs typeface="Angsana New" panose="020B0502040204020203" pitchFamily="18" charset="-34"/>
              </a:rPr>
            </a:br>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Nguyễn Tuấn Đạt</a:t>
            </a:r>
          </a:p>
          <a:p>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Châu Hải Đăng</a:t>
            </a:r>
          </a:p>
        </p:txBody>
      </p:sp>
      <p:sp>
        <p:nvSpPr>
          <p:cNvPr id="7" name="TextBox 6">
            <a:extLst>
              <a:ext uri="{FF2B5EF4-FFF2-40B4-BE49-F238E27FC236}">
                <a16:creationId xmlns:a16="http://schemas.microsoft.com/office/drawing/2014/main" id="{ACE77941-F4C9-6668-09FD-291DA487B2CE}"/>
              </a:ext>
            </a:extLst>
          </p:cNvPr>
          <p:cNvSpPr txBox="1"/>
          <p:nvPr/>
        </p:nvSpPr>
        <p:spPr>
          <a:xfrm rot="4040556">
            <a:off x="-7202829" y="1765390"/>
            <a:ext cx="7202804" cy="1569660"/>
          </a:xfrm>
          <a:prstGeom prst="rect">
            <a:avLst/>
          </a:prstGeom>
          <a:noFill/>
        </p:spPr>
        <p:txBody>
          <a:bodyPr wrap="square" rtlCol="0">
            <a:spAutoFit/>
          </a:bodyPr>
          <a:lstStyle/>
          <a:p>
            <a:pPr algn="ctr"/>
            <a:r>
              <a:rPr lang="en-US" sz="4800" b="1" dirty="0" err="1">
                <a:solidFill>
                  <a:schemeClr val="bg1"/>
                </a:solidFill>
              </a:rPr>
              <a:t>Sơ</a:t>
            </a:r>
            <a:r>
              <a:rPr lang="en-US" sz="4800" b="1" dirty="0">
                <a:solidFill>
                  <a:schemeClr val="bg1"/>
                </a:solidFill>
              </a:rPr>
              <a:t> </a:t>
            </a:r>
            <a:r>
              <a:rPr lang="en-US" sz="4800" b="1" dirty="0" err="1">
                <a:solidFill>
                  <a:schemeClr val="bg1"/>
                </a:solidFill>
              </a:rPr>
              <a:t>lược</a:t>
            </a:r>
            <a:r>
              <a:rPr lang="en-US" sz="4800" b="1" dirty="0">
                <a:solidFill>
                  <a:schemeClr val="bg1"/>
                </a:solidFill>
              </a:rPr>
              <a:t> </a:t>
            </a:r>
            <a:r>
              <a:rPr lang="en-US" sz="4800" b="1" dirty="0" err="1">
                <a:solidFill>
                  <a:schemeClr val="bg1"/>
                </a:solidFill>
              </a:rPr>
              <a:t>về</a:t>
            </a:r>
            <a:r>
              <a:rPr lang="en-US" sz="4800" b="1" dirty="0">
                <a:solidFill>
                  <a:schemeClr val="bg1"/>
                </a:solidFill>
              </a:rPr>
              <a:t> </a:t>
            </a:r>
            <a:r>
              <a:rPr lang="en-US" sz="4800" b="1" dirty="0" err="1">
                <a:solidFill>
                  <a:schemeClr val="bg1"/>
                </a:solidFill>
              </a:rPr>
              <a:t>sự</a:t>
            </a:r>
            <a:r>
              <a:rPr lang="en-US" sz="4800" b="1" dirty="0">
                <a:solidFill>
                  <a:schemeClr val="bg1"/>
                </a:solidFill>
              </a:rPr>
              <a:t> </a:t>
            </a:r>
            <a:r>
              <a:rPr lang="en-US" sz="4800" b="1" dirty="0" err="1">
                <a:solidFill>
                  <a:schemeClr val="bg1"/>
                </a:solidFill>
              </a:rPr>
              <a:t>kiện</a:t>
            </a:r>
            <a:r>
              <a:rPr lang="en-US" sz="4800" b="1" dirty="0">
                <a:solidFill>
                  <a:schemeClr val="bg1"/>
                </a:solidFill>
              </a:rPr>
              <a:t> </a:t>
            </a:r>
            <a:r>
              <a:rPr lang="en-US" sz="4800" b="1" dirty="0" err="1">
                <a:solidFill>
                  <a:schemeClr val="bg1"/>
                </a:solidFill>
              </a:rPr>
              <a:t>và</a:t>
            </a:r>
            <a:r>
              <a:rPr lang="en-US" sz="4800" b="1" dirty="0">
                <a:solidFill>
                  <a:schemeClr val="bg1"/>
                </a:solidFill>
              </a:rPr>
              <a:t> </a:t>
            </a:r>
            <a:r>
              <a:rPr lang="en-US" sz="4800" b="1" dirty="0" err="1">
                <a:solidFill>
                  <a:schemeClr val="bg1"/>
                </a:solidFill>
              </a:rPr>
              <a:t>mục</a:t>
            </a:r>
            <a:r>
              <a:rPr lang="en-US" sz="4800" b="1" dirty="0">
                <a:solidFill>
                  <a:schemeClr val="bg1"/>
                </a:solidFill>
              </a:rPr>
              <a:t> </a:t>
            </a:r>
            <a:r>
              <a:rPr lang="en-US" sz="4800" b="1" dirty="0" err="1">
                <a:solidFill>
                  <a:schemeClr val="bg1"/>
                </a:solidFill>
              </a:rPr>
              <a:t>tiêu</a:t>
            </a:r>
            <a:r>
              <a:rPr lang="en-US" sz="4800" b="1" dirty="0">
                <a:solidFill>
                  <a:schemeClr val="bg1"/>
                </a:solidFill>
              </a:rPr>
              <a:t> </a:t>
            </a:r>
            <a:r>
              <a:rPr lang="en-US" sz="4800" b="1" dirty="0" err="1">
                <a:solidFill>
                  <a:schemeClr val="bg1"/>
                </a:solidFill>
              </a:rPr>
              <a:t>của</a:t>
            </a:r>
            <a:r>
              <a:rPr lang="en-US" sz="4800" b="1" dirty="0">
                <a:solidFill>
                  <a:schemeClr val="bg1"/>
                </a:solidFill>
              </a:rPr>
              <a:t> </a:t>
            </a:r>
            <a:r>
              <a:rPr lang="en-US" sz="4800" b="1" dirty="0" err="1">
                <a:solidFill>
                  <a:schemeClr val="bg1"/>
                </a:solidFill>
              </a:rPr>
              <a:t>bài</a:t>
            </a:r>
            <a:r>
              <a:rPr lang="en-US" sz="4800" b="1" dirty="0">
                <a:solidFill>
                  <a:schemeClr val="bg1"/>
                </a:solidFill>
              </a:rPr>
              <a:t> </a:t>
            </a:r>
            <a:r>
              <a:rPr lang="en-US" sz="4800" b="1" dirty="0" err="1">
                <a:solidFill>
                  <a:schemeClr val="bg1"/>
                </a:solidFill>
              </a:rPr>
              <a:t>lần</a:t>
            </a:r>
            <a:r>
              <a:rPr lang="en-US" sz="4800" b="1" dirty="0">
                <a:solidFill>
                  <a:schemeClr val="bg1"/>
                </a:solidFill>
              </a:rPr>
              <a:t> </a:t>
            </a:r>
            <a:r>
              <a:rPr lang="en-US" sz="4800" b="1" dirty="0" err="1">
                <a:solidFill>
                  <a:schemeClr val="bg1"/>
                </a:solidFill>
              </a:rPr>
              <a:t>này</a:t>
            </a:r>
            <a:endParaRPr lang="en-US" sz="4800" b="1" dirty="0">
              <a:solidFill>
                <a:schemeClr val="bg1"/>
              </a:solidFill>
            </a:endParaRPr>
          </a:p>
        </p:txBody>
      </p:sp>
    </p:spTree>
    <p:extLst>
      <p:ext uri="{BB962C8B-B14F-4D97-AF65-F5344CB8AC3E}">
        <p14:creationId xmlns:p14="http://schemas.microsoft.com/office/powerpoint/2010/main" val="211258439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C6995-43BF-494B-D87A-A2E213F2976D}"/>
            </a:ext>
          </a:extLst>
        </p:cNvPr>
        <p:cNvGrpSpPr/>
        <p:nvPr/>
      </p:nvGrpSpPr>
      <p:grpSpPr>
        <a:xfrm>
          <a:off x="0" y="0"/>
          <a:ext cx="0" cy="0"/>
          <a:chOff x="0" y="0"/>
          <a:chExt cx="0" cy="0"/>
        </a:xfrm>
      </p:grpSpPr>
      <p:pic>
        <p:nvPicPr>
          <p:cNvPr id="4" name="Picture 3" descr="Top view of wood desk with the plant, white keyboard, coffee in a white mug, notebook, and pen">
            <a:extLst>
              <a:ext uri="{FF2B5EF4-FFF2-40B4-BE49-F238E27FC236}">
                <a16:creationId xmlns:a16="http://schemas.microsoft.com/office/drawing/2014/main" id="{98F66184-ED77-F55B-ACA2-945943148CB3}"/>
              </a:ext>
            </a:extLst>
          </p:cNvPr>
          <p:cNvPicPr>
            <a:picLocks noChangeAspect="1"/>
          </p:cNvPicPr>
          <p:nvPr/>
        </p:nvPicPr>
        <p:blipFill>
          <a:blip r:embed="rId3"/>
          <a:srcRect t="4687" b="12287"/>
          <a:stretch>
            <a:fillRect/>
          </a:stretch>
        </p:blipFill>
        <p:spPr>
          <a:xfrm>
            <a:off x="21" y="0"/>
            <a:ext cx="12191979" cy="6857990"/>
          </a:xfrm>
          <a:prstGeom prst="rect">
            <a:avLst/>
          </a:prstGeom>
        </p:spPr>
      </p:pic>
      <p:sp>
        <p:nvSpPr>
          <p:cNvPr id="2" name="Title 1">
            <a:extLst>
              <a:ext uri="{FF2B5EF4-FFF2-40B4-BE49-F238E27FC236}">
                <a16:creationId xmlns:a16="http://schemas.microsoft.com/office/drawing/2014/main" id="{06AE4A41-73D9-B3BA-877B-89E0871BCA67}"/>
              </a:ext>
            </a:extLst>
          </p:cNvPr>
          <p:cNvSpPr>
            <a:spLocks noGrp="1"/>
          </p:cNvSpPr>
          <p:nvPr>
            <p:ph type="ctrTitle"/>
          </p:nvPr>
        </p:nvSpPr>
        <p:spPr>
          <a:xfrm>
            <a:off x="438910" y="978408"/>
            <a:ext cx="6346892" cy="3969960"/>
          </a:xfrm>
        </p:spPr>
        <p:txBody>
          <a:bodyPr anchor="t">
            <a:noAutofit/>
          </a:bodyPr>
          <a:lstStyle/>
          <a:p>
            <a:r>
              <a:rPr lang="en-US" sz="4000" dirty="0"/>
              <a:t>I. </a:t>
            </a:r>
            <a:r>
              <a:rPr lang="en-US" sz="4000" dirty="0" err="1"/>
              <a:t>Giới</a:t>
            </a:r>
            <a:r>
              <a:rPr lang="en-US" sz="4000" dirty="0"/>
              <a:t> </a:t>
            </a:r>
            <a:r>
              <a:rPr lang="en-US" sz="4000" dirty="0" err="1"/>
              <a:t>thiệu</a:t>
            </a:r>
            <a:br>
              <a:rPr lang="en-US" sz="4000" dirty="0"/>
            </a:br>
            <a:r>
              <a:rPr lang="en-US" sz="4000" dirty="0"/>
              <a:t>II. Phương </a:t>
            </a:r>
            <a:r>
              <a:rPr lang="en-US" sz="4000" dirty="0" err="1"/>
              <a:t>pháp</a:t>
            </a:r>
            <a:r>
              <a:rPr lang="en-US" sz="4000" dirty="0"/>
              <a:t> </a:t>
            </a:r>
            <a:r>
              <a:rPr lang="en-US" sz="4000" dirty="0" err="1"/>
              <a:t>đề</a:t>
            </a:r>
            <a:r>
              <a:rPr lang="en-US" sz="4000" dirty="0"/>
              <a:t> </a:t>
            </a:r>
            <a:r>
              <a:rPr lang="en-US" sz="4000" dirty="0" err="1"/>
              <a:t>xuất</a:t>
            </a:r>
            <a:br>
              <a:rPr lang="en-US" sz="4000" dirty="0"/>
            </a:br>
            <a:r>
              <a:rPr lang="en-US" sz="4000" dirty="0"/>
              <a:t>III. </a:t>
            </a:r>
            <a:r>
              <a:rPr lang="en-US" sz="4000" dirty="0" err="1"/>
              <a:t>Chọn</a:t>
            </a:r>
            <a:r>
              <a:rPr lang="en-US" sz="4000" dirty="0"/>
              <a:t> </a:t>
            </a:r>
            <a:r>
              <a:rPr lang="en-US" sz="4000" dirty="0" err="1"/>
              <a:t>mô</a:t>
            </a:r>
            <a:r>
              <a:rPr lang="en-US" sz="4000" dirty="0"/>
              <a:t> </a:t>
            </a:r>
            <a:r>
              <a:rPr lang="en-US" sz="4000" dirty="0" err="1"/>
              <a:t>hình</a:t>
            </a:r>
            <a:r>
              <a:rPr lang="en-US" sz="4000" dirty="0"/>
              <a:t> </a:t>
            </a:r>
            <a:r>
              <a:rPr lang="en-US" sz="4000" dirty="0" err="1"/>
              <a:t>tốt</a:t>
            </a:r>
            <a:r>
              <a:rPr lang="en-US" sz="4000" dirty="0"/>
              <a:t> </a:t>
            </a:r>
            <a:r>
              <a:rPr lang="en-US" sz="4000" dirty="0" err="1"/>
              <a:t>nhất</a:t>
            </a:r>
            <a:br>
              <a:rPr lang="en-US" sz="4000" dirty="0"/>
            </a:br>
            <a:r>
              <a:rPr lang="en-US" sz="4000" dirty="0"/>
              <a:t>IV. </a:t>
            </a:r>
            <a:r>
              <a:rPr lang="en-US" sz="4000" dirty="0" err="1"/>
              <a:t>Nộp</a:t>
            </a:r>
            <a:r>
              <a:rPr lang="en-US" sz="4000" dirty="0"/>
              <a:t> </a:t>
            </a:r>
            <a:r>
              <a:rPr lang="en-US" sz="4000" dirty="0" err="1"/>
              <a:t>bài</a:t>
            </a:r>
            <a:r>
              <a:rPr lang="en-US" sz="4000" dirty="0"/>
              <a:t> </a:t>
            </a:r>
            <a:r>
              <a:rPr lang="en-US" sz="4000" dirty="0" err="1"/>
              <a:t>lên</a:t>
            </a:r>
            <a:r>
              <a:rPr lang="en-US" sz="4000" dirty="0"/>
              <a:t> </a:t>
            </a:r>
            <a:r>
              <a:rPr lang="en-US" sz="4000" dirty="0" err="1"/>
              <a:t>cuộc</a:t>
            </a:r>
            <a:r>
              <a:rPr lang="en-US" sz="4000" dirty="0"/>
              <a:t> </a:t>
            </a:r>
            <a:r>
              <a:rPr lang="en-US" sz="4000" dirty="0" err="1"/>
              <a:t>thi</a:t>
            </a:r>
            <a:r>
              <a:rPr lang="en-US" sz="4000" dirty="0"/>
              <a:t> Kaggle </a:t>
            </a:r>
            <a:r>
              <a:rPr lang="en-US" sz="4000" dirty="0" err="1"/>
              <a:t>và</a:t>
            </a:r>
            <a:r>
              <a:rPr lang="en-US" sz="4000" dirty="0"/>
              <a:t> </a:t>
            </a:r>
            <a:r>
              <a:rPr lang="en-US" sz="4000" dirty="0" err="1"/>
              <a:t>kết</a:t>
            </a:r>
            <a:r>
              <a:rPr lang="en-US" sz="4000" dirty="0"/>
              <a:t> </a:t>
            </a:r>
            <a:r>
              <a:rPr lang="en-US" sz="4000" dirty="0" err="1"/>
              <a:t>luận</a:t>
            </a:r>
            <a:r>
              <a:rPr lang="en-US" sz="4000" dirty="0"/>
              <a:t> </a:t>
            </a:r>
          </a:p>
        </p:txBody>
      </p:sp>
      <p:sp>
        <p:nvSpPr>
          <p:cNvPr id="3" name="Subtitle 2">
            <a:extLst>
              <a:ext uri="{FF2B5EF4-FFF2-40B4-BE49-F238E27FC236}">
                <a16:creationId xmlns:a16="http://schemas.microsoft.com/office/drawing/2014/main" id="{8041A2BF-8E88-89EF-A9F6-0A3BD5E6FF8B}"/>
              </a:ext>
            </a:extLst>
          </p:cNvPr>
          <p:cNvSpPr>
            <a:spLocks noGrp="1"/>
          </p:cNvSpPr>
          <p:nvPr>
            <p:ph type="subTitle" idx="1"/>
          </p:nvPr>
        </p:nvSpPr>
        <p:spPr>
          <a:xfrm>
            <a:off x="438910" y="4948369"/>
            <a:ext cx="4381634" cy="1157436"/>
          </a:xfrm>
        </p:spPr>
        <p:txBody>
          <a:bodyPr anchor="b">
            <a:normAutofit/>
          </a:bodyPr>
          <a:lstStyle/>
          <a:p>
            <a:r>
              <a:rPr lang="en-US" sz="2400" dirty="0" err="1">
                <a:solidFill>
                  <a:srgbClr val="FF0000"/>
                </a:solidFill>
              </a:rPr>
              <a:t>Source:</a:t>
            </a:r>
            <a:r>
              <a:rPr lang="en-US" sz="2400" dirty="0" err="1">
                <a:solidFill>
                  <a:srgbClr val="FFFF00"/>
                </a:solidFill>
                <a:hlinkClick r:id="rId4">
                  <a:extLst>
                    <a:ext uri="{A12FA001-AC4F-418D-AE19-62706E023703}">
                      <ahyp:hlinkClr xmlns:ahyp="http://schemas.microsoft.com/office/drawing/2018/hyperlinkcolor" val="tx"/>
                    </a:ext>
                  </a:extLst>
                </a:hlinkClick>
              </a:rPr>
              <a:t>https</a:t>
            </a:r>
            <a:r>
              <a:rPr lang="en-US" sz="2400" dirty="0">
                <a:solidFill>
                  <a:srgbClr val="FFFF00"/>
                </a:solidFill>
                <a:hlinkClick r:id="rId4">
                  <a:extLst>
                    <a:ext uri="{A12FA001-AC4F-418D-AE19-62706E023703}">
                      <ahyp:hlinkClr xmlns:ahyp="http://schemas.microsoft.com/office/drawing/2018/hyperlinkcolor" val="tx"/>
                    </a:ext>
                  </a:extLst>
                </a:hlinkClick>
              </a:rPr>
              <a:t>://www.kaggle.com/competitions/titanic</a:t>
            </a:r>
            <a:endParaRPr lang="en-US" sz="2400" dirty="0">
              <a:solidFill>
                <a:srgbClr val="FFFF00"/>
              </a:solidFill>
            </a:endParaRPr>
          </a:p>
        </p:txBody>
      </p:sp>
      <p:sp>
        <p:nvSpPr>
          <p:cNvPr id="5" name="Title 1">
            <a:extLst>
              <a:ext uri="{FF2B5EF4-FFF2-40B4-BE49-F238E27FC236}">
                <a16:creationId xmlns:a16="http://schemas.microsoft.com/office/drawing/2014/main" id="{319B5D6A-964A-36D0-994A-127B73192E05}"/>
              </a:ext>
            </a:extLst>
          </p:cNvPr>
          <p:cNvSpPr txBox="1">
            <a:spLocks/>
          </p:cNvSpPr>
          <p:nvPr/>
        </p:nvSpPr>
        <p:spPr>
          <a:xfrm rot="19180499">
            <a:off x="8684686" y="4546147"/>
            <a:ext cx="2272432" cy="2429259"/>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7200" b="1" kern="1200">
                <a:solidFill>
                  <a:schemeClr val="tx1"/>
                </a:solidFill>
                <a:latin typeface="+mj-lt"/>
                <a:ea typeface="+mj-ea"/>
                <a:cs typeface="+mj-cs"/>
              </a:defRPr>
            </a:lvl1pPr>
          </a:lstStyle>
          <a:p>
            <a:r>
              <a:rPr lang="en-US" sz="3200" dirty="0">
                <a:solidFill>
                  <a:srgbClr val="FF0000"/>
                </a:solidFill>
              </a:rPr>
              <a:t>Members:</a:t>
            </a:r>
            <a:br>
              <a:rPr lang="en-US" sz="4000" dirty="0"/>
            </a:br>
            <a:r>
              <a:rPr lang="en-US" sz="2400" b="0" dirty="0" err="1">
                <a:solidFill>
                  <a:schemeClr val="tx2">
                    <a:lumMod val="10000"/>
                  </a:schemeClr>
                </a:solidFill>
                <a:latin typeface="Bahnschrift SemiBold SemiConden" panose="020B0502040204020203" pitchFamily="34" charset="0"/>
                <a:cs typeface="Angsana New" panose="020B0502040204020203" pitchFamily="18" charset="-34"/>
              </a:rPr>
              <a:t>Trần</a:t>
            </a:r>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 </a:t>
            </a:r>
            <a:r>
              <a:rPr lang="en-US" sz="2400" b="0" dirty="0" err="1">
                <a:solidFill>
                  <a:schemeClr val="tx2">
                    <a:lumMod val="10000"/>
                  </a:schemeClr>
                </a:solidFill>
                <a:latin typeface="Bahnschrift SemiBold SemiConden" panose="020B0502040204020203" pitchFamily="34" charset="0"/>
                <a:cs typeface="Angsana New" panose="020B0502040204020203" pitchFamily="18" charset="-34"/>
              </a:rPr>
              <a:t>Đại</a:t>
            </a:r>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 Thắng</a:t>
            </a:r>
            <a:br>
              <a:rPr lang="en-US" sz="2400" b="0" dirty="0">
                <a:solidFill>
                  <a:schemeClr val="tx2">
                    <a:lumMod val="10000"/>
                  </a:schemeClr>
                </a:solidFill>
                <a:latin typeface="Bahnschrift SemiBold SemiConden" panose="020B0502040204020203" pitchFamily="34" charset="0"/>
                <a:cs typeface="Angsana New" panose="020B0502040204020203" pitchFamily="18" charset="-34"/>
              </a:rPr>
            </a:br>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Nguyễn Tuấn Đạt</a:t>
            </a:r>
          </a:p>
          <a:p>
            <a:r>
              <a:rPr lang="en-US" sz="2400" b="0" dirty="0">
                <a:solidFill>
                  <a:schemeClr val="tx2">
                    <a:lumMod val="10000"/>
                  </a:schemeClr>
                </a:solidFill>
                <a:latin typeface="Bahnschrift SemiBold SemiConden" panose="020B0502040204020203" pitchFamily="34" charset="0"/>
                <a:cs typeface="Angsana New" panose="020B0502040204020203" pitchFamily="18" charset="-34"/>
              </a:rPr>
              <a:t>Châu Hải Đăng</a:t>
            </a:r>
          </a:p>
        </p:txBody>
      </p:sp>
      <p:sp>
        <p:nvSpPr>
          <p:cNvPr id="7" name="TextBox 6">
            <a:extLst>
              <a:ext uri="{FF2B5EF4-FFF2-40B4-BE49-F238E27FC236}">
                <a16:creationId xmlns:a16="http://schemas.microsoft.com/office/drawing/2014/main" id="{A15A80A0-12DC-616F-CEA1-54AF2FEB16B6}"/>
              </a:ext>
            </a:extLst>
          </p:cNvPr>
          <p:cNvSpPr txBox="1"/>
          <p:nvPr/>
        </p:nvSpPr>
        <p:spPr>
          <a:xfrm rot="4040556">
            <a:off x="-7202829" y="1765390"/>
            <a:ext cx="7202804" cy="1569660"/>
          </a:xfrm>
          <a:prstGeom prst="rect">
            <a:avLst/>
          </a:prstGeom>
          <a:noFill/>
        </p:spPr>
        <p:txBody>
          <a:bodyPr wrap="square" rtlCol="0">
            <a:spAutoFit/>
          </a:bodyPr>
          <a:lstStyle/>
          <a:p>
            <a:pPr algn="ctr"/>
            <a:r>
              <a:rPr lang="en-US" sz="4800" b="1" dirty="0" err="1">
                <a:solidFill>
                  <a:schemeClr val="bg1"/>
                </a:solidFill>
              </a:rPr>
              <a:t>Sơ</a:t>
            </a:r>
            <a:r>
              <a:rPr lang="en-US" sz="4800" b="1" dirty="0">
                <a:solidFill>
                  <a:schemeClr val="bg1"/>
                </a:solidFill>
              </a:rPr>
              <a:t> </a:t>
            </a:r>
            <a:r>
              <a:rPr lang="en-US" sz="4800" b="1" dirty="0" err="1">
                <a:solidFill>
                  <a:schemeClr val="bg1"/>
                </a:solidFill>
              </a:rPr>
              <a:t>lược</a:t>
            </a:r>
            <a:r>
              <a:rPr lang="en-US" sz="4800" b="1" dirty="0">
                <a:solidFill>
                  <a:schemeClr val="bg1"/>
                </a:solidFill>
              </a:rPr>
              <a:t> </a:t>
            </a:r>
            <a:r>
              <a:rPr lang="en-US" sz="4800" b="1" dirty="0" err="1">
                <a:solidFill>
                  <a:schemeClr val="bg1"/>
                </a:solidFill>
              </a:rPr>
              <a:t>về</a:t>
            </a:r>
            <a:r>
              <a:rPr lang="en-US" sz="4800" b="1" dirty="0">
                <a:solidFill>
                  <a:schemeClr val="bg1"/>
                </a:solidFill>
              </a:rPr>
              <a:t> </a:t>
            </a:r>
            <a:r>
              <a:rPr lang="en-US" sz="4800" b="1" dirty="0" err="1">
                <a:solidFill>
                  <a:schemeClr val="bg1"/>
                </a:solidFill>
              </a:rPr>
              <a:t>sự</a:t>
            </a:r>
            <a:r>
              <a:rPr lang="en-US" sz="4800" b="1" dirty="0">
                <a:solidFill>
                  <a:schemeClr val="bg1"/>
                </a:solidFill>
              </a:rPr>
              <a:t> </a:t>
            </a:r>
            <a:r>
              <a:rPr lang="en-US" sz="4800" b="1" dirty="0" err="1">
                <a:solidFill>
                  <a:schemeClr val="bg1"/>
                </a:solidFill>
              </a:rPr>
              <a:t>kiện</a:t>
            </a:r>
            <a:r>
              <a:rPr lang="en-US" sz="4800" b="1" dirty="0">
                <a:solidFill>
                  <a:schemeClr val="bg1"/>
                </a:solidFill>
              </a:rPr>
              <a:t> </a:t>
            </a:r>
            <a:r>
              <a:rPr lang="en-US" sz="4800" b="1" dirty="0" err="1">
                <a:solidFill>
                  <a:schemeClr val="bg1"/>
                </a:solidFill>
              </a:rPr>
              <a:t>và</a:t>
            </a:r>
            <a:r>
              <a:rPr lang="en-US" sz="4800" b="1" dirty="0">
                <a:solidFill>
                  <a:schemeClr val="bg1"/>
                </a:solidFill>
              </a:rPr>
              <a:t> </a:t>
            </a:r>
            <a:r>
              <a:rPr lang="en-US" sz="4800" b="1" dirty="0" err="1">
                <a:solidFill>
                  <a:schemeClr val="bg1"/>
                </a:solidFill>
              </a:rPr>
              <a:t>mục</a:t>
            </a:r>
            <a:r>
              <a:rPr lang="en-US" sz="4800" b="1" dirty="0">
                <a:solidFill>
                  <a:schemeClr val="bg1"/>
                </a:solidFill>
              </a:rPr>
              <a:t> </a:t>
            </a:r>
            <a:r>
              <a:rPr lang="en-US" sz="4800" b="1" dirty="0" err="1">
                <a:solidFill>
                  <a:schemeClr val="bg1"/>
                </a:solidFill>
              </a:rPr>
              <a:t>tiêu</a:t>
            </a:r>
            <a:r>
              <a:rPr lang="en-US" sz="4800" b="1" dirty="0">
                <a:solidFill>
                  <a:schemeClr val="bg1"/>
                </a:solidFill>
              </a:rPr>
              <a:t> </a:t>
            </a:r>
            <a:r>
              <a:rPr lang="en-US" sz="4800" b="1" dirty="0" err="1">
                <a:solidFill>
                  <a:schemeClr val="bg1"/>
                </a:solidFill>
              </a:rPr>
              <a:t>của</a:t>
            </a:r>
            <a:r>
              <a:rPr lang="en-US" sz="4800" b="1" dirty="0">
                <a:solidFill>
                  <a:schemeClr val="bg1"/>
                </a:solidFill>
              </a:rPr>
              <a:t> </a:t>
            </a:r>
            <a:r>
              <a:rPr lang="en-US" sz="4800" b="1" dirty="0" err="1">
                <a:solidFill>
                  <a:schemeClr val="bg1"/>
                </a:solidFill>
              </a:rPr>
              <a:t>bài</a:t>
            </a:r>
            <a:r>
              <a:rPr lang="en-US" sz="4800" b="1" dirty="0">
                <a:solidFill>
                  <a:schemeClr val="bg1"/>
                </a:solidFill>
              </a:rPr>
              <a:t> </a:t>
            </a:r>
            <a:r>
              <a:rPr lang="en-US" sz="4800" b="1" dirty="0" err="1">
                <a:solidFill>
                  <a:schemeClr val="bg1"/>
                </a:solidFill>
              </a:rPr>
              <a:t>lần</a:t>
            </a:r>
            <a:r>
              <a:rPr lang="en-US" sz="4800" b="1" dirty="0">
                <a:solidFill>
                  <a:schemeClr val="bg1"/>
                </a:solidFill>
              </a:rPr>
              <a:t> </a:t>
            </a:r>
            <a:r>
              <a:rPr lang="en-US" sz="4800" b="1" dirty="0" err="1">
                <a:solidFill>
                  <a:schemeClr val="bg1"/>
                </a:solidFill>
              </a:rPr>
              <a:t>này</a:t>
            </a:r>
            <a:endParaRPr lang="en-US" sz="4800" b="1" dirty="0">
              <a:solidFill>
                <a:schemeClr val="bg1"/>
              </a:solidFill>
            </a:endParaRPr>
          </a:p>
        </p:txBody>
      </p:sp>
    </p:spTree>
    <p:extLst>
      <p:ext uri="{BB962C8B-B14F-4D97-AF65-F5344CB8AC3E}">
        <p14:creationId xmlns:p14="http://schemas.microsoft.com/office/powerpoint/2010/main" val="33510220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20BB609-EF92-42DB-836C-0699A590B5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B2F4B798-2B22-AC8F-93F4-F079B8238F86}"/>
              </a:ext>
            </a:extLst>
          </p:cNvPr>
          <p:cNvPicPr>
            <a:picLocks noChangeAspect="1"/>
          </p:cNvPicPr>
          <p:nvPr/>
        </p:nvPicPr>
        <p:blipFill>
          <a:blip r:embed="rId2"/>
          <a:srcRect t="9616" r="-1" b="-1"/>
          <a:stretch>
            <a:fillRect/>
          </a:stretch>
        </p:blipFill>
        <p:spPr>
          <a:xfrm>
            <a:off x="0" y="10"/>
            <a:ext cx="12188932" cy="6857990"/>
          </a:xfrm>
          <a:prstGeom prst="rect">
            <a:avLst/>
          </a:prstGeom>
        </p:spPr>
      </p:pic>
      <p:sp>
        <p:nvSpPr>
          <p:cNvPr id="12" name="Rectangle 11">
            <a:extLst>
              <a:ext uri="{FF2B5EF4-FFF2-40B4-BE49-F238E27FC236}">
                <a16:creationId xmlns:a16="http://schemas.microsoft.com/office/drawing/2014/main" id="{B2C335F7-F61C-4EB4-80F2-4B1438FE66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6200631"/>
            <a:ext cx="5021183" cy="14927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F9877F2-E080-FB64-040C-7DE674F98407}"/>
              </a:ext>
            </a:extLst>
          </p:cNvPr>
          <p:cNvSpPr txBox="1"/>
          <p:nvPr/>
        </p:nvSpPr>
        <p:spPr>
          <a:xfrm>
            <a:off x="210312" y="347472"/>
            <a:ext cx="3584449" cy="830997"/>
          </a:xfrm>
          <a:prstGeom prst="rect">
            <a:avLst/>
          </a:prstGeom>
          <a:noFill/>
        </p:spPr>
        <p:txBody>
          <a:bodyPr wrap="square" rtlCol="0">
            <a:spAutoFit/>
          </a:bodyPr>
          <a:lstStyle/>
          <a:p>
            <a:r>
              <a:rPr lang="en-US" sz="4800" b="1" dirty="0">
                <a:solidFill>
                  <a:schemeClr val="bg1"/>
                </a:solidFill>
              </a:rPr>
              <a:t>I. </a:t>
            </a:r>
            <a:r>
              <a:rPr lang="en-US" sz="4800" b="1" dirty="0" err="1">
                <a:solidFill>
                  <a:schemeClr val="bg1"/>
                </a:solidFill>
              </a:rPr>
              <a:t>Giới</a:t>
            </a:r>
            <a:r>
              <a:rPr lang="en-US" sz="4800" b="1" dirty="0">
                <a:solidFill>
                  <a:schemeClr val="bg1"/>
                </a:solidFill>
              </a:rPr>
              <a:t> </a:t>
            </a:r>
            <a:r>
              <a:rPr lang="en-US" sz="4800" b="1" dirty="0" err="1">
                <a:solidFill>
                  <a:schemeClr val="bg1"/>
                </a:solidFill>
              </a:rPr>
              <a:t>thiệu</a:t>
            </a:r>
            <a:endParaRPr lang="en-US" sz="4800" b="1" dirty="0">
              <a:solidFill>
                <a:schemeClr val="bg1"/>
              </a:solidFill>
            </a:endParaRPr>
          </a:p>
        </p:txBody>
      </p:sp>
      <p:sp>
        <p:nvSpPr>
          <p:cNvPr id="2" name="TextBox 10">
            <a:extLst>
              <a:ext uri="{FF2B5EF4-FFF2-40B4-BE49-F238E27FC236}">
                <a16:creationId xmlns:a16="http://schemas.microsoft.com/office/drawing/2014/main" id="{76B956A9-1FF4-F1D3-EEF1-4BB602D57F51}"/>
              </a:ext>
            </a:extLst>
          </p:cNvPr>
          <p:cNvSpPr txBox="1"/>
          <p:nvPr/>
        </p:nvSpPr>
        <p:spPr>
          <a:xfrm>
            <a:off x="207244" y="1178469"/>
            <a:ext cx="5110152" cy="2352695"/>
          </a:xfrm>
          <a:prstGeom prst="rect">
            <a:avLst/>
          </a:prstGeom>
          <a:noFill/>
        </p:spPr>
        <p:txBody>
          <a:bodyPr wrap="square" rtlCol="0">
            <a:spAutoFit/>
          </a:bodyPr>
          <a:lstStyle/>
          <a:p>
            <a:pPr>
              <a:lnSpc>
                <a:spcPct val="150000"/>
              </a:lnSpc>
            </a:pPr>
            <a:r>
              <a:rPr lang="en-US" sz="2000" b="1" dirty="0" err="1">
                <a:solidFill>
                  <a:schemeClr val="bg1"/>
                </a:solidFill>
              </a:rPr>
              <a:t>Vấn</a:t>
            </a:r>
            <a:r>
              <a:rPr lang="en-US" sz="2000" b="1" dirty="0">
                <a:solidFill>
                  <a:schemeClr val="bg1"/>
                </a:solidFill>
              </a:rPr>
              <a:t> </a:t>
            </a:r>
            <a:r>
              <a:rPr lang="en-US" sz="2000" b="1" dirty="0" err="1">
                <a:solidFill>
                  <a:schemeClr val="bg1"/>
                </a:solidFill>
              </a:rPr>
              <a:t>đề</a:t>
            </a:r>
            <a:r>
              <a:rPr lang="en-US" sz="2000" b="1" dirty="0">
                <a:solidFill>
                  <a:schemeClr val="bg1"/>
                </a:solidFill>
              </a:rPr>
              <a:t>:</a:t>
            </a:r>
          </a:p>
          <a:p>
            <a:pPr>
              <a:lnSpc>
                <a:spcPct val="150000"/>
              </a:lnSpc>
            </a:pPr>
            <a:r>
              <a:rPr lang="en-US" sz="2000" dirty="0">
                <a:solidFill>
                  <a:schemeClr val="bg1"/>
                </a:solidFill>
              </a:rPr>
              <a:t>Input: </a:t>
            </a:r>
            <a:r>
              <a:rPr lang="en-US" sz="2000" dirty="0" err="1">
                <a:solidFill>
                  <a:schemeClr val="bg1"/>
                </a:solidFill>
              </a:rPr>
              <a:t>Đặc</a:t>
            </a:r>
            <a:r>
              <a:rPr lang="en-US" sz="2000" dirty="0">
                <a:solidFill>
                  <a:schemeClr val="bg1"/>
                </a:solidFill>
              </a:rPr>
              <a:t> </a:t>
            </a:r>
            <a:r>
              <a:rPr lang="en-US" sz="2000" dirty="0" err="1">
                <a:solidFill>
                  <a:schemeClr val="bg1"/>
                </a:solidFill>
              </a:rPr>
              <a:t>điểm</a:t>
            </a:r>
            <a:r>
              <a:rPr lang="en-US" sz="2000" dirty="0">
                <a:solidFill>
                  <a:schemeClr val="bg1"/>
                </a:solidFill>
              </a:rPr>
              <a:t> </a:t>
            </a:r>
            <a:r>
              <a:rPr lang="en-US" sz="2000" dirty="0" err="1">
                <a:solidFill>
                  <a:schemeClr val="bg1"/>
                </a:solidFill>
              </a:rPr>
              <a:t>của</a:t>
            </a:r>
            <a:r>
              <a:rPr lang="en-US" sz="2000" dirty="0">
                <a:solidFill>
                  <a:schemeClr val="bg1"/>
                </a:solidFill>
              </a:rPr>
              <a:t> </a:t>
            </a:r>
            <a:r>
              <a:rPr lang="en-US" sz="2000" dirty="0" err="1">
                <a:solidFill>
                  <a:schemeClr val="bg1"/>
                </a:solidFill>
              </a:rPr>
              <a:t>từng</a:t>
            </a:r>
            <a:r>
              <a:rPr lang="en-US" sz="2000" dirty="0">
                <a:solidFill>
                  <a:schemeClr val="bg1"/>
                </a:solidFill>
              </a:rPr>
              <a:t> </a:t>
            </a:r>
            <a:r>
              <a:rPr lang="en-US" sz="2000" dirty="0" err="1">
                <a:solidFill>
                  <a:schemeClr val="bg1"/>
                </a:solidFill>
              </a:rPr>
              <a:t>hành</a:t>
            </a:r>
            <a:r>
              <a:rPr lang="en-US" sz="2000" dirty="0">
                <a:solidFill>
                  <a:schemeClr val="bg1"/>
                </a:solidFill>
              </a:rPr>
              <a:t> </a:t>
            </a:r>
            <a:r>
              <a:rPr lang="en-US" sz="2000" dirty="0" err="1">
                <a:solidFill>
                  <a:schemeClr val="bg1"/>
                </a:solidFill>
              </a:rPr>
              <a:t>khách</a:t>
            </a:r>
            <a:r>
              <a:rPr lang="en-US" sz="2000" dirty="0">
                <a:solidFill>
                  <a:schemeClr val="bg1"/>
                </a:solidFill>
              </a:rPr>
              <a:t> </a:t>
            </a:r>
            <a:r>
              <a:rPr lang="en-US" sz="2000" dirty="0" err="1">
                <a:solidFill>
                  <a:schemeClr val="bg1"/>
                </a:solidFill>
              </a:rPr>
              <a:t>trên</a:t>
            </a:r>
            <a:r>
              <a:rPr lang="en-US" sz="2000" dirty="0">
                <a:solidFill>
                  <a:schemeClr val="bg1"/>
                </a:solidFill>
              </a:rPr>
              <a:t> </a:t>
            </a:r>
            <a:r>
              <a:rPr lang="en-US" sz="2000" dirty="0" err="1">
                <a:solidFill>
                  <a:schemeClr val="bg1"/>
                </a:solidFill>
              </a:rPr>
              <a:t>tàu</a:t>
            </a:r>
            <a:r>
              <a:rPr lang="en-US" sz="2000" dirty="0">
                <a:solidFill>
                  <a:schemeClr val="bg1"/>
                </a:solidFill>
              </a:rPr>
              <a:t> Titanic.</a:t>
            </a:r>
          </a:p>
          <a:p>
            <a:pPr>
              <a:lnSpc>
                <a:spcPct val="150000"/>
              </a:lnSpc>
            </a:pPr>
            <a:r>
              <a:rPr lang="en-US" sz="2000" dirty="0">
                <a:solidFill>
                  <a:schemeClr val="bg1"/>
                </a:solidFill>
              </a:rPr>
              <a:t>Output: </a:t>
            </a:r>
            <a:r>
              <a:rPr lang="en-US" sz="2000" dirty="0" err="1">
                <a:solidFill>
                  <a:schemeClr val="bg1"/>
                </a:solidFill>
              </a:rPr>
              <a:t>Dự</a:t>
            </a:r>
            <a:r>
              <a:rPr lang="en-US" sz="2000" dirty="0">
                <a:solidFill>
                  <a:schemeClr val="bg1"/>
                </a:solidFill>
              </a:rPr>
              <a:t> </a:t>
            </a:r>
            <a:r>
              <a:rPr lang="en-US" sz="2000" dirty="0" err="1">
                <a:solidFill>
                  <a:schemeClr val="bg1"/>
                </a:solidFill>
              </a:rPr>
              <a:t>đoán</a:t>
            </a:r>
            <a:r>
              <a:rPr lang="en-US" sz="2000" dirty="0">
                <a:solidFill>
                  <a:schemeClr val="bg1"/>
                </a:solidFill>
              </a:rPr>
              <a:t> </a:t>
            </a:r>
            <a:r>
              <a:rPr lang="en-US" sz="2000" dirty="0" err="1">
                <a:solidFill>
                  <a:schemeClr val="bg1"/>
                </a:solidFill>
              </a:rPr>
              <a:t>khả</a:t>
            </a:r>
            <a:r>
              <a:rPr lang="en-US" sz="2000" dirty="0">
                <a:solidFill>
                  <a:schemeClr val="bg1"/>
                </a:solidFill>
              </a:rPr>
              <a:t> </a:t>
            </a:r>
            <a:r>
              <a:rPr lang="en-US" sz="2000" dirty="0" err="1">
                <a:solidFill>
                  <a:schemeClr val="bg1"/>
                </a:solidFill>
              </a:rPr>
              <a:t>năng</a:t>
            </a:r>
            <a:r>
              <a:rPr lang="en-US" sz="2000" dirty="0">
                <a:solidFill>
                  <a:schemeClr val="bg1"/>
                </a:solidFill>
              </a:rPr>
              <a:t> </a:t>
            </a:r>
            <a:r>
              <a:rPr lang="en-US" sz="2000" dirty="0" err="1">
                <a:solidFill>
                  <a:schemeClr val="bg1"/>
                </a:solidFill>
              </a:rPr>
              <a:t>sống</a:t>
            </a:r>
            <a:r>
              <a:rPr lang="en-US" sz="2000" dirty="0">
                <a:solidFill>
                  <a:schemeClr val="bg1"/>
                </a:solidFill>
              </a:rPr>
              <a:t> </a:t>
            </a:r>
            <a:r>
              <a:rPr lang="en-US" sz="2000" dirty="0" err="1">
                <a:solidFill>
                  <a:schemeClr val="bg1"/>
                </a:solidFill>
              </a:rPr>
              <a:t>của</a:t>
            </a:r>
            <a:r>
              <a:rPr lang="en-US" sz="2000" dirty="0">
                <a:solidFill>
                  <a:schemeClr val="bg1"/>
                </a:solidFill>
              </a:rPr>
              <a:t> </a:t>
            </a:r>
            <a:r>
              <a:rPr lang="en-US" sz="2000" dirty="0" err="1">
                <a:solidFill>
                  <a:schemeClr val="bg1"/>
                </a:solidFill>
              </a:rPr>
              <a:t>hành</a:t>
            </a:r>
            <a:r>
              <a:rPr lang="en-US" sz="2000" dirty="0">
                <a:solidFill>
                  <a:schemeClr val="bg1"/>
                </a:solidFill>
              </a:rPr>
              <a:t> </a:t>
            </a:r>
            <a:r>
              <a:rPr lang="en-US" sz="2000" dirty="0" err="1">
                <a:solidFill>
                  <a:schemeClr val="bg1"/>
                </a:solidFill>
              </a:rPr>
              <a:t>khách</a:t>
            </a:r>
            <a:r>
              <a:rPr lang="en-US" sz="2000" dirty="0">
                <a:solidFill>
                  <a:schemeClr val="bg1"/>
                </a:solidFill>
              </a:rPr>
              <a:t> (0: </a:t>
            </a:r>
            <a:r>
              <a:rPr lang="en-US" sz="2000" dirty="0" err="1">
                <a:solidFill>
                  <a:schemeClr val="bg1"/>
                </a:solidFill>
              </a:rPr>
              <a:t>tử</a:t>
            </a:r>
            <a:r>
              <a:rPr lang="en-US" sz="2000" dirty="0">
                <a:solidFill>
                  <a:schemeClr val="bg1"/>
                </a:solidFill>
              </a:rPr>
              <a:t> </a:t>
            </a:r>
            <a:r>
              <a:rPr lang="en-US" sz="2000" dirty="0" err="1">
                <a:solidFill>
                  <a:schemeClr val="bg1"/>
                </a:solidFill>
              </a:rPr>
              <a:t>vong</a:t>
            </a:r>
            <a:r>
              <a:rPr lang="en-US" sz="2000" dirty="0">
                <a:solidFill>
                  <a:schemeClr val="bg1"/>
                </a:solidFill>
              </a:rPr>
              <a:t>, 1: </a:t>
            </a:r>
            <a:r>
              <a:rPr lang="en-US" sz="2000" dirty="0" err="1">
                <a:solidFill>
                  <a:schemeClr val="bg1"/>
                </a:solidFill>
              </a:rPr>
              <a:t>sống</a:t>
            </a:r>
            <a:r>
              <a:rPr lang="en-US" sz="2000" dirty="0">
                <a:solidFill>
                  <a:schemeClr val="bg1"/>
                </a:solidFill>
              </a:rPr>
              <a:t> </a:t>
            </a:r>
            <a:r>
              <a:rPr lang="en-US" sz="2000" dirty="0" err="1">
                <a:solidFill>
                  <a:schemeClr val="bg1"/>
                </a:solidFill>
              </a:rPr>
              <a:t>sót</a:t>
            </a:r>
            <a:r>
              <a:rPr lang="en-US" sz="2000" dirty="0">
                <a:solidFill>
                  <a:schemeClr val="bg1"/>
                </a:solidFill>
              </a:rPr>
              <a:t>)</a:t>
            </a:r>
          </a:p>
        </p:txBody>
      </p:sp>
    </p:spTree>
    <p:extLst>
      <p:ext uri="{BB962C8B-B14F-4D97-AF65-F5344CB8AC3E}">
        <p14:creationId xmlns:p14="http://schemas.microsoft.com/office/powerpoint/2010/main" val="24357026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9"/>
                                        </p:tgtEl>
                                      </p:cBhvr>
                                    </p:animEffect>
                                    <p:set>
                                      <p:cBhvr>
                                        <p:cTn id="7" dur="1" fill="hold">
                                          <p:stCondLst>
                                            <p:cond delay="499"/>
                                          </p:stCondLst>
                                        </p:cTn>
                                        <p:tgtEl>
                                          <p:spTgt spid="9"/>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 calcmode="lin" valueType="num">
                                      <p:cBhvr additive="base">
                                        <p:cTn id="12" dur="500" fill="hold"/>
                                        <p:tgtEl>
                                          <p:spTgt spid="2"/>
                                        </p:tgtEl>
                                        <p:attrNameLst>
                                          <p:attrName>ppt_x</p:attrName>
                                        </p:attrNameLst>
                                      </p:cBhvr>
                                      <p:tavLst>
                                        <p:tav tm="0">
                                          <p:val>
                                            <p:strVal val="#ppt_x"/>
                                          </p:val>
                                        </p:tav>
                                        <p:tav tm="100000">
                                          <p:val>
                                            <p:strVal val="#ppt_x"/>
                                          </p:val>
                                        </p:tav>
                                      </p:tavLst>
                                    </p:anim>
                                    <p:anim calcmode="lin" valueType="num">
                                      <p:cBhvr additive="base">
                                        <p:cTn id="13"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xit" presetSubtype="0" fill="hold" grpId="1" nodeType="clickEffect">
                                  <p:stCondLst>
                                    <p:cond delay="0"/>
                                  </p:stCondLst>
                                  <p:childTnLst>
                                    <p:set>
                                      <p:cBhvr>
                                        <p:cTn id="17"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2"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3FC42FF-60C3-8D0F-DD3E-29D1E4249773}"/>
              </a:ext>
            </a:extLst>
          </p:cNvPr>
          <p:cNvSpPr txBox="1"/>
          <p:nvPr/>
        </p:nvSpPr>
        <p:spPr>
          <a:xfrm>
            <a:off x="517867" y="870046"/>
            <a:ext cx="9473692" cy="1325880"/>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400" b="1" dirty="0"/>
              <a:t>I. </a:t>
            </a:r>
            <a:r>
              <a:rPr lang="en-US" sz="4400" b="1" dirty="0" err="1"/>
              <a:t>Giới</a:t>
            </a:r>
            <a:r>
              <a:rPr lang="en-US" sz="4400" b="1" dirty="0"/>
              <a:t> </a:t>
            </a:r>
            <a:r>
              <a:rPr lang="en-US" sz="4400" b="1" dirty="0" err="1"/>
              <a:t>thiệu</a:t>
            </a:r>
            <a:endParaRPr lang="en-US" sz="4400" b="1" dirty="0"/>
          </a:p>
        </p:txBody>
      </p:sp>
      <p:sp>
        <p:nvSpPr>
          <p:cNvPr id="20" name="Rectangle 19">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508090"/>
            <a:ext cx="6281928"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7271C494-8107-3D61-D611-4FBC7C22A2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13612" y="611650"/>
            <a:ext cx="416052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13" name="Picture 12">
            <a:extLst>
              <a:ext uri="{FF2B5EF4-FFF2-40B4-BE49-F238E27FC236}">
                <a16:creationId xmlns:a16="http://schemas.microsoft.com/office/drawing/2014/main" id="{B2E94BE8-A136-65FC-81BA-0C8B3BC6FBEB}"/>
              </a:ext>
            </a:extLst>
          </p:cNvPr>
          <p:cNvPicPr>
            <a:picLocks noChangeAspect="1"/>
          </p:cNvPicPr>
          <p:nvPr/>
        </p:nvPicPr>
        <p:blipFill>
          <a:blip r:embed="rId2"/>
          <a:stretch>
            <a:fillRect/>
          </a:stretch>
        </p:blipFill>
        <p:spPr>
          <a:xfrm>
            <a:off x="517867" y="2733895"/>
            <a:ext cx="6281928" cy="3612108"/>
          </a:xfrm>
          <a:prstGeom prst="rect">
            <a:avLst/>
          </a:prstGeom>
        </p:spPr>
      </p:pic>
      <p:sp>
        <p:nvSpPr>
          <p:cNvPr id="9" name="TextBox 8">
            <a:extLst>
              <a:ext uri="{FF2B5EF4-FFF2-40B4-BE49-F238E27FC236}">
                <a16:creationId xmlns:a16="http://schemas.microsoft.com/office/drawing/2014/main" id="{BBE50372-A21F-1CDA-E5F8-E7CE904D1151}"/>
              </a:ext>
            </a:extLst>
          </p:cNvPr>
          <p:cNvSpPr txBox="1"/>
          <p:nvPr/>
        </p:nvSpPr>
        <p:spPr>
          <a:xfrm>
            <a:off x="6932138" y="5395163"/>
            <a:ext cx="5230876" cy="1435103"/>
          </a:xfrm>
          <a:prstGeom prst="rect">
            <a:avLst/>
          </a:prstGeom>
        </p:spPr>
        <p:txBody>
          <a:bodyPr vert="horz" lIns="91440" tIns="45720" rIns="91440" bIns="45720" rtlCol="0">
            <a:normAutofit/>
          </a:bodyPr>
          <a:lstStyle/>
          <a:p>
            <a:pPr>
              <a:lnSpc>
                <a:spcPct val="110000"/>
              </a:lnSpc>
              <a:spcAft>
                <a:spcPts val="600"/>
              </a:spcAft>
            </a:pPr>
            <a:r>
              <a:rPr lang="en-US" sz="2400" b="1" dirty="0" err="1"/>
              <a:t>Nguồn</a:t>
            </a:r>
            <a:r>
              <a:rPr lang="en-US" sz="2400" b="1" dirty="0"/>
              <a:t>:</a:t>
            </a:r>
            <a:r>
              <a:rPr lang="en-US" sz="2400" dirty="0"/>
              <a:t> </a:t>
            </a:r>
            <a:r>
              <a:rPr lang="en-US" sz="2400" dirty="0" err="1"/>
              <a:t>Cuộc</a:t>
            </a:r>
            <a:r>
              <a:rPr lang="en-US" sz="2400" dirty="0"/>
              <a:t> </a:t>
            </a:r>
            <a:r>
              <a:rPr lang="en-US" sz="2400" dirty="0" err="1"/>
              <a:t>thi</a:t>
            </a:r>
            <a:r>
              <a:rPr lang="en-US" sz="2400" dirty="0"/>
              <a:t> </a:t>
            </a:r>
            <a:r>
              <a:rPr lang="en-US" sz="2400" b="1" dirty="0"/>
              <a:t>"Titanic - Machine Learning from Disaster"</a:t>
            </a:r>
            <a:r>
              <a:rPr lang="en-US" sz="2400" dirty="0"/>
              <a:t> </a:t>
            </a:r>
            <a:r>
              <a:rPr lang="en-US" sz="2400" dirty="0" err="1"/>
              <a:t>trên</a:t>
            </a:r>
            <a:r>
              <a:rPr lang="en-US" sz="2400" dirty="0"/>
              <a:t> Kaggle</a:t>
            </a:r>
          </a:p>
        </p:txBody>
      </p:sp>
      <p:sp>
        <p:nvSpPr>
          <p:cNvPr id="15" name="TextBox 14">
            <a:extLst>
              <a:ext uri="{FF2B5EF4-FFF2-40B4-BE49-F238E27FC236}">
                <a16:creationId xmlns:a16="http://schemas.microsoft.com/office/drawing/2014/main" id="{15A45909-1436-A062-F1AA-1D5480A1512C}"/>
              </a:ext>
            </a:extLst>
          </p:cNvPr>
          <p:cNvSpPr txBox="1"/>
          <p:nvPr/>
        </p:nvSpPr>
        <p:spPr>
          <a:xfrm>
            <a:off x="6932138" y="2831451"/>
            <a:ext cx="3457233" cy="646331"/>
          </a:xfrm>
          <a:prstGeom prst="rect">
            <a:avLst/>
          </a:prstGeom>
          <a:noFill/>
        </p:spPr>
        <p:txBody>
          <a:bodyPr wrap="square">
            <a:spAutoFit/>
          </a:bodyPr>
          <a:lstStyle/>
          <a:p>
            <a:r>
              <a:rPr lang="en-US" dirty="0">
                <a:latin typeface="Courier New" panose="02070309020205020404" pitchFamily="49" charset="0"/>
              </a:rPr>
              <a:t>train.csv</a:t>
            </a:r>
            <a:r>
              <a:rPr lang="en-US" dirty="0"/>
              <a:t>: 891 </a:t>
            </a:r>
            <a:r>
              <a:rPr lang="en-US" dirty="0" err="1"/>
              <a:t>hành</a:t>
            </a:r>
            <a:r>
              <a:rPr lang="en-US" dirty="0"/>
              <a:t> </a:t>
            </a:r>
            <a:r>
              <a:rPr lang="en-US" dirty="0" err="1"/>
              <a:t>khách</a:t>
            </a:r>
            <a:r>
              <a:rPr lang="en-US" dirty="0"/>
              <a:t> (</a:t>
            </a:r>
            <a:r>
              <a:rPr lang="en-US" dirty="0" err="1"/>
              <a:t>để</a:t>
            </a:r>
            <a:r>
              <a:rPr lang="en-US" dirty="0"/>
              <a:t> </a:t>
            </a:r>
            <a:r>
              <a:rPr lang="en-US" dirty="0" err="1"/>
              <a:t>huấn</a:t>
            </a:r>
            <a:r>
              <a:rPr lang="en-US" dirty="0"/>
              <a:t> </a:t>
            </a:r>
            <a:r>
              <a:rPr lang="en-US" dirty="0" err="1"/>
              <a:t>luyện</a:t>
            </a:r>
            <a:r>
              <a:rPr lang="en-US" dirty="0"/>
              <a:t> </a:t>
            </a:r>
            <a:r>
              <a:rPr lang="en-US" dirty="0" err="1"/>
              <a:t>mô</a:t>
            </a:r>
            <a:r>
              <a:rPr lang="en-US" dirty="0"/>
              <a:t> </a:t>
            </a:r>
            <a:r>
              <a:rPr lang="en-US" dirty="0" err="1"/>
              <a:t>hình</a:t>
            </a:r>
            <a:r>
              <a:rPr lang="en-US" dirty="0"/>
              <a:t>).</a:t>
            </a:r>
          </a:p>
        </p:txBody>
      </p:sp>
      <p:sp>
        <p:nvSpPr>
          <p:cNvPr id="17" name="TextBox 16">
            <a:extLst>
              <a:ext uri="{FF2B5EF4-FFF2-40B4-BE49-F238E27FC236}">
                <a16:creationId xmlns:a16="http://schemas.microsoft.com/office/drawing/2014/main" id="{DE69E471-4367-A170-FEF7-2225A6C71415}"/>
              </a:ext>
            </a:extLst>
          </p:cNvPr>
          <p:cNvSpPr txBox="1"/>
          <p:nvPr/>
        </p:nvSpPr>
        <p:spPr>
          <a:xfrm>
            <a:off x="6932138" y="4113307"/>
            <a:ext cx="3222625" cy="646331"/>
          </a:xfrm>
          <a:prstGeom prst="rect">
            <a:avLst/>
          </a:prstGeom>
          <a:noFill/>
        </p:spPr>
        <p:txBody>
          <a:bodyPr wrap="square">
            <a:spAutoFit/>
          </a:bodyPr>
          <a:lstStyle/>
          <a:p>
            <a:r>
              <a:rPr lang="en-US" dirty="0">
                <a:latin typeface="Courier New" panose="02070309020205020404" pitchFamily="49" charset="0"/>
              </a:rPr>
              <a:t>test.csv</a:t>
            </a:r>
            <a:r>
              <a:rPr lang="en-US" dirty="0"/>
              <a:t>: 418 </a:t>
            </a:r>
            <a:r>
              <a:rPr lang="en-US" dirty="0" err="1"/>
              <a:t>hành</a:t>
            </a:r>
            <a:r>
              <a:rPr lang="en-US" dirty="0"/>
              <a:t> </a:t>
            </a:r>
            <a:r>
              <a:rPr lang="en-US" dirty="0" err="1"/>
              <a:t>khách</a:t>
            </a:r>
            <a:r>
              <a:rPr lang="en-US" dirty="0"/>
              <a:t> (</a:t>
            </a:r>
            <a:r>
              <a:rPr lang="en-US" dirty="0" err="1"/>
              <a:t>để</a:t>
            </a:r>
            <a:r>
              <a:rPr lang="en-US" dirty="0"/>
              <a:t> </a:t>
            </a:r>
            <a:r>
              <a:rPr lang="en-US" dirty="0" err="1"/>
              <a:t>kiểm</a:t>
            </a:r>
            <a:r>
              <a:rPr lang="en-US" dirty="0"/>
              <a:t> </a:t>
            </a:r>
            <a:r>
              <a:rPr lang="en-US" dirty="0" err="1"/>
              <a:t>tra</a:t>
            </a:r>
            <a:r>
              <a:rPr lang="en-US" dirty="0"/>
              <a:t>, </a:t>
            </a:r>
            <a:r>
              <a:rPr lang="en-US" dirty="0" err="1"/>
              <a:t>dự</a:t>
            </a:r>
            <a:r>
              <a:rPr lang="en-US" dirty="0"/>
              <a:t> </a:t>
            </a:r>
            <a:r>
              <a:rPr lang="en-US" dirty="0" err="1"/>
              <a:t>đoán</a:t>
            </a:r>
            <a:r>
              <a:rPr lang="en-US" dirty="0"/>
              <a:t>).</a:t>
            </a:r>
          </a:p>
        </p:txBody>
      </p:sp>
      <p:sp>
        <p:nvSpPr>
          <p:cNvPr id="27" name="TextBox 26">
            <a:extLst>
              <a:ext uri="{FF2B5EF4-FFF2-40B4-BE49-F238E27FC236}">
                <a16:creationId xmlns:a16="http://schemas.microsoft.com/office/drawing/2014/main" id="{C3BC65BB-5222-4527-1198-004F234C4D37}"/>
              </a:ext>
            </a:extLst>
          </p:cNvPr>
          <p:cNvSpPr txBox="1"/>
          <p:nvPr/>
        </p:nvSpPr>
        <p:spPr>
          <a:xfrm>
            <a:off x="517867" y="1627820"/>
            <a:ext cx="2261655" cy="461665"/>
          </a:xfrm>
          <a:prstGeom prst="rect">
            <a:avLst/>
          </a:prstGeom>
          <a:noFill/>
        </p:spPr>
        <p:txBody>
          <a:bodyPr wrap="square">
            <a:spAutoFit/>
          </a:bodyPr>
          <a:lstStyle/>
          <a:p>
            <a:pPr>
              <a:buNone/>
            </a:pPr>
            <a:r>
              <a:rPr lang="en-US" sz="2400" b="1" u="sng" dirty="0" err="1"/>
              <a:t>Tập</a:t>
            </a:r>
            <a:r>
              <a:rPr lang="en-US" sz="2400" b="1" u="sng" dirty="0"/>
              <a:t> </a:t>
            </a:r>
            <a:r>
              <a:rPr lang="en-US" sz="2400" b="1" u="sng" dirty="0" err="1"/>
              <a:t>dữ</a:t>
            </a:r>
            <a:r>
              <a:rPr lang="en-US" sz="2400" b="1" u="sng" dirty="0"/>
              <a:t> </a:t>
            </a:r>
            <a:r>
              <a:rPr lang="en-US" sz="2400" b="1" u="sng" dirty="0" err="1"/>
              <a:t>liệu</a:t>
            </a:r>
            <a:r>
              <a:rPr lang="en-US" sz="2400" b="1" u="sng" dirty="0"/>
              <a:t>:</a:t>
            </a:r>
            <a:endParaRPr lang="en-US" sz="2400" u="sng" dirty="0"/>
          </a:p>
        </p:txBody>
      </p:sp>
    </p:spTree>
    <p:extLst>
      <p:ext uri="{BB962C8B-B14F-4D97-AF65-F5344CB8AC3E}">
        <p14:creationId xmlns:p14="http://schemas.microsoft.com/office/powerpoint/2010/main" val="441231756"/>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xit" presetSubtype="21" fill="hold" nodeType="clickEffect">
                                  <p:stCondLst>
                                    <p:cond delay="0"/>
                                  </p:stCondLst>
                                  <p:childTnLst>
                                    <p:animEffect transition="out" filter="barn(inVertical)">
                                      <p:cBhvr>
                                        <p:cTn id="6" dur="500"/>
                                        <p:tgtEl>
                                          <p:spTgt spid="13"/>
                                        </p:tgtEl>
                                      </p:cBhvr>
                                    </p:animEffect>
                                    <p:set>
                                      <p:cBhvr>
                                        <p:cTn id="7" dur="1" fill="hold">
                                          <p:stCondLst>
                                            <p:cond delay="499"/>
                                          </p:stCondLst>
                                        </p:cTn>
                                        <p:tgtEl>
                                          <p:spTgt spid="13"/>
                                        </p:tgtEl>
                                        <p:attrNameLst>
                                          <p:attrName>style.visibility</p:attrName>
                                        </p:attrNameLst>
                                      </p:cBhvr>
                                      <p:to>
                                        <p:strVal val="hidden"/>
                                      </p:to>
                                    </p:set>
                                  </p:childTnLst>
                                </p:cTn>
                              </p:par>
                              <p:par>
                                <p:cTn id="8" presetID="16" presetClass="exit" presetSubtype="21" fill="hold" grpId="0" nodeType="withEffect">
                                  <p:stCondLst>
                                    <p:cond delay="0"/>
                                  </p:stCondLst>
                                  <p:childTnLst>
                                    <p:animEffect transition="out" filter="barn(inVertical)">
                                      <p:cBhvr>
                                        <p:cTn id="9" dur="500"/>
                                        <p:tgtEl>
                                          <p:spTgt spid="9"/>
                                        </p:tgtEl>
                                      </p:cBhvr>
                                    </p:animEffect>
                                    <p:set>
                                      <p:cBhvr>
                                        <p:cTn id="10" dur="1" fill="hold">
                                          <p:stCondLst>
                                            <p:cond delay="499"/>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barn(inVertical)">
                                      <p:cBhvr>
                                        <p:cTn id="15" dur="500"/>
                                        <p:tgtEl>
                                          <p:spTgt spid="27"/>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barn(inVertical)">
                                      <p:cBhvr>
                                        <p:cTn id="18" dur="500"/>
                                        <p:tgtEl>
                                          <p:spTgt spid="1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barn(inVertical)">
                                      <p:cBhvr>
                                        <p:cTn id="21" dur="500"/>
                                        <p:tgtEl>
                                          <p:spTgt spid="15"/>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xit" presetSubtype="4" fill="hold" grpId="1" nodeType="clickEffect">
                                  <p:stCondLst>
                                    <p:cond delay="0"/>
                                  </p:stCondLst>
                                  <p:childTnLst>
                                    <p:anim calcmode="lin" valueType="num">
                                      <p:cBhvr additive="base">
                                        <p:cTn id="25" dur="500"/>
                                        <p:tgtEl>
                                          <p:spTgt spid="27"/>
                                        </p:tgtEl>
                                        <p:attrNameLst>
                                          <p:attrName>ppt_x</p:attrName>
                                        </p:attrNameLst>
                                      </p:cBhvr>
                                      <p:tavLst>
                                        <p:tav tm="0">
                                          <p:val>
                                            <p:strVal val="ppt_x"/>
                                          </p:val>
                                        </p:tav>
                                        <p:tav tm="100000">
                                          <p:val>
                                            <p:strVal val="ppt_x"/>
                                          </p:val>
                                        </p:tav>
                                      </p:tavLst>
                                    </p:anim>
                                    <p:anim calcmode="lin" valueType="num">
                                      <p:cBhvr additive="base">
                                        <p:cTn id="26" dur="500"/>
                                        <p:tgtEl>
                                          <p:spTgt spid="27"/>
                                        </p:tgtEl>
                                        <p:attrNameLst>
                                          <p:attrName>ppt_y</p:attrName>
                                        </p:attrNameLst>
                                      </p:cBhvr>
                                      <p:tavLst>
                                        <p:tav tm="0">
                                          <p:val>
                                            <p:strVal val="ppt_y"/>
                                          </p:val>
                                        </p:tav>
                                        <p:tav tm="100000">
                                          <p:val>
                                            <p:strVal val="1+ppt_h/2"/>
                                          </p:val>
                                        </p:tav>
                                      </p:tavLst>
                                    </p:anim>
                                    <p:set>
                                      <p:cBhvr>
                                        <p:cTn id="27" dur="1" fill="hold">
                                          <p:stCondLst>
                                            <p:cond delay="499"/>
                                          </p:stCondLst>
                                        </p:cTn>
                                        <p:tgtEl>
                                          <p:spTgt spid="27"/>
                                        </p:tgtEl>
                                        <p:attrNameLst>
                                          <p:attrName>style.visibility</p:attrName>
                                        </p:attrNameLst>
                                      </p:cBhvr>
                                      <p:to>
                                        <p:strVal val="hidden"/>
                                      </p:to>
                                    </p:set>
                                  </p:childTnLst>
                                </p:cTn>
                              </p:par>
                              <p:par>
                                <p:cTn id="28" presetID="2" presetClass="exit" presetSubtype="4" fill="hold" grpId="1" nodeType="withEffect">
                                  <p:stCondLst>
                                    <p:cond delay="0"/>
                                  </p:stCondLst>
                                  <p:childTnLst>
                                    <p:anim calcmode="lin" valueType="num">
                                      <p:cBhvr additive="base">
                                        <p:cTn id="29" dur="500"/>
                                        <p:tgtEl>
                                          <p:spTgt spid="17"/>
                                        </p:tgtEl>
                                        <p:attrNameLst>
                                          <p:attrName>ppt_x</p:attrName>
                                        </p:attrNameLst>
                                      </p:cBhvr>
                                      <p:tavLst>
                                        <p:tav tm="0">
                                          <p:val>
                                            <p:strVal val="ppt_x"/>
                                          </p:val>
                                        </p:tav>
                                        <p:tav tm="100000">
                                          <p:val>
                                            <p:strVal val="ppt_x"/>
                                          </p:val>
                                        </p:tav>
                                      </p:tavLst>
                                    </p:anim>
                                    <p:anim calcmode="lin" valueType="num">
                                      <p:cBhvr additive="base">
                                        <p:cTn id="30" dur="500"/>
                                        <p:tgtEl>
                                          <p:spTgt spid="17"/>
                                        </p:tgtEl>
                                        <p:attrNameLst>
                                          <p:attrName>ppt_y</p:attrName>
                                        </p:attrNameLst>
                                      </p:cBhvr>
                                      <p:tavLst>
                                        <p:tav tm="0">
                                          <p:val>
                                            <p:strVal val="ppt_y"/>
                                          </p:val>
                                        </p:tav>
                                        <p:tav tm="100000">
                                          <p:val>
                                            <p:strVal val="1+ppt_h/2"/>
                                          </p:val>
                                        </p:tav>
                                      </p:tavLst>
                                    </p:anim>
                                    <p:set>
                                      <p:cBhvr>
                                        <p:cTn id="31" dur="1" fill="hold">
                                          <p:stCondLst>
                                            <p:cond delay="499"/>
                                          </p:stCondLst>
                                        </p:cTn>
                                        <p:tgtEl>
                                          <p:spTgt spid="17"/>
                                        </p:tgtEl>
                                        <p:attrNameLst>
                                          <p:attrName>style.visibility</p:attrName>
                                        </p:attrNameLst>
                                      </p:cBhvr>
                                      <p:to>
                                        <p:strVal val="hidden"/>
                                      </p:to>
                                    </p:set>
                                  </p:childTnLst>
                                </p:cTn>
                              </p:par>
                              <p:par>
                                <p:cTn id="32" presetID="2" presetClass="exit" presetSubtype="4" fill="hold" grpId="1" nodeType="withEffect">
                                  <p:stCondLst>
                                    <p:cond delay="0"/>
                                  </p:stCondLst>
                                  <p:childTnLst>
                                    <p:anim calcmode="lin" valueType="num">
                                      <p:cBhvr additive="base">
                                        <p:cTn id="33" dur="500"/>
                                        <p:tgtEl>
                                          <p:spTgt spid="15"/>
                                        </p:tgtEl>
                                        <p:attrNameLst>
                                          <p:attrName>ppt_x</p:attrName>
                                        </p:attrNameLst>
                                      </p:cBhvr>
                                      <p:tavLst>
                                        <p:tav tm="0">
                                          <p:val>
                                            <p:strVal val="ppt_x"/>
                                          </p:val>
                                        </p:tav>
                                        <p:tav tm="100000">
                                          <p:val>
                                            <p:strVal val="ppt_x"/>
                                          </p:val>
                                        </p:tav>
                                      </p:tavLst>
                                    </p:anim>
                                    <p:anim calcmode="lin" valueType="num">
                                      <p:cBhvr additive="base">
                                        <p:cTn id="34" dur="500"/>
                                        <p:tgtEl>
                                          <p:spTgt spid="15"/>
                                        </p:tgtEl>
                                        <p:attrNameLst>
                                          <p:attrName>ppt_y</p:attrName>
                                        </p:attrNameLst>
                                      </p:cBhvr>
                                      <p:tavLst>
                                        <p:tav tm="0">
                                          <p:val>
                                            <p:strVal val="ppt_y"/>
                                          </p:val>
                                        </p:tav>
                                        <p:tav tm="100000">
                                          <p:val>
                                            <p:strVal val="1+ppt_h/2"/>
                                          </p:val>
                                        </p:tav>
                                      </p:tavLst>
                                    </p:anim>
                                    <p:set>
                                      <p:cBhvr>
                                        <p:cTn id="35" dur="1" fill="hold">
                                          <p:stCondLst>
                                            <p:cond delay="499"/>
                                          </p:stCondLst>
                                        </p:cTn>
                                        <p:tgtEl>
                                          <p:spTgt spid="15"/>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7"/>
                                        </p:tgtEl>
                                      </p:cBhvr>
                                    </p:animEffect>
                                    <p:set>
                                      <p:cBhvr>
                                        <p:cTn id="38"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5" grpId="0"/>
      <p:bldP spid="15" grpId="1"/>
      <p:bldP spid="17" grpId="0"/>
      <p:bldP spid="17" grpId="1"/>
      <p:bldP spid="27" grpId="0"/>
      <p:bldP spid="27"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48820-A11D-6A87-3C6B-EE47261C4FC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0B96FF2-6B1C-1950-F824-FFAE20884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22D03C7E-85C9-541F-34AB-76810BE5B679}"/>
              </a:ext>
            </a:extLst>
          </p:cNvPr>
          <p:cNvSpPr txBox="1"/>
          <p:nvPr/>
        </p:nvSpPr>
        <p:spPr>
          <a:xfrm>
            <a:off x="517867" y="870046"/>
            <a:ext cx="9473692" cy="1325880"/>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400" b="1" dirty="0"/>
              <a:t>I. </a:t>
            </a:r>
            <a:r>
              <a:rPr lang="en-US" sz="4400" b="1" dirty="0" err="1"/>
              <a:t>Giới</a:t>
            </a:r>
            <a:r>
              <a:rPr lang="en-US" sz="4400" b="1" dirty="0"/>
              <a:t> </a:t>
            </a:r>
            <a:r>
              <a:rPr lang="en-US" sz="4400" b="1" dirty="0" err="1"/>
              <a:t>thiệu</a:t>
            </a:r>
            <a:endParaRPr lang="en-US" sz="4400" b="1" dirty="0"/>
          </a:p>
        </p:txBody>
      </p:sp>
      <p:sp>
        <p:nvSpPr>
          <p:cNvPr id="20" name="Rectangle 19">
            <a:extLst>
              <a:ext uri="{FF2B5EF4-FFF2-40B4-BE49-F238E27FC236}">
                <a16:creationId xmlns:a16="http://schemas.microsoft.com/office/drawing/2014/main" id="{0A3298CA-D036-5BD5-D4B2-9A4257021C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508090"/>
            <a:ext cx="6281928"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BBA76BC-D897-8DC1-F2ED-B0338E53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13612" y="611650"/>
            <a:ext cx="416052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8" name="TextBox 27">
            <a:extLst>
              <a:ext uri="{FF2B5EF4-FFF2-40B4-BE49-F238E27FC236}">
                <a16:creationId xmlns:a16="http://schemas.microsoft.com/office/drawing/2014/main" id="{4007C579-F94E-69DF-CCBD-4736686CE57A}"/>
              </a:ext>
            </a:extLst>
          </p:cNvPr>
          <p:cNvSpPr txBox="1"/>
          <p:nvPr/>
        </p:nvSpPr>
        <p:spPr>
          <a:xfrm>
            <a:off x="517867" y="1527415"/>
            <a:ext cx="2622110" cy="461665"/>
          </a:xfrm>
          <a:prstGeom prst="rect">
            <a:avLst/>
          </a:prstGeom>
          <a:noFill/>
        </p:spPr>
        <p:txBody>
          <a:bodyPr wrap="square">
            <a:spAutoFit/>
          </a:bodyPr>
          <a:lstStyle/>
          <a:p>
            <a:pPr>
              <a:buNone/>
            </a:pPr>
            <a:r>
              <a:rPr lang="en-US" sz="2400" b="1" u="sng" dirty="0" err="1"/>
              <a:t>Từ</a:t>
            </a:r>
            <a:r>
              <a:rPr lang="en-US" sz="2400" b="1" u="sng" dirty="0"/>
              <a:t> </a:t>
            </a:r>
            <a:r>
              <a:rPr lang="en-US" sz="2400" b="1" u="sng" dirty="0" err="1"/>
              <a:t>điển</a:t>
            </a:r>
            <a:r>
              <a:rPr lang="en-US" sz="2400" b="1" u="sng" dirty="0"/>
              <a:t> </a:t>
            </a:r>
            <a:r>
              <a:rPr lang="en-US" sz="2400" b="1" u="sng" dirty="0" err="1"/>
              <a:t>dữ</a:t>
            </a:r>
            <a:r>
              <a:rPr lang="en-US" sz="2400" b="1" u="sng" dirty="0"/>
              <a:t> </a:t>
            </a:r>
            <a:r>
              <a:rPr lang="en-US" sz="2400" b="1" u="sng" dirty="0" err="1"/>
              <a:t>liệu</a:t>
            </a:r>
            <a:r>
              <a:rPr lang="en-US" sz="2400" b="1" u="sng" dirty="0"/>
              <a:t>:</a:t>
            </a:r>
            <a:endParaRPr lang="en-US" sz="2400" u="sng" dirty="0"/>
          </a:p>
        </p:txBody>
      </p:sp>
      <p:graphicFrame>
        <p:nvGraphicFramePr>
          <p:cNvPr id="2" name="Bảng 1">
            <a:extLst>
              <a:ext uri="{FF2B5EF4-FFF2-40B4-BE49-F238E27FC236}">
                <a16:creationId xmlns:a16="http://schemas.microsoft.com/office/drawing/2014/main" id="{9A8B3F57-D7D7-086C-361F-29436F9478A5}"/>
              </a:ext>
            </a:extLst>
          </p:cNvPr>
          <p:cNvGraphicFramePr>
            <a:graphicFrameLocks noGrp="1"/>
          </p:cNvGraphicFramePr>
          <p:nvPr>
            <p:extLst>
              <p:ext uri="{D42A27DB-BD31-4B8C-83A1-F6EECF244321}">
                <p14:modId xmlns:p14="http://schemas.microsoft.com/office/powerpoint/2010/main" val="1858754840"/>
              </p:ext>
            </p:extLst>
          </p:nvPr>
        </p:nvGraphicFramePr>
        <p:xfrm>
          <a:off x="2407773" y="1989080"/>
          <a:ext cx="7373406" cy="3774267"/>
        </p:xfrm>
        <a:graphic>
          <a:graphicData uri="http://schemas.openxmlformats.org/drawingml/2006/table">
            <a:tbl>
              <a:tblPr firstRow="1" bandRow="1">
                <a:tableStyleId>{5C22544A-7EE6-4342-B048-85BDC9FD1C3A}</a:tableStyleId>
              </a:tblPr>
              <a:tblGrid>
                <a:gridCol w="1521246">
                  <a:extLst>
                    <a:ext uri="{9D8B030D-6E8A-4147-A177-3AD203B41FA5}">
                      <a16:colId xmlns:a16="http://schemas.microsoft.com/office/drawing/2014/main" val="2775738198"/>
                    </a:ext>
                  </a:extLst>
                </a:gridCol>
                <a:gridCol w="2313432">
                  <a:extLst>
                    <a:ext uri="{9D8B030D-6E8A-4147-A177-3AD203B41FA5}">
                      <a16:colId xmlns:a16="http://schemas.microsoft.com/office/drawing/2014/main" val="1237885572"/>
                    </a:ext>
                  </a:extLst>
                </a:gridCol>
                <a:gridCol w="1263321">
                  <a:extLst>
                    <a:ext uri="{9D8B030D-6E8A-4147-A177-3AD203B41FA5}">
                      <a16:colId xmlns:a16="http://schemas.microsoft.com/office/drawing/2014/main" val="492711137"/>
                    </a:ext>
                  </a:extLst>
                </a:gridCol>
                <a:gridCol w="2275407">
                  <a:extLst>
                    <a:ext uri="{9D8B030D-6E8A-4147-A177-3AD203B41FA5}">
                      <a16:colId xmlns:a16="http://schemas.microsoft.com/office/drawing/2014/main" val="2081454078"/>
                    </a:ext>
                  </a:extLst>
                </a:gridCol>
              </a:tblGrid>
              <a:tr h="618009">
                <a:tc>
                  <a:txBody>
                    <a:bodyPr/>
                    <a:lstStyle/>
                    <a:p>
                      <a:r>
                        <a:rPr lang="en-US" b="1" dirty="0" err="1">
                          <a:solidFill>
                            <a:schemeClr val="tx1"/>
                          </a:solidFill>
                        </a:rPr>
                        <a:t>PassengerID</a:t>
                      </a:r>
                      <a:endParaRPr lang="en-US" b="1" dirty="0">
                        <a:solidFill>
                          <a:schemeClr val="tx1"/>
                        </a:solidFill>
                      </a:endParaRPr>
                    </a:p>
                  </a:txBody>
                  <a:tcPr>
                    <a:solidFill>
                      <a:schemeClr val="accent4">
                        <a:lumMod val="60000"/>
                        <a:lumOff val="40000"/>
                      </a:schemeClr>
                    </a:solidFill>
                  </a:tcPr>
                </a:tc>
                <a:tc>
                  <a:txBody>
                    <a:bodyPr/>
                    <a:lstStyle/>
                    <a:p>
                      <a:r>
                        <a:rPr lang="en-US" b="0" dirty="0">
                          <a:solidFill>
                            <a:schemeClr val="tx1"/>
                          </a:solidFill>
                        </a:rPr>
                        <a:t>ID </a:t>
                      </a:r>
                      <a:r>
                        <a:rPr lang="en-US" b="0" dirty="0" err="1">
                          <a:solidFill>
                            <a:schemeClr val="tx1"/>
                          </a:solidFill>
                        </a:rPr>
                        <a:t>hành</a:t>
                      </a:r>
                      <a:r>
                        <a:rPr lang="en-US" b="0" dirty="0">
                          <a:solidFill>
                            <a:schemeClr val="tx1"/>
                          </a:solidFill>
                        </a:rPr>
                        <a:t> </a:t>
                      </a:r>
                      <a:r>
                        <a:rPr lang="en-US" b="0" dirty="0" err="1">
                          <a:solidFill>
                            <a:schemeClr val="tx1"/>
                          </a:solidFill>
                        </a:rPr>
                        <a:t>khách</a:t>
                      </a:r>
                      <a:endParaRPr lang="en-US" b="0" dirty="0">
                        <a:solidFill>
                          <a:schemeClr val="tx1"/>
                        </a:solidFill>
                      </a:endParaRPr>
                    </a:p>
                  </a:txBody>
                  <a:tcPr>
                    <a:solidFill>
                      <a:schemeClr val="accent4">
                        <a:lumMod val="40000"/>
                        <a:lumOff val="60000"/>
                      </a:schemeClr>
                    </a:solidFill>
                  </a:tcPr>
                </a:tc>
                <a:tc>
                  <a:txBody>
                    <a:bodyPr/>
                    <a:lstStyle/>
                    <a:p>
                      <a:r>
                        <a:rPr lang="en-US" b="1" dirty="0">
                          <a:solidFill>
                            <a:schemeClr val="tx1"/>
                          </a:solidFill>
                        </a:rPr>
                        <a:t>Age</a:t>
                      </a:r>
                    </a:p>
                  </a:txBody>
                  <a:tcPr>
                    <a:solidFill>
                      <a:schemeClr val="accent4">
                        <a:lumMod val="60000"/>
                        <a:lumOff val="40000"/>
                      </a:schemeClr>
                    </a:solidFill>
                  </a:tcPr>
                </a:tc>
                <a:tc>
                  <a:txBody>
                    <a:bodyPr/>
                    <a:lstStyle/>
                    <a:p>
                      <a:r>
                        <a:rPr lang="en-US" b="0" dirty="0" err="1">
                          <a:solidFill>
                            <a:schemeClr val="tx1"/>
                          </a:solidFill>
                        </a:rPr>
                        <a:t>Tuổi</a:t>
                      </a:r>
                      <a:endParaRPr lang="en-US" b="0" dirty="0">
                        <a:solidFill>
                          <a:schemeClr val="tx1"/>
                        </a:solidFill>
                      </a:endParaRPr>
                    </a:p>
                  </a:txBody>
                  <a:tcPr>
                    <a:solidFill>
                      <a:schemeClr val="accent4">
                        <a:lumMod val="40000"/>
                        <a:lumOff val="60000"/>
                      </a:schemeClr>
                    </a:solidFill>
                  </a:tcPr>
                </a:tc>
                <a:extLst>
                  <a:ext uri="{0D108BD9-81ED-4DB2-BD59-A6C34878D82A}">
                    <a16:rowId xmlns:a16="http://schemas.microsoft.com/office/drawing/2014/main" val="3684608861"/>
                  </a:ext>
                </a:extLst>
              </a:tr>
              <a:tr h="618009">
                <a:tc>
                  <a:txBody>
                    <a:bodyPr/>
                    <a:lstStyle/>
                    <a:p>
                      <a:r>
                        <a:rPr lang="en-US" b="1" dirty="0">
                          <a:solidFill>
                            <a:schemeClr val="tx1"/>
                          </a:solidFill>
                        </a:rPr>
                        <a:t>Survived</a:t>
                      </a:r>
                    </a:p>
                  </a:txBody>
                  <a:tcPr>
                    <a:solidFill>
                      <a:schemeClr val="accent4">
                        <a:lumMod val="60000"/>
                        <a:lumOff val="40000"/>
                      </a:schemeClr>
                    </a:solidFill>
                  </a:tcPr>
                </a:tc>
                <a:tc>
                  <a:txBody>
                    <a:bodyPr/>
                    <a:lstStyle/>
                    <a:p>
                      <a:r>
                        <a:rPr lang="en-US" b="0" dirty="0" err="1">
                          <a:solidFill>
                            <a:schemeClr val="tx1"/>
                          </a:solidFill>
                        </a:rPr>
                        <a:t>Trạng</a:t>
                      </a:r>
                      <a:r>
                        <a:rPr lang="en-US" b="0" dirty="0">
                          <a:solidFill>
                            <a:schemeClr val="tx1"/>
                          </a:solidFill>
                        </a:rPr>
                        <a:t> </a:t>
                      </a:r>
                      <a:r>
                        <a:rPr lang="en-US" b="0" dirty="0" err="1">
                          <a:solidFill>
                            <a:schemeClr val="tx1"/>
                          </a:solidFill>
                        </a:rPr>
                        <a:t>thái</a:t>
                      </a:r>
                      <a:r>
                        <a:rPr lang="en-US" b="0" dirty="0">
                          <a:solidFill>
                            <a:schemeClr val="tx1"/>
                          </a:solidFill>
                        </a:rPr>
                        <a:t> </a:t>
                      </a:r>
                      <a:r>
                        <a:rPr lang="en-US" b="0" dirty="0" err="1">
                          <a:solidFill>
                            <a:schemeClr val="tx1"/>
                          </a:solidFill>
                        </a:rPr>
                        <a:t>sống</a:t>
                      </a:r>
                      <a:endParaRPr lang="en-US" b="0" dirty="0">
                        <a:solidFill>
                          <a:schemeClr val="tx1"/>
                        </a:solidFill>
                      </a:endParaRPr>
                    </a:p>
                  </a:txBody>
                  <a:tcPr>
                    <a:solidFill>
                      <a:schemeClr val="accent4">
                        <a:lumMod val="40000"/>
                        <a:lumOff val="60000"/>
                      </a:schemeClr>
                    </a:solidFill>
                  </a:tcPr>
                </a:tc>
                <a:tc>
                  <a:txBody>
                    <a:bodyPr/>
                    <a:lstStyle/>
                    <a:p>
                      <a:r>
                        <a:rPr lang="en-US" b="1" dirty="0" err="1">
                          <a:solidFill>
                            <a:schemeClr val="tx1"/>
                          </a:solidFill>
                        </a:rPr>
                        <a:t>SibSp</a:t>
                      </a:r>
                      <a:endParaRPr lang="en-US" b="1" dirty="0">
                        <a:solidFill>
                          <a:schemeClr val="tx1"/>
                        </a:solidFill>
                      </a:endParaRPr>
                    </a:p>
                  </a:txBody>
                  <a:tcPr>
                    <a:solidFill>
                      <a:schemeClr val="accent4">
                        <a:lumMod val="60000"/>
                        <a:lumOff val="40000"/>
                      </a:schemeClr>
                    </a:solidFill>
                  </a:tcPr>
                </a:tc>
                <a:tc>
                  <a:txBody>
                    <a:bodyPr/>
                    <a:lstStyle/>
                    <a:p>
                      <a:r>
                        <a:rPr lang="en-US" b="0" dirty="0">
                          <a:solidFill>
                            <a:schemeClr val="tx1"/>
                          </a:solidFill>
                        </a:rPr>
                        <a:t>SL </a:t>
                      </a:r>
                      <a:r>
                        <a:rPr lang="en-US" b="0" dirty="0" err="1">
                          <a:solidFill>
                            <a:schemeClr val="tx1"/>
                          </a:solidFill>
                        </a:rPr>
                        <a:t>anh</a:t>
                      </a:r>
                      <a:r>
                        <a:rPr lang="en-US" b="0" dirty="0">
                          <a:solidFill>
                            <a:schemeClr val="tx1"/>
                          </a:solidFill>
                        </a:rPr>
                        <a:t>/</a:t>
                      </a:r>
                      <a:r>
                        <a:rPr lang="en-US" b="0" dirty="0" err="1">
                          <a:solidFill>
                            <a:schemeClr val="tx1"/>
                          </a:solidFill>
                        </a:rPr>
                        <a:t>chị</a:t>
                      </a:r>
                      <a:r>
                        <a:rPr lang="en-US" b="0" dirty="0">
                          <a:solidFill>
                            <a:schemeClr val="tx1"/>
                          </a:solidFill>
                        </a:rPr>
                        <a:t>/</a:t>
                      </a:r>
                      <a:r>
                        <a:rPr lang="en-US" b="0" dirty="0" err="1">
                          <a:solidFill>
                            <a:schemeClr val="tx1"/>
                          </a:solidFill>
                        </a:rPr>
                        <a:t>em</a:t>
                      </a:r>
                      <a:r>
                        <a:rPr lang="en-US" b="0" dirty="0">
                          <a:solidFill>
                            <a:schemeClr val="tx1"/>
                          </a:solidFill>
                        </a:rPr>
                        <a:t> </a:t>
                      </a:r>
                      <a:r>
                        <a:rPr lang="en-US" b="0" dirty="0" err="1">
                          <a:solidFill>
                            <a:schemeClr val="tx1"/>
                          </a:solidFill>
                        </a:rPr>
                        <a:t>hoặc</a:t>
                      </a:r>
                      <a:r>
                        <a:rPr lang="en-US" b="0" dirty="0">
                          <a:solidFill>
                            <a:schemeClr val="tx1"/>
                          </a:solidFill>
                        </a:rPr>
                        <a:t> </a:t>
                      </a:r>
                      <a:r>
                        <a:rPr lang="en-US" b="0" dirty="0" err="1">
                          <a:solidFill>
                            <a:schemeClr val="tx1"/>
                          </a:solidFill>
                        </a:rPr>
                        <a:t>vợ</a:t>
                      </a:r>
                      <a:r>
                        <a:rPr lang="en-US" b="0" dirty="0">
                          <a:solidFill>
                            <a:schemeClr val="tx1"/>
                          </a:solidFill>
                        </a:rPr>
                        <a:t> </a:t>
                      </a:r>
                      <a:r>
                        <a:rPr lang="en-US" b="0" dirty="0" err="1">
                          <a:solidFill>
                            <a:schemeClr val="tx1"/>
                          </a:solidFill>
                        </a:rPr>
                        <a:t>chồng</a:t>
                      </a:r>
                      <a:r>
                        <a:rPr lang="en-US" b="0" dirty="0">
                          <a:solidFill>
                            <a:schemeClr val="tx1"/>
                          </a:solidFill>
                        </a:rPr>
                        <a:t> </a:t>
                      </a:r>
                      <a:r>
                        <a:rPr lang="en-US" b="0" dirty="0" err="1">
                          <a:solidFill>
                            <a:schemeClr val="tx1"/>
                          </a:solidFill>
                        </a:rPr>
                        <a:t>đi</a:t>
                      </a:r>
                      <a:r>
                        <a:rPr lang="en-US" b="0" dirty="0">
                          <a:solidFill>
                            <a:schemeClr val="tx1"/>
                          </a:solidFill>
                        </a:rPr>
                        <a:t> </a:t>
                      </a:r>
                      <a:r>
                        <a:rPr lang="en-US" b="0" dirty="0" err="1">
                          <a:solidFill>
                            <a:schemeClr val="tx1"/>
                          </a:solidFill>
                        </a:rPr>
                        <a:t>cùng</a:t>
                      </a:r>
                      <a:endParaRPr lang="en-US" b="0" dirty="0">
                        <a:solidFill>
                          <a:schemeClr val="tx1"/>
                        </a:solidFill>
                      </a:endParaRPr>
                    </a:p>
                  </a:txBody>
                  <a:tcPr>
                    <a:solidFill>
                      <a:schemeClr val="accent4">
                        <a:lumMod val="40000"/>
                        <a:lumOff val="60000"/>
                      </a:schemeClr>
                    </a:solidFill>
                  </a:tcPr>
                </a:tc>
                <a:extLst>
                  <a:ext uri="{0D108BD9-81ED-4DB2-BD59-A6C34878D82A}">
                    <a16:rowId xmlns:a16="http://schemas.microsoft.com/office/drawing/2014/main" val="2189034081"/>
                  </a:ext>
                </a:extLst>
              </a:tr>
              <a:tr h="618009">
                <a:tc>
                  <a:txBody>
                    <a:bodyPr/>
                    <a:lstStyle/>
                    <a:p>
                      <a:r>
                        <a:rPr lang="en-US" b="1" dirty="0" err="1">
                          <a:solidFill>
                            <a:schemeClr val="tx1"/>
                          </a:solidFill>
                        </a:rPr>
                        <a:t>Pclass</a:t>
                      </a:r>
                      <a:endParaRPr lang="en-US" b="1" dirty="0">
                        <a:solidFill>
                          <a:schemeClr val="tx1"/>
                        </a:solidFill>
                      </a:endParaRPr>
                    </a:p>
                  </a:txBody>
                  <a:tcPr>
                    <a:solidFill>
                      <a:schemeClr val="accent4">
                        <a:lumMod val="60000"/>
                        <a:lumOff val="40000"/>
                      </a:schemeClr>
                    </a:solidFill>
                  </a:tcPr>
                </a:tc>
                <a:tc>
                  <a:txBody>
                    <a:bodyPr/>
                    <a:lstStyle/>
                    <a:p>
                      <a:r>
                        <a:rPr lang="en-US" b="0" dirty="0" err="1">
                          <a:solidFill>
                            <a:schemeClr val="tx1"/>
                          </a:solidFill>
                        </a:rPr>
                        <a:t>Hạng</a:t>
                      </a:r>
                      <a:r>
                        <a:rPr lang="en-US" b="0" dirty="0">
                          <a:solidFill>
                            <a:schemeClr val="tx1"/>
                          </a:solidFill>
                        </a:rPr>
                        <a:t> </a:t>
                      </a:r>
                      <a:r>
                        <a:rPr lang="en-US" b="0" dirty="0" err="1">
                          <a:solidFill>
                            <a:schemeClr val="tx1"/>
                          </a:solidFill>
                        </a:rPr>
                        <a:t>vé</a:t>
                      </a:r>
                      <a:endParaRPr lang="en-US" b="0" dirty="0">
                        <a:solidFill>
                          <a:schemeClr val="tx1"/>
                        </a:solidFill>
                      </a:endParaRPr>
                    </a:p>
                  </a:txBody>
                  <a:tcPr>
                    <a:solidFill>
                      <a:schemeClr val="accent4">
                        <a:lumMod val="40000"/>
                        <a:lumOff val="60000"/>
                      </a:schemeClr>
                    </a:solidFill>
                  </a:tcPr>
                </a:tc>
                <a:tc>
                  <a:txBody>
                    <a:bodyPr/>
                    <a:lstStyle/>
                    <a:p>
                      <a:r>
                        <a:rPr lang="en-US" b="1" dirty="0">
                          <a:solidFill>
                            <a:schemeClr val="tx1"/>
                          </a:solidFill>
                        </a:rPr>
                        <a:t>Parch</a:t>
                      </a:r>
                    </a:p>
                  </a:txBody>
                  <a:tcPr>
                    <a:solidFill>
                      <a:schemeClr val="accent4">
                        <a:lumMod val="60000"/>
                        <a:lumOff val="40000"/>
                      </a:schemeClr>
                    </a:solidFill>
                  </a:tcPr>
                </a:tc>
                <a:tc>
                  <a:txBody>
                    <a:bodyPr/>
                    <a:lstStyle/>
                    <a:p>
                      <a:r>
                        <a:rPr lang="en-US" b="0" dirty="0">
                          <a:solidFill>
                            <a:schemeClr val="tx1"/>
                          </a:solidFill>
                        </a:rPr>
                        <a:t>SL cha/</a:t>
                      </a:r>
                      <a:r>
                        <a:rPr lang="en-US" b="0" dirty="0" err="1">
                          <a:solidFill>
                            <a:schemeClr val="tx1"/>
                          </a:solidFill>
                        </a:rPr>
                        <a:t>mẹ</a:t>
                      </a:r>
                      <a:r>
                        <a:rPr lang="en-US" b="0" dirty="0">
                          <a:solidFill>
                            <a:schemeClr val="tx1"/>
                          </a:solidFill>
                        </a:rPr>
                        <a:t> </a:t>
                      </a:r>
                      <a:r>
                        <a:rPr lang="en-US" b="0" dirty="0" err="1">
                          <a:solidFill>
                            <a:schemeClr val="tx1"/>
                          </a:solidFill>
                        </a:rPr>
                        <a:t>hoặc</a:t>
                      </a:r>
                      <a:r>
                        <a:rPr lang="en-US" b="0" dirty="0">
                          <a:solidFill>
                            <a:schemeClr val="tx1"/>
                          </a:solidFill>
                        </a:rPr>
                        <a:t> con </a:t>
                      </a:r>
                      <a:r>
                        <a:rPr lang="en-US" b="0" dirty="0" err="1">
                          <a:solidFill>
                            <a:schemeClr val="tx1"/>
                          </a:solidFill>
                        </a:rPr>
                        <a:t>đi</a:t>
                      </a:r>
                      <a:r>
                        <a:rPr lang="en-US" b="0" dirty="0">
                          <a:solidFill>
                            <a:schemeClr val="tx1"/>
                          </a:solidFill>
                        </a:rPr>
                        <a:t> </a:t>
                      </a:r>
                      <a:r>
                        <a:rPr lang="en-US" b="0" dirty="0" err="1">
                          <a:solidFill>
                            <a:schemeClr val="tx1"/>
                          </a:solidFill>
                        </a:rPr>
                        <a:t>cùng</a:t>
                      </a:r>
                      <a:endParaRPr lang="en-US" b="0" dirty="0">
                        <a:solidFill>
                          <a:schemeClr val="tx1"/>
                        </a:solidFill>
                      </a:endParaRPr>
                    </a:p>
                  </a:txBody>
                  <a:tcPr>
                    <a:solidFill>
                      <a:schemeClr val="accent4">
                        <a:lumMod val="40000"/>
                        <a:lumOff val="60000"/>
                      </a:schemeClr>
                    </a:solidFill>
                  </a:tcPr>
                </a:tc>
                <a:extLst>
                  <a:ext uri="{0D108BD9-81ED-4DB2-BD59-A6C34878D82A}">
                    <a16:rowId xmlns:a16="http://schemas.microsoft.com/office/drawing/2014/main" val="2454598143"/>
                  </a:ext>
                </a:extLst>
              </a:tr>
              <a:tr h="618009">
                <a:tc>
                  <a:txBody>
                    <a:bodyPr/>
                    <a:lstStyle/>
                    <a:p>
                      <a:r>
                        <a:rPr lang="en-US" b="1" dirty="0">
                          <a:solidFill>
                            <a:schemeClr val="tx1"/>
                          </a:solidFill>
                        </a:rPr>
                        <a:t>Name</a:t>
                      </a:r>
                    </a:p>
                  </a:txBody>
                  <a:tcPr>
                    <a:solidFill>
                      <a:schemeClr val="accent4">
                        <a:lumMod val="60000"/>
                        <a:lumOff val="40000"/>
                      </a:schemeClr>
                    </a:solidFill>
                  </a:tcPr>
                </a:tc>
                <a:tc>
                  <a:txBody>
                    <a:bodyPr/>
                    <a:lstStyle/>
                    <a:p>
                      <a:r>
                        <a:rPr lang="en-US" b="0" dirty="0" err="1">
                          <a:solidFill>
                            <a:schemeClr val="tx1"/>
                          </a:solidFill>
                        </a:rPr>
                        <a:t>Tên</a:t>
                      </a:r>
                      <a:r>
                        <a:rPr lang="en-US" b="0" dirty="0">
                          <a:solidFill>
                            <a:schemeClr val="tx1"/>
                          </a:solidFill>
                        </a:rPr>
                        <a:t> </a:t>
                      </a:r>
                      <a:r>
                        <a:rPr lang="en-US" b="0" dirty="0" err="1">
                          <a:solidFill>
                            <a:schemeClr val="tx1"/>
                          </a:solidFill>
                        </a:rPr>
                        <a:t>hành</a:t>
                      </a:r>
                      <a:r>
                        <a:rPr lang="en-US" b="0" dirty="0">
                          <a:solidFill>
                            <a:schemeClr val="tx1"/>
                          </a:solidFill>
                        </a:rPr>
                        <a:t> </a:t>
                      </a:r>
                      <a:r>
                        <a:rPr lang="en-US" b="0" dirty="0" err="1">
                          <a:solidFill>
                            <a:schemeClr val="tx1"/>
                          </a:solidFill>
                        </a:rPr>
                        <a:t>khách</a:t>
                      </a:r>
                      <a:endParaRPr lang="en-US" b="0" dirty="0">
                        <a:solidFill>
                          <a:schemeClr val="tx1"/>
                        </a:solidFill>
                      </a:endParaRPr>
                    </a:p>
                  </a:txBody>
                  <a:tcPr>
                    <a:solidFill>
                      <a:schemeClr val="accent4">
                        <a:lumMod val="40000"/>
                        <a:lumOff val="60000"/>
                      </a:schemeClr>
                    </a:solidFill>
                  </a:tcPr>
                </a:tc>
                <a:tc>
                  <a:txBody>
                    <a:bodyPr/>
                    <a:lstStyle/>
                    <a:p>
                      <a:r>
                        <a:rPr lang="en-US" b="1" dirty="0">
                          <a:solidFill>
                            <a:schemeClr val="tx1"/>
                          </a:solidFill>
                        </a:rPr>
                        <a:t>Ticket</a:t>
                      </a:r>
                    </a:p>
                  </a:txBody>
                  <a:tcPr>
                    <a:solidFill>
                      <a:schemeClr val="accent4">
                        <a:lumMod val="60000"/>
                        <a:lumOff val="40000"/>
                      </a:schemeClr>
                    </a:solidFill>
                  </a:tcPr>
                </a:tc>
                <a:tc>
                  <a:txBody>
                    <a:bodyPr/>
                    <a:lstStyle/>
                    <a:p>
                      <a:r>
                        <a:rPr lang="en-US" b="0" dirty="0" err="1">
                          <a:solidFill>
                            <a:schemeClr val="tx1"/>
                          </a:solidFill>
                        </a:rPr>
                        <a:t>Số</a:t>
                      </a:r>
                      <a:r>
                        <a:rPr lang="en-US" b="0" dirty="0">
                          <a:solidFill>
                            <a:schemeClr val="tx1"/>
                          </a:solidFill>
                        </a:rPr>
                        <a:t> </a:t>
                      </a:r>
                      <a:r>
                        <a:rPr lang="en-US" b="0" dirty="0" err="1">
                          <a:solidFill>
                            <a:schemeClr val="tx1"/>
                          </a:solidFill>
                        </a:rPr>
                        <a:t>vé</a:t>
                      </a:r>
                      <a:endParaRPr lang="en-US" b="0" dirty="0">
                        <a:solidFill>
                          <a:schemeClr val="tx1"/>
                        </a:solidFill>
                      </a:endParaRPr>
                    </a:p>
                  </a:txBody>
                  <a:tcPr>
                    <a:solidFill>
                      <a:schemeClr val="accent4">
                        <a:lumMod val="40000"/>
                        <a:lumOff val="60000"/>
                      </a:schemeClr>
                    </a:solidFill>
                  </a:tcPr>
                </a:tc>
                <a:extLst>
                  <a:ext uri="{0D108BD9-81ED-4DB2-BD59-A6C34878D82A}">
                    <a16:rowId xmlns:a16="http://schemas.microsoft.com/office/drawing/2014/main" val="2803922225"/>
                  </a:ext>
                </a:extLst>
              </a:tr>
              <a:tr h="618009">
                <a:tc>
                  <a:txBody>
                    <a:bodyPr/>
                    <a:lstStyle/>
                    <a:p>
                      <a:r>
                        <a:rPr lang="en-US" b="1" dirty="0">
                          <a:solidFill>
                            <a:schemeClr val="tx1"/>
                          </a:solidFill>
                        </a:rPr>
                        <a:t>Sex</a:t>
                      </a:r>
                    </a:p>
                  </a:txBody>
                  <a:tcPr>
                    <a:solidFill>
                      <a:schemeClr val="accent4">
                        <a:lumMod val="60000"/>
                        <a:lumOff val="40000"/>
                      </a:schemeClr>
                    </a:solidFill>
                  </a:tcPr>
                </a:tc>
                <a:tc>
                  <a:txBody>
                    <a:bodyPr/>
                    <a:lstStyle/>
                    <a:p>
                      <a:r>
                        <a:rPr lang="en-US" b="0" dirty="0" err="1">
                          <a:solidFill>
                            <a:schemeClr val="tx1"/>
                          </a:solidFill>
                        </a:rPr>
                        <a:t>Giới</a:t>
                      </a:r>
                      <a:r>
                        <a:rPr lang="en-US" b="0" dirty="0">
                          <a:solidFill>
                            <a:schemeClr val="tx1"/>
                          </a:solidFill>
                        </a:rPr>
                        <a:t> </a:t>
                      </a:r>
                      <a:r>
                        <a:rPr lang="en-US" b="0" dirty="0" err="1">
                          <a:solidFill>
                            <a:schemeClr val="tx1"/>
                          </a:solidFill>
                        </a:rPr>
                        <a:t>tính</a:t>
                      </a:r>
                      <a:endParaRPr lang="en-US" b="0" dirty="0">
                        <a:solidFill>
                          <a:schemeClr val="tx1"/>
                        </a:solidFill>
                      </a:endParaRPr>
                    </a:p>
                  </a:txBody>
                  <a:tcPr>
                    <a:solidFill>
                      <a:schemeClr val="accent4">
                        <a:lumMod val="40000"/>
                        <a:lumOff val="60000"/>
                      </a:schemeClr>
                    </a:solidFill>
                  </a:tcPr>
                </a:tc>
                <a:tc>
                  <a:txBody>
                    <a:bodyPr/>
                    <a:lstStyle/>
                    <a:p>
                      <a:r>
                        <a:rPr lang="en-US" b="1" dirty="0">
                          <a:solidFill>
                            <a:schemeClr val="tx1"/>
                          </a:solidFill>
                        </a:rPr>
                        <a:t>Fare</a:t>
                      </a:r>
                    </a:p>
                  </a:txBody>
                  <a:tcPr>
                    <a:solidFill>
                      <a:schemeClr val="accent4">
                        <a:lumMod val="60000"/>
                        <a:lumOff val="40000"/>
                      </a:schemeClr>
                    </a:solidFill>
                  </a:tcPr>
                </a:tc>
                <a:tc>
                  <a:txBody>
                    <a:bodyPr/>
                    <a:lstStyle/>
                    <a:p>
                      <a:r>
                        <a:rPr lang="en-US" b="0" dirty="0" err="1">
                          <a:solidFill>
                            <a:schemeClr val="tx1"/>
                          </a:solidFill>
                        </a:rPr>
                        <a:t>Giá</a:t>
                      </a:r>
                      <a:r>
                        <a:rPr lang="en-US" b="0" dirty="0">
                          <a:solidFill>
                            <a:schemeClr val="tx1"/>
                          </a:solidFill>
                        </a:rPr>
                        <a:t> </a:t>
                      </a:r>
                      <a:r>
                        <a:rPr lang="en-US" b="0" dirty="0" err="1">
                          <a:solidFill>
                            <a:schemeClr val="tx1"/>
                          </a:solidFill>
                        </a:rPr>
                        <a:t>vé</a:t>
                      </a:r>
                      <a:endParaRPr lang="en-US" b="0" dirty="0">
                        <a:solidFill>
                          <a:schemeClr val="tx1"/>
                        </a:solidFill>
                      </a:endParaRPr>
                    </a:p>
                  </a:txBody>
                  <a:tcPr>
                    <a:solidFill>
                      <a:schemeClr val="accent4">
                        <a:lumMod val="40000"/>
                        <a:lumOff val="60000"/>
                      </a:schemeClr>
                    </a:solidFill>
                  </a:tcPr>
                </a:tc>
                <a:extLst>
                  <a:ext uri="{0D108BD9-81ED-4DB2-BD59-A6C34878D82A}">
                    <a16:rowId xmlns:a16="http://schemas.microsoft.com/office/drawing/2014/main" val="4110680946"/>
                  </a:ext>
                </a:extLst>
              </a:tr>
              <a:tr h="618009">
                <a:tc>
                  <a:txBody>
                    <a:bodyPr/>
                    <a:lstStyle/>
                    <a:p>
                      <a:r>
                        <a:rPr lang="en-US" b="1" dirty="0">
                          <a:solidFill>
                            <a:schemeClr val="tx1"/>
                          </a:solidFill>
                        </a:rPr>
                        <a:t>Cabin</a:t>
                      </a:r>
                    </a:p>
                  </a:txBody>
                  <a:tcPr>
                    <a:solidFill>
                      <a:schemeClr val="accent4">
                        <a:lumMod val="60000"/>
                        <a:lumOff val="40000"/>
                      </a:schemeClr>
                    </a:solidFill>
                  </a:tcPr>
                </a:tc>
                <a:tc>
                  <a:txBody>
                    <a:bodyPr/>
                    <a:lstStyle/>
                    <a:p>
                      <a:r>
                        <a:rPr lang="en-US" b="0" dirty="0" err="1">
                          <a:solidFill>
                            <a:schemeClr val="tx1"/>
                          </a:solidFill>
                        </a:rPr>
                        <a:t>Số</a:t>
                      </a:r>
                      <a:r>
                        <a:rPr lang="en-US" b="0" dirty="0">
                          <a:solidFill>
                            <a:schemeClr val="tx1"/>
                          </a:solidFill>
                        </a:rPr>
                        <a:t> Cabin</a:t>
                      </a:r>
                    </a:p>
                  </a:txBody>
                  <a:tcPr>
                    <a:solidFill>
                      <a:schemeClr val="accent4">
                        <a:lumMod val="40000"/>
                        <a:lumOff val="60000"/>
                      </a:schemeClr>
                    </a:solidFill>
                  </a:tcPr>
                </a:tc>
                <a:tc>
                  <a:txBody>
                    <a:bodyPr/>
                    <a:lstStyle/>
                    <a:p>
                      <a:r>
                        <a:rPr lang="en-US" b="1" dirty="0">
                          <a:solidFill>
                            <a:schemeClr val="tx1"/>
                          </a:solidFill>
                        </a:rPr>
                        <a:t>Embarked</a:t>
                      </a:r>
                    </a:p>
                  </a:txBody>
                  <a:tcPr>
                    <a:solidFill>
                      <a:schemeClr val="accent4">
                        <a:lumMod val="60000"/>
                        <a:lumOff val="40000"/>
                      </a:schemeClr>
                    </a:solidFill>
                  </a:tcPr>
                </a:tc>
                <a:tc>
                  <a:txBody>
                    <a:bodyPr/>
                    <a:lstStyle/>
                    <a:p>
                      <a:r>
                        <a:rPr lang="en-US" b="0" dirty="0" err="1">
                          <a:solidFill>
                            <a:schemeClr val="tx1"/>
                          </a:solidFill>
                        </a:rPr>
                        <a:t>Nơi</a:t>
                      </a:r>
                      <a:r>
                        <a:rPr lang="en-US" b="0" dirty="0">
                          <a:solidFill>
                            <a:schemeClr val="tx1"/>
                          </a:solidFill>
                        </a:rPr>
                        <a:t> </a:t>
                      </a:r>
                      <a:r>
                        <a:rPr lang="en-US" b="0" dirty="0" err="1">
                          <a:solidFill>
                            <a:schemeClr val="tx1"/>
                          </a:solidFill>
                        </a:rPr>
                        <a:t>lên</a:t>
                      </a:r>
                      <a:r>
                        <a:rPr lang="en-US" b="0" dirty="0">
                          <a:solidFill>
                            <a:schemeClr val="tx1"/>
                          </a:solidFill>
                        </a:rPr>
                        <a:t> </a:t>
                      </a:r>
                      <a:r>
                        <a:rPr lang="en-US" b="0" dirty="0" err="1">
                          <a:solidFill>
                            <a:schemeClr val="tx1"/>
                          </a:solidFill>
                        </a:rPr>
                        <a:t>tàu</a:t>
                      </a:r>
                      <a:br>
                        <a:rPr lang="en-US" b="0" dirty="0">
                          <a:solidFill>
                            <a:schemeClr val="tx1"/>
                          </a:solidFill>
                        </a:rPr>
                      </a:br>
                      <a:endParaRPr lang="en-US" b="0" dirty="0">
                        <a:solidFill>
                          <a:schemeClr val="tx1"/>
                        </a:solidFill>
                      </a:endParaRPr>
                    </a:p>
                  </a:txBody>
                  <a:tcPr>
                    <a:solidFill>
                      <a:schemeClr val="accent4">
                        <a:lumMod val="40000"/>
                        <a:lumOff val="60000"/>
                      </a:schemeClr>
                    </a:solidFill>
                  </a:tcPr>
                </a:tc>
                <a:extLst>
                  <a:ext uri="{0D108BD9-81ED-4DB2-BD59-A6C34878D82A}">
                    <a16:rowId xmlns:a16="http://schemas.microsoft.com/office/drawing/2014/main" val="912676376"/>
                  </a:ext>
                </a:extLst>
              </a:tr>
            </a:tbl>
          </a:graphicData>
        </a:graphic>
      </p:graphicFrame>
      <p:sp>
        <p:nvSpPr>
          <p:cNvPr id="4" name="TextBox 3">
            <a:extLst>
              <a:ext uri="{FF2B5EF4-FFF2-40B4-BE49-F238E27FC236}">
                <a16:creationId xmlns:a16="http://schemas.microsoft.com/office/drawing/2014/main" id="{D5C2B7CF-3CC6-B17E-A1EC-803B4EBCE1FD}"/>
              </a:ext>
            </a:extLst>
          </p:cNvPr>
          <p:cNvSpPr txBox="1"/>
          <p:nvPr/>
        </p:nvSpPr>
        <p:spPr>
          <a:xfrm>
            <a:off x="1141476" y="5784685"/>
            <a:ext cx="10532656" cy="923330"/>
          </a:xfrm>
          <a:prstGeom prst="rect">
            <a:avLst/>
          </a:prstGeom>
          <a:noFill/>
        </p:spPr>
        <p:txBody>
          <a:bodyPr wrap="square">
            <a:spAutoFit/>
          </a:bodyPr>
          <a:lstStyle/>
          <a:p>
            <a:pPr>
              <a:buNone/>
            </a:pPr>
            <a:r>
              <a:rPr lang="en-US" dirty="0">
                <a:effectLst/>
                <a:latin typeface="Consolas" panose="020B0609020204030204" pitchFamily="49" charset="0"/>
              </a:rPr>
              <a:t>+ </a:t>
            </a:r>
            <a:r>
              <a:rPr lang="en-US" dirty="0" err="1">
                <a:effectLst/>
                <a:latin typeface="Consolas" panose="020B0609020204030204" pitchFamily="49" charset="0"/>
              </a:rPr>
              <a:t>Dữ</a:t>
            </a:r>
            <a:r>
              <a:rPr lang="en-US" dirty="0">
                <a:effectLst/>
                <a:latin typeface="Consolas" panose="020B0609020204030204" pitchFamily="49" charset="0"/>
              </a:rPr>
              <a:t> </a:t>
            </a:r>
            <a:r>
              <a:rPr lang="en-US" dirty="0" err="1">
                <a:effectLst/>
                <a:latin typeface="Consolas" panose="020B0609020204030204" pitchFamily="49" charset="0"/>
              </a:rPr>
              <a:t>liệu</a:t>
            </a:r>
            <a:r>
              <a:rPr lang="en-US" dirty="0">
                <a:effectLst/>
                <a:latin typeface="Consolas" panose="020B0609020204030204" pitchFamily="49" charset="0"/>
              </a:rPr>
              <a:t> </a:t>
            </a:r>
            <a:r>
              <a:rPr lang="en-US" dirty="0" err="1">
                <a:effectLst/>
                <a:latin typeface="Consolas" panose="020B0609020204030204" pitchFamily="49" charset="0"/>
              </a:rPr>
              <a:t>có</a:t>
            </a:r>
            <a:r>
              <a:rPr lang="en-US" dirty="0">
                <a:effectLst/>
                <a:latin typeface="Consolas" panose="020B0609020204030204" pitchFamily="49" charset="0"/>
              </a:rPr>
              <a:t> </a:t>
            </a:r>
            <a:r>
              <a:rPr lang="en-US" dirty="0" err="1">
                <a:effectLst/>
                <a:latin typeface="Consolas" panose="020B0609020204030204" pitchFamily="49" charset="0"/>
              </a:rPr>
              <a:t>không</a:t>
            </a:r>
            <a:r>
              <a:rPr lang="en-US" dirty="0">
                <a:effectLst/>
                <a:latin typeface="Consolas" panose="020B0609020204030204" pitchFamily="49" charset="0"/>
              </a:rPr>
              <a:t> </a:t>
            </a:r>
            <a:r>
              <a:rPr lang="en-US" dirty="0" err="1">
                <a:effectLst/>
                <a:latin typeface="Consolas" panose="020B0609020204030204" pitchFamily="49" charset="0"/>
              </a:rPr>
              <a:t>có</a:t>
            </a:r>
            <a:r>
              <a:rPr lang="en-US" dirty="0">
                <a:effectLst/>
                <a:latin typeface="Consolas" panose="020B0609020204030204" pitchFamily="49" charset="0"/>
              </a:rPr>
              <a:t> </a:t>
            </a:r>
            <a:r>
              <a:rPr lang="en-US" dirty="0" err="1">
                <a:effectLst/>
                <a:latin typeface="Consolas" panose="020B0609020204030204" pitchFamily="49" charset="0"/>
              </a:rPr>
              <a:t>dòng</a:t>
            </a:r>
            <a:r>
              <a:rPr lang="en-US" dirty="0">
                <a:effectLst/>
                <a:latin typeface="Consolas" panose="020B0609020204030204" pitchFamily="49" charset="0"/>
              </a:rPr>
              <a:t> </a:t>
            </a:r>
            <a:r>
              <a:rPr lang="en-US" dirty="0" err="1">
                <a:effectLst/>
                <a:latin typeface="Consolas" panose="020B0609020204030204" pitchFamily="49" charset="0"/>
              </a:rPr>
              <a:t>bị</a:t>
            </a:r>
            <a:r>
              <a:rPr lang="en-US" dirty="0">
                <a:effectLst/>
                <a:latin typeface="Consolas" panose="020B0609020204030204" pitchFamily="49" charset="0"/>
              </a:rPr>
              <a:t> </a:t>
            </a:r>
            <a:r>
              <a:rPr lang="en-US" dirty="0" err="1">
                <a:effectLst/>
                <a:latin typeface="Consolas" panose="020B0609020204030204" pitchFamily="49" charset="0"/>
              </a:rPr>
              <a:t>trùng</a:t>
            </a:r>
            <a:r>
              <a:rPr lang="en-US" dirty="0">
                <a:effectLst/>
                <a:latin typeface="Consolas" panose="020B0609020204030204" pitchFamily="49" charset="0"/>
              </a:rPr>
              <a:t>.</a:t>
            </a:r>
          </a:p>
          <a:p>
            <a:pPr>
              <a:buNone/>
            </a:pPr>
            <a:r>
              <a:rPr lang="en-US" dirty="0">
                <a:effectLst/>
                <a:latin typeface="Consolas" panose="020B0609020204030204" pitchFamily="49" charset="0"/>
              </a:rPr>
              <a:t>+ </a:t>
            </a:r>
            <a:r>
              <a:rPr lang="en-US" dirty="0" err="1">
                <a:effectLst/>
                <a:latin typeface="Consolas" panose="020B0609020204030204" pitchFamily="49" charset="0"/>
              </a:rPr>
              <a:t>Dữ</a:t>
            </a:r>
            <a:r>
              <a:rPr lang="en-US" dirty="0">
                <a:effectLst/>
                <a:latin typeface="Consolas" panose="020B0609020204030204" pitchFamily="49" charset="0"/>
              </a:rPr>
              <a:t> </a:t>
            </a:r>
            <a:r>
              <a:rPr lang="en-US" dirty="0" err="1">
                <a:effectLst/>
                <a:latin typeface="Consolas" panose="020B0609020204030204" pitchFamily="49" charset="0"/>
              </a:rPr>
              <a:t>liệu</a:t>
            </a:r>
            <a:r>
              <a:rPr lang="en-US" dirty="0">
                <a:effectLst/>
                <a:latin typeface="Consolas" panose="020B0609020204030204" pitchFamily="49" charset="0"/>
              </a:rPr>
              <a:t> Train </a:t>
            </a:r>
            <a:r>
              <a:rPr lang="en-US" dirty="0" err="1">
                <a:effectLst/>
                <a:latin typeface="Consolas" panose="020B0609020204030204" pitchFamily="49" charset="0"/>
              </a:rPr>
              <a:t>có</a:t>
            </a:r>
            <a:r>
              <a:rPr lang="en-US" dirty="0">
                <a:effectLst/>
                <a:latin typeface="Consolas" panose="020B0609020204030204" pitchFamily="49" charset="0"/>
              </a:rPr>
              <a:t> </a:t>
            </a:r>
            <a:r>
              <a:rPr lang="en-US" dirty="0" err="1">
                <a:effectLst/>
                <a:latin typeface="Consolas" panose="020B0609020204030204" pitchFamily="49" charset="0"/>
              </a:rPr>
              <a:t>có</a:t>
            </a:r>
            <a:r>
              <a:rPr lang="en-US" dirty="0">
                <a:effectLst/>
                <a:latin typeface="Consolas" panose="020B0609020204030204" pitchFamily="49" charset="0"/>
              </a:rPr>
              <a:t> </a:t>
            </a:r>
            <a:r>
              <a:rPr lang="en-US" dirty="0" err="1">
                <a:effectLst/>
                <a:latin typeface="Consolas" panose="020B0609020204030204" pitchFamily="49" charset="0"/>
              </a:rPr>
              <a:t>giá</a:t>
            </a:r>
            <a:r>
              <a:rPr lang="en-US" dirty="0">
                <a:effectLst/>
                <a:latin typeface="Consolas" panose="020B0609020204030204" pitchFamily="49" charset="0"/>
              </a:rPr>
              <a:t> </a:t>
            </a:r>
            <a:r>
              <a:rPr lang="en-US" dirty="0" err="1">
                <a:effectLst/>
                <a:latin typeface="Consolas" panose="020B0609020204030204" pitchFamily="49" charset="0"/>
              </a:rPr>
              <a:t>trị</a:t>
            </a:r>
            <a:r>
              <a:rPr lang="en-US" dirty="0">
                <a:effectLst/>
                <a:latin typeface="Consolas" panose="020B0609020204030204" pitchFamily="49" charset="0"/>
              </a:rPr>
              <a:t>(</a:t>
            </a:r>
            <a:r>
              <a:rPr lang="en-US" dirty="0" err="1">
                <a:effectLst/>
                <a:latin typeface="Consolas" panose="020B0609020204030204" pitchFamily="49" charset="0"/>
              </a:rPr>
              <a:t>NaN</a:t>
            </a:r>
            <a:r>
              <a:rPr lang="en-US" dirty="0">
                <a:effectLst/>
                <a:latin typeface="Consolas" panose="020B0609020204030204" pitchFamily="49" charset="0"/>
              </a:rPr>
              <a:t>, Null) ở Age: 177, </a:t>
            </a:r>
            <a:r>
              <a:rPr lang="en-US" dirty="0" err="1">
                <a:effectLst/>
                <a:latin typeface="Consolas" panose="020B0609020204030204" pitchFamily="49" charset="0"/>
              </a:rPr>
              <a:t>Canbin</a:t>
            </a:r>
            <a:r>
              <a:rPr lang="en-US" dirty="0">
                <a:effectLst/>
                <a:latin typeface="Consolas" panose="020B0609020204030204" pitchFamily="49" charset="0"/>
              </a:rPr>
              <a:t>: 687, Embarked: 2.</a:t>
            </a:r>
          </a:p>
          <a:p>
            <a:pPr>
              <a:buNone/>
            </a:pPr>
            <a:r>
              <a:rPr lang="en-US" dirty="0">
                <a:latin typeface="Consolas" panose="020B0609020204030204" pitchFamily="49" charset="0"/>
              </a:rPr>
              <a:t>+ </a:t>
            </a:r>
            <a:r>
              <a:rPr lang="en-US" dirty="0" err="1">
                <a:latin typeface="Consolas" panose="020B0609020204030204" pitchFamily="49" charset="0"/>
              </a:rPr>
              <a:t>Dữ</a:t>
            </a:r>
            <a:r>
              <a:rPr lang="en-US" dirty="0">
                <a:latin typeface="Consolas" panose="020B0609020204030204" pitchFamily="49" charset="0"/>
              </a:rPr>
              <a:t> </a:t>
            </a:r>
            <a:r>
              <a:rPr lang="en-US" dirty="0" err="1">
                <a:latin typeface="Consolas" panose="020B0609020204030204" pitchFamily="49" charset="0"/>
              </a:rPr>
              <a:t>liệu</a:t>
            </a:r>
            <a:r>
              <a:rPr lang="en-US" dirty="0">
                <a:latin typeface="Consolas" panose="020B0609020204030204" pitchFamily="49" charset="0"/>
              </a:rPr>
              <a:t> Test </a:t>
            </a:r>
            <a:r>
              <a:rPr lang="en-US" dirty="0" err="1">
                <a:latin typeface="Consolas" panose="020B0609020204030204" pitchFamily="49" charset="0"/>
              </a:rPr>
              <a:t>có</a:t>
            </a:r>
            <a:r>
              <a:rPr lang="en-US" dirty="0">
                <a:latin typeface="Consolas" panose="020B0609020204030204" pitchFamily="49" charset="0"/>
              </a:rPr>
              <a:t> </a:t>
            </a:r>
            <a:r>
              <a:rPr lang="en-US" dirty="0" err="1">
                <a:latin typeface="Consolas" panose="020B0609020204030204" pitchFamily="49" charset="0"/>
              </a:rPr>
              <a:t>có</a:t>
            </a:r>
            <a:r>
              <a:rPr lang="en-US" dirty="0">
                <a:latin typeface="Consolas" panose="020B0609020204030204" pitchFamily="49" charset="0"/>
              </a:rPr>
              <a:t> </a:t>
            </a:r>
            <a:r>
              <a:rPr lang="en-US" dirty="0" err="1">
                <a:latin typeface="Consolas" panose="020B0609020204030204" pitchFamily="49" charset="0"/>
              </a:rPr>
              <a:t>giá</a:t>
            </a:r>
            <a:r>
              <a:rPr lang="en-US" dirty="0">
                <a:latin typeface="Consolas" panose="020B0609020204030204" pitchFamily="49" charset="0"/>
              </a:rPr>
              <a:t> </a:t>
            </a:r>
            <a:r>
              <a:rPr lang="en-US" dirty="0" err="1">
                <a:latin typeface="Consolas" panose="020B0609020204030204" pitchFamily="49" charset="0"/>
              </a:rPr>
              <a:t>trị</a:t>
            </a:r>
            <a:r>
              <a:rPr lang="en-US" dirty="0">
                <a:latin typeface="Consolas" panose="020B0609020204030204" pitchFamily="49" charset="0"/>
              </a:rPr>
              <a:t>(</a:t>
            </a:r>
            <a:r>
              <a:rPr lang="en-US" dirty="0" err="1">
                <a:latin typeface="Consolas" panose="020B0609020204030204" pitchFamily="49" charset="0"/>
              </a:rPr>
              <a:t>NaN</a:t>
            </a:r>
            <a:r>
              <a:rPr lang="en-US" dirty="0">
                <a:latin typeface="Consolas" panose="020B0609020204030204" pitchFamily="49" charset="0"/>
              </a:rPr>
              <a:t>, Null) ở Age: 86, </a:t>
            </a:r>
            <a:r>
              <a:rPr lang="en-US" dirty="0" err="1">
                <a:latin typeface="Consolas" panose="020B0609020204030204" pitchFamily="49" charset="0"/>
              </a:rPr>
              <a:t>Canbin</a:t>
            </a:r>
            <a:r>
              <a:rPr lang="en-US" dirty="0">
                <a:latin typeface="Consolas" panose="020B0609020204030204" pitchFamily="49" charset="0"/>
              </a:rPr>
              <a:t>: 327, Fare: 1.</a:t>
            </a:r>
            <a:endParaRPr lang="en-US" dirty="0">
              <a:effectLst/>
              <a:latin typeface="Consolas" panose="020B0609020204030204" pitchFamily="49" charset="0"/>
            </a:endParaRPr>
          </a:p>
        </p:txBody>
      </p:sp>
    </p:spTree>
    <p:extLst>
      <p:ext uri="{BB962C8B-B14F-4D97-AF65-F5344CB8AC3E}">
        <p14:creationId xmlns:p14="http://schemas.microsoft.com/office/powerpoint/2010/main" val="3722422286"/>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barn(inVertic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500"/>
                                        <p:tgtEl>
                                          <p:spTgt spid="28"/>
                                        </p:tgtEl>
                                      </p:cBhvr>
                                    </p:animEffect>
                                    <p:set>
                                      <p:cBhvr>
                                        <p:cTn id="12" dur="1" fill="hold">
                                          <p:stCondLst>
                                            <p:cond delay="499"/>
                                          </p:stCondLst>
                                        </p:cTn>
                                        <p:tgtEl>
                                          <p:spTgt spid="28"/>
                                        </p:tgtEl>
                                        <p:attrNameLst>
                                          <p:attrName>style.visibility</p:attrName>
                                        </p:attrNameLst>
                                      </p:cBhvr>
                                      <p:to>
                                        <p:strVal val="hidden"/>
                                      </p:to>
                                    </p:set>
                                  </p:childTnLst>
                                </p:cTn>
                              </p:par>
                              <p:par>
                                <p:cTn id="13" presetID="10" presetClass="exit" presetSubtype="0" fill="hold" grpId="0" nodeType="withEffect">
                                  <p:stCondLst>
                                    <p:cond delay="0"/>
                                  </p:stCondLst>
                                  <p:childTnLst>
                                    <p:animEffect transition="out" filter="fade">
                                      <p:cBhvr>
                                        <p:cTn id="14" dur="500"/>
                                        <p:tgtEl>
                                          <p:spTgt spid="7"/>
                                        </p:tgtEl>
                                      </p:cBhvr>
                                    </p:animEffect>
                                    <p:set>
                                      <p:cBhvr>
                                        <p:cTn id="15"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8" grpId="0"/>
      <p:bldP spid="28" grpId="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24238-9023-FB00-8A4E-2806C91448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F493EC3-7C11-809A-3249-792B8FB58508}"/>
              </a:ext>
            </a:extLst>
          </p:cNvPr>
          <p:cNvSpPr txBox="1"/>
          <p:nvPr/>
        </p:nvSpPr>
        <p:spPr>
          <a:xfrm>
            <a:off x="517867" y="870046"/>
            <a:ext cx="9473692" cy="1325880"/>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400" b="1" dirty="0"/>
              <a:t>I. </a:t>
            </a:r>
            <a:r>
              <a:rPr lang="en-US" sz="4400" b="1" dirty="0" err="1"/>
              <a:t>Giới</a:t>
            </a:r>
            <a:r>
              <a:rPr lang="en-US" sz="4400" b="1" dirty="0"/>
              <a:t> </a:t>
            </a:r>
            <a:r>
              <a:rPr lang="en-US" sz="4400" b="1" dirty="0" err="1"/>
              <a:t>thiệu</a:t>
            </a:r>
            <a:endParaRPr lang="en-US" sz="4400" b="1" dirty="0"/>
          </a:p>
        </p:txBody>
      </p:sp>
      <p:sp>
        <p:nvSpPr>
          <p:cNvPr id="28" name="TextBox 27">
            <a:extLst>
              <a:ext uri="{FF2B5EF4-FFF2-40B4-BE49-F238E27FC236}">
                <a16:creationId xmlns:a16="http://schemas.microsoft.com/office/drawing/2014/main" id="{6A7A5725-84A2-9F7E-9F61-48CE3095DF00}"/>
              </a:ext>
            </a:extLst>
          </p:cNvPr>
          <p:cNvSpPr txBox="1"/>
          <p:nvPr/>
        </p:nvSpPr>
        <p:spPr>
          <a:xfrm>
            <a:off x="517866" y="1527415"/>
            <a:ext cx="4017557" cy="461665"/>
          </a:xfrm>
          <a:prstGeom prst="rect">
            <a:avLst/>
          </a:prstGeom>
          <a:noFill/>
        </p:spPr>
        <p:txBody>
          <a:bodyPr wrap="square">
            <a:spAutoFit/>
          </a:bodyPr>
          <a:lstStyle/>
          <a:p>
            <a:pPr>
              <a:buNone/>
            </a:pPr>
            <a:r>
              <a:rPr lang="en-US" sz="2400" b="1" u="sng" dirty="0" err="1"/>
              <a:t>Biến</a:t>
            </a:r>
            <a:r>
              <a:rPr lang="en-US" sz="2400" b="1" u="sng" dirty="0"/>
              <a:t> </a:t>
            </a:r>
            <a:r>
              <a:rPr lang="en-US" sz="2400" b="1" u="sng" dirty="0" err="1"/>
              <a:t>mục</a:t>
            </a:r>
            <a:r>
              <a:rPr lang="en-US" sz="2400" b="1" u="sng" dirty="0"/>
              <a:t> </a:t>
            </a:r>
            <a:r>
              <a:rPr lang="en-US" sz="2400" b="1" u="sng" dirty="0" err="1"/>
              <a:t>tiêu</a:t>
            </a:r>
            <a:r>
              <a:rPr lang="en-US" sz="2400" b="1" u="sng" dirty="0"/>
              <a:t> (Survived):</a:t>
            </a:r>
          </a:p>
        </p:txBody>
      </p:sp>
      <p:pic>
        <p:nvPicPr>
          <p:cNvPr id="5" name="Hình ảnh 4" descr="Ảnh có chứa văn bản, ảnh chụp màn hình, Phông chữ, biểu đồ&#10;&#10;Nội dung do AI tạo ra có thể không chính xác.">
            <a:extLst>
              <a:ext uri="{FF2B5EF4-FFF2-40B4-BE49-F238E27FC236}">
                <a16:creationId xmlns:a16="http://schemas.microsoft.com/office/drawing/2014/main" id="{986CA137-C948-D893-8063-BB08C56020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69243" y="1989080"/>
            <a:ext cx="5284249" cy="4202434"/>
          </a:xfrm>
          <a:prstGeom prst="rect">
            <a:avLst/>
          </a:prstGeom>
        </p:spPr>
      </p:pic>
      <p:sp>
        <p:nvSpPr>
          <p:cNvPr id="6" name="TextBox 3">
            <a:extLst>
              <a:ext uri="{FF2B5EF4-FFF2-40B4-BE49-F238E27FC236}">
                <a16:creationId xmlns:a16="http://schemas.microsoft.com/office/drawing/2014/main" id="{C3FAC69B-D526-367D-8B3D-D2D57178B6F6}"/>
              </a:ext>
            </a:extLst>
          </p:cNvPr>
          <p:cNvSpPr txBox="1"/>
          <p:nvPr/>
        </p:nvSpPr>
        <p:spPr>
          <a:xfrm>
            <a:off x="1353312" y="6191514"/>
            <a:ext cx="10469880" cy="369332"/>
          </a:xfrm>
          <a:prstGeom prst="rect">
            <a:avLst/>
          </a:prstGeom>
          <a:noFill/>
        </p:spPr>
        <p:txBody>
          <a:bodyPr wrap="square">
            <a:spAutoFit/>
          </a:bodyPr>
          <a:lstStyle/>
          <a:p>
            <a:pPr>
              <a:buNone/>
            </a:pPr>
            <a:r>
              <a:rPr lang="en-US" dirty="0" err="1">
                <a:effectLst/>
                <a:latin typeface="Consolas" panose="020B0609020204030204" pitchFamily="49" charset="0"/>
              </a:rPr>
              <a:t>Số</a:t>
            </a:r>
            <a:r>
              <a:rPr lang="en-US" dirty="0">
                <a:effectLst/>
                <a:latin typeface="Consolas" panose="020B0609020204030204" pitchFamily="49" charset="0"/>
              </a:rPr>
              <a:t> </a:t>
            </a:r>
            <a:r>
              <a:rPr lang="en-US" dirty="0" err="1">
                <a:effectLst/>
                <a:latin typeface="Consolas" panose="020B0609020204030204" pitchFamily="49" charset="0"/>
              </a:rPr>
              <a:t>lượng</a:t>
            </a:r>
            <a:r>
              <a:rPr lang="en-US" dirty="0">
                <a:effectLst/>
                <a:latin typeface="Consolas" panose="020B0609020204030204" pitchFamily="49" charset="0"/>
              </a:rPr>
              <a:t> </a:t>
            </a:r>
            <a:r>
              <a:rPr lang="en-US" dirty="0" err="1">
                <a:effectLst/>
                <a:latin typeface="Consolas" panose="020B0609020204030204" pitchFamily="49" charset="0"/>
              </a:rPr>
              <a:t>biến</a:t>
            </a:r>
            <a:r>
              <a:rPr lang="en-US" dirty="0">
                <a:effectLst/>
                <a:latin typeface="Consolas" panose="020B0609020204030204" pitchFamily="49" charset="0"/>
              </a:rPr>
              <a:t> </a:t>
            </a:r>
            <a:r>
              <a:rPr lang="en-US" dirty="0" err="1">
                <a:effectLst/>
                <a:latin typeface="Consolas" panose="020B0609020204030204" pitchFamily="49" charset="0"/>
              </a:rPr>
              <a:t>mục</a:t>
            </a:r>
            <a:r>
              <a:rPr lang="en-US" dirty="0">
                <a:effectLst/>
                <a:latin typeface="Consolas" panose="020B0609020204030204" pitchFamily="49" charset="0"/>
              </a:rPr>
              <a:t> </a:t>
            </a:r>
            <a:r>
              <a:rPr lang="en-US" dirty="0" err="1">
                <a:effectLst/>
                <a:latin typeface="Consolas" panose="020B0609020204030204" pitchFamily="49" charset="0"/>
              </a:rPr>
              <a:t>tiêu</a:t>
            </a:r>
            <a:r>
              <a:rPr lang="en-US" dirty="0">
                <a:effectLst/>
                <a:latin typeface="Consolas" panose="020B0609020204030204" pitchFamily="49" charset="0"/>
              </a:rPr>
              <a:t> </a:t>
            </a:r>
            <a:r>
              <a:rPr lang="en-US" dirty="0" err="1">
                <a:effectLst/>
                <a:latin typeface="Consolas" panose="020B0609020204030204" pitchFamily="49" charset="0"/>
              </a:rPr>
              <a:t>không</a:t>
            </a:r>
            <a:r>
              <a:rPr lang="en-US" dirty="0">
                <a:effectLst/>
                <a:latin typeface="Consolas" panose="020B0609020204030204" pitchFamily="49" charset="0"/>
              </a:rPr>
              <a:t> </a:t>
            </a:r>
            <a:r>
              <a:rPr lang="en-US" dirty="0" err="1">
                <a:effectLst/>
                <a:latin typeface="Consolas" panose="020B0609020204030204" pitchFamily="49" charset="0"/>
              </a:rPr>
              <a:t>cân</a:t>
            </a:r>
            <a:r>
              <a:rPr lang="en-US" dirty="0">
                <a:effectLst/>
                <a:latin typeface="Consolas" panose="020B0609020204030204" pitchFamily="49" charset="0"/>
              </a:rPr>
              <a:t> </a:t>
            </a:r>
            <a:r>
              <a:rPr lang="en-US" dirty="0" err="1">
                <a:effectLst/>
                <a:latin typeface="Consolas" panose="020B0609020204030204" pitchFamily="49" charset="0"/>
              </a:rPr>
              <a:t>bằng</a:t>
            </a:r>
            <a:r>
              <a:rPr lang="en-US" dirty="0">
                <a:effectLst/>
                <a:latin typeface="Consolas" panose="020B0609020204030204" pitchFamily="49" charset="0"/>
              </a:rPr>
              <a:t> </a:t>
            </a:r>
            <a:r>
              <a:rPr lang="en-US" dirty="0" err="1">
                <a:effectLst/>
                <a:latin typeface="Consolas" panose="020B0609020204030204" pitchFamily="49" charset="0"/>
              </a:rPr>
              <a:t>giữa</a:t>
            </a:r>
            <a:r>
              <a:rPr lang="en-US" dirty="0">
                <a:effectLst/>
                <a:latin typeface="Consolas" panose="020B0609020204030204" pitchFamily="49" charset="0"/>
              </a:rPr>
              <a:t> </a:t>
            </a:r>
            <a:r>
              <a:rPr lang="en-US" dirty="0" err="1">
                <a:effectLst/>
                <a:latin typeface="Consolas" panose="020B0609020204030204" pitchFamily="49" charset="0"/>
              </a:rPr>
              <a:t>số</a:t>
            </a:r>
            <a:r>
              <a:rPr lang="en-US" dirty="0">
                <a:effectLst/>
                <a:latin typeface="Consolas" panose="020B0609020204030204" pitchFamily="49" charset="0"/>
              </a:rPr>
              <a:t> </a:t>
            </a:r>
            <a:r>
              <a:rPr lang="en-US" dirty="0" err="1">
                <a:effectLst/>
                <a:latin typeface="Consolas" panose="020B0609020204030204" pitchFamily="49" charset="0"/>
              </a:rPr>
              <a:t>người</a:t>
            </a:r>
            <a:r>
              <a:rPr lang="en-US" dirty="0">
                <a:effectLst/>
                <a:latin typeface="Consolas" panose="020B0609020204030204" pitchFamily="49" charset="0"/>
              </a:rPr>
              <a:t> </a:t>
            </a:r>
            <a:r>
              <a:rPr lang="en-US" dirty="0" err="1">
                <a:effectLst/>
                <a:latin typeface="Consolas" panose="020B0609020204030204" pitchFamily="49" charset="0"/>
              </a:rPr>
              <a:t>sống</a:t>
            </a:r>
            <a:r>
              <a:rPr lang="en-US" dirty="0">
                <a:effectLst/>
                <a:latin typeface="Consolas" panose="020B0609020204030204" pitchFamily="49" charset="0"/>
              </a:rPr>
              <a:t> </a:t>
            </a:r>
            <a:r>
              <a:rPr lang="en-US" dirty="0" err="1">
                <a:effectLst/>
                <a:latin typeface="Consolas" panose="020B0609020204030204" pitchFamily="49" charset="0"/>
              </a:rPr>
              <a:t>sót</a:t>
            </a:r>
            <a:r>
              <a:rPr lang="en-US" dirty="0">
                <a:effectLst/>
                <a:latin typeface="Consolas" panose="020B0609020204030204" pitchFamily="49" charset="0"/>
              </a:rPr>
              <a:t> </a:t>
            </a:r>
            <a:r>
              <a:rPr lang="en-US" dirty="0" err="1">
                <a:effectLst/>
                <a:latin typeface="Consolas" panose="020B0609020204030204" pitchFamily="49" charset="0"/>
              </a:rPr>
              <a:t>và</a:t>
            </a:r>
            <a:r>
              <a:rPr lang="en-US" dirty="0">
                <a:effectLst/>
                <a:latin typeface="Consolas" panose="020B0609020204030204" pitchFamily="49" charset="0"/>
              </a:rPr>
              <a:t> </a:t>
            </a:r>
            <a:r>
              <a:rPr lang="en-US" dirty="0" err="1">
                <a:effectLst/>
                <a:latin typeface="Consolas" panose="020B0609020204030204" pitchFamily="49" charset="0"/>
              </a:rPr>
              <a:t>tử</a:t>
            </a:r>
            <a:r>
              <a:rPr lang="en-US" dirty="0">
                <a:effectLst/>
                <a:latin typeface="Consolas" panose="020B0609020204030204" pitchFamily="49" charset="0"/>
              </a:rPr>
              <a:t> </a:t>
            </a:r>
            <a:r>
              <a:rPr lang="en-US" dirty="0" err="1">
                <a:effectLst/>
                <a:latin typeface="Consolas" panose="020B0609020204030204" pitchFamily="49" charset="0"/>
              </a:rPr>
              <a:t>vong</a:t>
            </a:r>
            <a:endParaRPr lang="en-US" dirty="0">
              <a:effectLst/>
              <a:latin typeface="Consolas" panose="020B0609020204030204" pitchFamily="49" charset="0"/>
            </a:endParaRPr>
          </a:p>
        </p:txBody>
      </p:sp>
    </p:spTree>
    <p:extLst>
      <p:ext uri="{BB962C8B-B14F-4D97-AF65-F5344CB8AC3E}">
        <p14:creationId xmlns:p14="http://schemas.microsoft.com/office/powerpoint/2010/main" val="246478683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barn(inVertic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500"/>
                                        <p:tgtEl>
                                          <p:spTgt spid="28"/>
                                        </p:tgtEl>
                                      </p:cBhvr>
                                    </p:animEffect>
                                    <p:set>
                                      <p:cBhvr>
                                        <p:cTn id="12" dur="1" fill="hold">
                                          <p:stCondLst>
                                            <p:cond delay="499"/>
                                          </p:stCondLst>
                                        </p:cTn>
                                        <p:tgtEl>
                                          <p:spTgt spid="28"/>
                                        </p:tgtEl>
                                        <p:attrNameLst>
                                          <p:attrName>style.visibility</p:attrName>
                                        </p:attrNameLst>
                                      </p:cBhvr>
                                      <p:to>
                                        <p:strVal val="hidden"/>
                                      </p:to>
                                    </p:set>
                                  </p:childTnLst>
                                </p:cTn>
                              </p:par>
                              <p:par>
                                <p:cTn id="13" presetID="10" presetClass="exit" presetSubtype="0" fill="hold" grpId="0" nodeType="withEffect">
                                  <p:stCondLst>
                                    <p:cond delay="0"/>
                                  </p:stCondLst>
                                  <p:childTnLst>
                                    <p:animEffect transition="out" filter="fade">
                                      <p:cBhvr>
                                        <p:cTn id="14" dur="500"/>
                                        <p:tgtEl>
                                          <p:spTgt spid="7"/>
                                        </p:tgtEl>
                                      </p:cBhvr>
                                    </p:animEffect>
                                    <p:set>
                                      <p:cBhvr>
                                        <p:cTn id="15"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8" grpId="0"/>
      <p:bldP spid="28"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33B71-43C9-C701-586F-FCDF7A0522B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A90E506-75B0-B71B-BC28-9E19A9687F45}"/>
              </a:ext>
            </a:extLst>
          </p:cNvPr>
          <p:cNvSpPr txBox="1"/>
          <p:nvPr/>
        </p:nvSpPr>
        <p:spPr>
          <a:xfrm>
            <a:off x="517867" y="870046"/>
            <a:ext cx="9473692" cy="1325880"/>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400" b="1" dirty="0"/>
              <a:t>I. </a:t>
            </a:r>
            <a:r>
              <a:rPr lang="en-US" sz="4400" b="1" dirty="0" err="1"/>
              <a:t>Giới</a:t>
            </a:r>
            <a:r>
              <a:rPr lang="en-US" sz="4400" b="1" dirty="0"/>
              <a:t> </a:t>
            </a:r>
            <a:r>
              <a:rPr lang="en-US" sz="4400" b="1" dirty="0" err="1"/>
              <a:t>thiệu</a:t>
            </a:r>
            <a:endParaRPr lang="en-US" sz="4400" b="1" dirty="0"/>
          </a:p>
        </p:txBody>
      </p:sp>
      <p:sp>
        <p:nvSpPr>
          <p:cNvPr id="28" name="TextBox 27">
            <a:extLst>
              <a:ext uri="{FF2B5EF4-FFF2-40B4-BE49-F238E27FC236}">
                <a16:creationId xmlns:a16="http://schemas.microsoft.com/office/drawing/2014/main" id="{A4C8E51A-6BD6-FEA6-14E0-000799E7E4A1}"/>
              </a:ext>
            </a:extLst>
          </p:cNvPr>
          <p:cNvSpPr txBox="1"/>
          <p:nvPr/>
        </p:nvSpPr>
        <p:spPr>
          <a:xfrm>
            <a:off x="517866" y="1527415"/>
            <a:ext cx="4017557" cy="461665"/>
          </a:xfrm>
          <a:prstGeom prst="rect">
            <a:avLst/>
          </a:prstGeom>
          <a:noFill/>
        </p:spPr>
        <p:txBody>
          <a:bodyPr wrap="square">
            <a:spAutoFit/>
          </a:bodyPr>
          <a:lstStyle/>
          <a:p>
            <a:pPr>
              <a:buNone/>
            </a:pPr>
            <a:r>
              <a:rPr lang="en-US" sz="2400" b="1" u="sng" dirty="0" err="1"/>
              <a:t>Tổng</a:t>
            </a:r>
            <a:r>
              <a:rPr lang="en-US" sz="2400" b="1" u="sng" dirty="0"/>
              <a:t> </a:t>
            </a:r>
            <a:r>
              <a:rPr lang="en-US" sz="2400" b="1" u="sng" dirty="0" err="1"/>
              <a:t>kết</a:t>
            </a:r>
            <a:r>
              <a:rPr lang="en-US" sz="2400" b="1" u="sng" dirty="0"/>
              <a:t>:</a:t>
            </a:r>
          </a:p>
        </p:txBody>
      </p:sp>
      <p:sp>
        <p:nvSpPr>
          <p:cNvPr id="2" name="TextBox 3">
            <a:extLst>
              <a:ext uri="{FF2B5EF4-FFF2-40B4-BE49-F238E27FC236}">
                <a16:creationId xmlns:a16="http://schemas.microsoft.com/office/drawing/2014/main" id="{43AFD143-493D-0F87-62D9-45C0561DEC11}"/>
              </a:ext>
            </a:extLst>
          </p:cNvPr>
          <p:cNvSpPr txBox="1"/>
          <p:nvPr/>
        </p:nvSpPr>
        <p:spPr>
          <a:xfrm>
            <a:off x="1039583" y="1993912"/>
            <a:ext cx="6138457" cy="2229200"/>
          </a:xfrm>
          <a:prstGeom prst="rect">
            <a:avLst/>
          </a:prstGeom>
          <a:noFill/>
        </p:spPr>
        <p:txBody>
          <a:bodyPr wrap="square">
            <a:spAutoFit/>
          </a:bodyPr>
          <a:lstStyle/>
          <a:p>
            <a:pPr>
              <a:lnSpc>
                <a:spcPct val="200000"/>
              </a:lnSpc>
              <a:buNone/>
            </a:pPr>
            <a:r>
              <a:rPr lang="en-US" dirty="0" err="1">
                <a:effectLst/>
                <a:latin typeface="Consolas" panose="020B0609020204030204" pitchFamily="49" charset="0"/>
              </a:rPr>
              <a:t>Số</a:t>
            </a:r>
            <a:r>
              <a:rPr lang="en-US" dirty="0">
                <a:effectLst/>
                <a:latin typeface="Consolas" panose="020B0609020204030204" pitchFamily="49" charset="0"/>
              </a:rPr>
              <a:t> </a:t>
            </a:r>
            <a:r>
              <a:rPr lang="en-US" dirty="0" err="1">
                <a:effectLst/>
                <a:latin typeface="Consolas" panose="020B0609020204030204" pitchFamily="49" charset="0"/>
              </a:rPr>
              <a:t>lượng</a:t>
            </a:r>
            <a:r>
              <a:rPr lang="en-US" dirty="0">
                <a:effectLst/>
                <a:latin typeface="Consolas" panose="020B0609020204030204" pitchFamily="49" charset="0"/>
              </a:rPr>
              <a:t> </a:t>
            </a:r>
            <a:r>
              <a:rPr lang="en-US" dirty="0" err="1">
                <a:effectLst/>
                <a:latin typeface="Consolas" panose="020B0609020204030204" pitchFamily="49" charset="0"/>
              </a:rPr>
              <a:t>biến</a:t>
            </a:r>
            <a:r>
              <a:rPr lang="en-US" dirty="0">
                <a:effectLst/>
                <a:latin typeface="Consolas" panose="020B0609020204030204" pitchFamily="49" charset="0"/>
              </a:rPr>
              <a:t> </a:t>
            </a:r>
            <a:r>
              <a:rPr lang="en-US" dirty="0" err="1">
                <a:effectLst/>
                <a:latin typeface="Consolas" panose="020B0609020204030204" pitchFamily="49" charset="0"/>
              </a:rPr>
              <a:t>mục</a:t>
            </a:r>
            <a:r>
              <a:rPr lang="en-US" dirty="0">
                <a:effectLst/>
                <a:latin typeface="Consolas" panose="020B0609020204030204" pitchFamily="49" charset="0"/>
              </a:rPr>
              <a:t> </a:t>
            </a:r>
            <a:r>
              <a:rPr lang="en-US" dirty="0" err="1">
                <a:effectLst/>
                <a:latin typeface="Consolas" panose="020B0609020204030204" pitchFamily="49" charset="0"/>
              </a:rPr>
              <a:t>tiêu</a:t>
            </a:r>
            <a:r>
              <a:rPr lang="en-US" dirty="0">
                <a:effectLst/>
                <a:latin typeface="Consolas" panose="020B0609020204030204" pitchFamily="49" charset="0"/>
              </a:rPr>
              <a:t> </a:t>
            </a:r>
            <a:r>
              <a:rPr lang="en-US" dirty="0" err="1">
                <a:effectLst/>
                <a:latin typeface="Consolas" panose="020B0609020204030204" pitchFamily="49" charset="0"/>
              </a:rPr>
              <a:t>không</a:t>
            </a:r>
            <a:r>
              <a:rPr lang="en-US" dirty="0">
                <a:effectLst/>
                <a:latin typeface="Consolas" panose="020B0609020204030204" pitchFamily="49" charset="0"/>
              </a:rPr>
              <a:t> </a:t>
            </a:r>
            <a:r>
              <a:rPr lang="en-US" dirty="0" err="1">
                <a:effectLst/>
                <a:latin typeface="Consolas" panose="020B0609020204030204" pitchFamily="49" charset="0"/>
              </a:rPr>
              <a:t>cân</a:t>
            </a:r>
            <a:r>
              <a:rPr lang="en-US" dirty="0">
                <a:effectLst/>
                <a:latin typeface="Consolas" panose="020B0609020204030204" pitchFamily="49" charset="0"/>
              </a:rPr>
              <a:t> </a:t>
            </a:r>
            <a:r>
              <a:rPr lang="en-US" dirty="0" err="1">
                <a:effectLst/>
                <a:latin typeface="Consolas" panose="020B0609020204030204" pitchFamily="49" charset="0"/>
              </a:rPr>
              <a:t>bằng</a:t>
            </a:r>
            <a:endParaRPr lang="en-US" dirty="0">
              <a:effectLst/>
              <a:latin typeface="Consolas" panose="020B0609020204030204" pitchFamily="49" charset="0"/>
            </a:endParaRPr>
          </a:p>
          <a:p>
            <a:pPr>
              <a:lnSpc>
                <a:spcPct val="200000"/>
              </a:lnSpc>
              <a:buNone/>
            </a:pPr>
            <a:r>
              <a:rPr lang="en-US" dirty="0" err="1">
                <a:latin typeface="Consolas" panose="020B0609020204030204" pitchFamily="49" charset="0"/>
              </a:rPr>
              <a:t>Dữ</a:t>
            </a:r>
            <a:r>
              <a:rPr lang="en-US" dirty="0">
                <a:latin typeface="Consolas" panose="020B0609020204030204" pitchFamily="49" charset="0"/>
              </a:rPr>
              <a:t> </a:t>
            </a:r>
            <a:r>
              <a:rPr lang="en-US" dirty="0" err="1">
                <a:latin typeface="Consolas" panose="020B0609020204030204" pitchFamily="49" charset="0"/>
              </a:rPr>
              <a:t>liệu</a:t>
            </a:r>
            <a:r>
              <a:rPr lang="en-US" dirty="0">
                <a:latin typeface="Consolas" panose="020B0609020204030204" pitchFamily="49" charset="0"/>
              </a:rPr>
              <a:t> </a:t>
            </a:r>
            <a:r>
              <a:rPr lang="en-US" dirty="0" err="1">
                <a:latin typeface="Consolas" panose="020B0609020204030204" pitchFamily="49" charset="0"/>
              </a:rPr>
              <a:t>chứa</a:t>
            </a:r>
            <a:r>
              <a:rPr lang="en-US" dirty="0">
                <a:latin typeface="Consolas" panose="020B0609020204030204" pitchFamily="49" charset="0"/>
              </a:rPr>
              <a:t> </a:t>
            </a:r>
            <a:r>
              <a:rPr lang="en-US" dirty="0" err="1">
                <a:latin typeface="Consolas" panose="020B0609020204030204" pitchFamily="49" charset="0"/>
              </a:rPr>
              <a:t>nhiều</a:t>
            </a:r>
            <a:r>
              <a:rPr lang="en-US" dirty="0">
                <a:latin typeface="Consolas" panose="020B0609020204030204" pitchFamily="49" charset="0"/>
              </a:rPr>
              <a:t> </a:t>
            </a:r>
            <a:r>
              <a:rPr lang="en-US" dirty="0" err="1">
                <a:latin typeface="Consolas" panose="020B0609020204030204" pitchFamily="49" charset="0"/>
              </a:rPr>
              <a:t>giá</a:t>
            </a:r>
            <a:r>
              <a:rPr lang="en-US" dirty="0">
                <a:latin typeface="Consolas" panose="020B0609020204030204" pitchFamily="49" charset="0"/>
              </a:rPr>
              <a:t> </a:t>
            </a:r>
            <a:r>
              <a:rPr lang="en-US" dirty="0" err="1">
                <a:latin typeface="Consolas" panose="020B0609020204030204" pitchFamily="49" charset="0"/>
              </a:rPr>
              <a:t>trị</a:t>
            </a:r>
            <a:r>
              <a:rPr lang="en-US" dirty="0">
                <a:latin typeface="Consolas" panose="020B0609020204030204" pitchFamily="49" charset="0"/>
              </a:rPr>
              <a:t> </a:t>
            </a:r>
            <a:r>
              <a:rPr lang="en-US" dirty="0" err="1">
                <a:latin typeface="Consolas" panose="020B0609020204030204" pitchFamily="49" charset="0"/>
              </a:rPr>
              <a:t>bị</a:t>
            </a:r>
            <a:r>
              <a:rPr lang="en-US" dirty="0">
                <a:latin typeface="Consolas" panose="020B0609020204030204" pitchFamily="49" charset="0"/>
              </a:rPr>
              <a:t> </a:t>
            </a:r>
            <a:r>
              <a:rPr lang="en-US" dirty="0" err="1">
                <a:latin typeface="Consolas" panose="020B0609020204030204" pitchFamily="49" charset="0"/>
              </a:rPr>
              <a:t>thiếu</a:t>
            </a:r>
            <a:endParaRPr lang="en-US" dirty="0">
              <a:latin typeface="Consolas" panose="020B0609020204030204" pitchFamily="49" charset="0"/>
            </a:endParaRPr>
          </a:p>
          <a:p>
            <a:pPr>
              <a:lnSpc>
                <a:spcPct val="200000"/>
              </a:lnSpc>
              <a:buNone/>
            </a:pPr>
            <a:r>
              <a:rPr lang="en-US" dirty="0" err="1">
                <a:effectLst/>
                <a:latin typeface="Consolas" panose="020B0609020204030204" pitchFamily="49" charset="0"/>
              </a:rPr>
              <a:t>Nhiều</a:t>
            </a:r>
            <a:r>
              <a:rPr lang="en-US" dirty="0">
                <a:effectLst/>
                <a:latin typeface="Consolas" panose="020B0609020204030204" pitchFamily="49" charset="0"/>
              </a:rPr>
              <a:t> </a:t>
            </a:r>
            <a:r>
              <a:rPr lang="en-US" dirty="0" err="1">
                <a:effectLst/>
                <a:latin typeface="Consolas" panose="020B0609020204030204" pitchFamily="49" charset="0"/>
              </a:rPr>
              <a:t>đặc</a:t>
            </a:r>
            <a:r>
              <a:rPr lang="en-US" dirty="0">
                <a:effectLst/>
                <a:latin typeface="Consolas" panose="020B0609020204030204" pitchFamily="49" charset="0"/>
              </a:rPr>
              <a:t> </a:t>
            </a:r>
            <a:r>
              <a:rPr lang="en-US" dirty="0" err="1">
                <a:effectLst/>
                <a:latin typeface="Consolas" panose="020B0609020204030204" pitchFamily="49" charset="0"/>
              </a:rPr>
              <a:t>trưng</a:t>
            </a:r>
            <a:r>
              <a:rPr lang="en-US" dirty="0">
                <a:effectLst/>
                <a:latin typeface="Consolas" panose="020B0609020204030204" pitchFamily="49" charset="0"/>
              </a:rPr>
              <a:t> </a:t>
            </a:r>
            <a:r>
              <a:rPr lang="en-US" dirty="0" err="1">
                <a:effectLst/>
                <a:latin typeface="Consolas" panose="020B0609020204030204" pitchFamily="49" charset="0"/>
              </a:rPr>
              <a:t>cần</a:t>
            </a:r>
            <a:r>
              <a:rPr lang="en-US" dirty="0">
                <a:effectLst/>
                <a:latin typeface="Consolas" panose="020B0609020204030204" pitchFamily="49" charset="0"/>
              </a:rPr>
              <a:t> </a:t>
            </a:r>
            <a:r>
              <a:rPr lang="en-US" dirty="0" err="1">
                <a:effectLst/>
                <a:latin typeface="Consolas" panose="020B0609020204030204" pitchFamily="49" charset="0"/>
              </a:rPr>
              <a:t>xử</a:t>
            </a:r>
            <a:r>
              <a:rPr lang="en-US" dirty="0">
                <a:effectLst/>
                <a:latin typeface="Consolas" panose="020B0609020204030204" pitchFamily="49" charset="0"/>
              </a:rPr>
              <a:t> </a:t>
            </a:r>
            <a:r>
              <a:rPr lang="en-US" dirty="0" err="1">
                <a:effectLst/>
                <a:latin typeface="Consolas" panose="020B0609020204030204" pitchFamily="49" charset="0"/>
              </a:rPr>
              <a:t>lý</a:t>
            </a:r>
            <a:r>
              <a:rPr lang="en-US" dirty="0">
                <a:effectLst/>
                <a:latin typeface="Consolas" panose="020B0609020204030204" pitchFamily="49" charset="0"/>
              </a:rPr>
              <a:t> (</a:t>
            </a:r>
            <a:r>
              <a:rPr lang="en-US" dirty="0" err="1">
                <a:effectLst/>
                <a:latin typeface="Consolas" panose="020B0609020204030204" pitchFamily="49" charset="0"/>
              </a:rPr>
              <a:t>Sex,Pclass,Embarked</a:t>
            </a:r>
            <a:r>
              <a:rPr lang="en-US" dirty="0">
                <a:effectLst/>
                <a:latin typeface="Consolas" panose="020B0609020204030204" pitchFamily="49" charset="0"/>
              </a:rPr>
              <a:t>)</a:t>
            </a:r>
          </a:p>
          <a:p>
            <a:pPr>
              <a:lnSpc>
                <a:spcPct val="200000"/>
              </a:lnSpc>
              <a:buNone/>
            </a:pPr>
            <a:r>
              <a:rPr lang="en-US" dirty="0" err="1">
                <a:latin typeface="Consolas" panose="020B0609020204030204" pitchFamily="49" charset="0"/>
              </a:rPr>
              <a:t>Mô</a:t>
            </a:r>
            <a:r>
              <a:rPr lang="en-US" dirty="0">
                <a:latin typeface="Consolas" panose="020B0609020204030204" pitchFamily="49" charset="0"/>
              </a:rPr>
              <a:t> </a:t>
            </a:r>
            <a:r>
              <a:rPr lang="en-US" dirty="0" err="1">
                <a:latin typeface="Consolas" panose="020B0609020204030204" pitchFamily="49" charset="0"/>
              </a:rPr>
              <a:t>hình</a:t>
            </a:r>
            <a:r>
              <a:rPr lang="en-US" dirty="0">
                <a:latin typeface="Consolas" panose="020B0609020204030204" pitchFamily="49" charset="0"/>
              </a:rPr>
              <a:t> </a:t>
            </a:r>
            <a:r>
              <a:rPr lang="en-US" dirty="0" err="1">
                <a:latin typeface="Consolas" panose="020B0609020204030204" pitchFamily="49" charset="0"/>
              </a:rPr>
              <a:t>dữ</a:t>
            </a:r>
            <a:r>
              <a:rPr lang="en-US" dirty="0">
                <a:latin typeface="Consolas" panose="020B0609020204030204" pitchFamily="49" charset="0"/>
              </a:rPr>
              <a:t> </a:t>
            </a:r>
            <a:r>
              <a:rPr lang="en-US" dirty="0" err="1">
                <a:latin typeface="Consolas" panose="020B0609020204030204" pitchFamily="49" charset="0"/>
              </a:rPr>
              <a:t>liệu</a:t>
            </a:r>
            <a:r>
              <a:rPr lang="en-US" dirty="0">
                <a:latin typeface="Consolas" panose="020B0609020204030204" pitchFamily="49" charset="0"/>
              </a:rPr>
              <a:t> </a:t>
            </a:r>
            <a:r>
              <a:rPr lang="en-US" dirty="0" err="1">
                <a:latin typeface="Consolas" panose="020B0609020204030204" pitchFamily="49" charset="0"/>
              </a:rPr>
              <a:t>khá</a:t>
            </a:r>
            <a:r>
              <a:rPr lang="en-US" dirty="0">
                <a:latin typeface="Consolas" panose="020B0609020204030204" pitchFamily="49" charset="0"/>
              </a:rPr>
              <a:t> </a:t>
            </a:r>
            <a:r>
              <a:rPr lang="en-US" dirty="0" err="1">
                <a:latin typeface="Consolas" panose="020B0609020204030204" pitchFamily="49" charset="0"/>
              </a:rPr>
              <a:t>nhỏ</a:t>
            </a:r>
            <a:r>
              <a:rPr lang="en-US" dirty="0">
                <a:latin typeface="Consolas" panose="020B0609020204030204" pitchFamily="49" charset="0"/>
              </a:rPr>
              <a:t> </a:t>
            </a:r>
            <a:r>
              <a:rPr lang="en-US" dirty="0" err="1">
                <a:latin typeface="Consolas" panose="020B0609020204030204" pitchFamily="49" charset="0"/>
              </a:rPr>
              <a:t>nên</a:t>
            </a:r>
            <a:r>
              <a:rPr lang="en-US" dirty="0">
                <a:latin typeface="Consolas" panose="020B0609020204030204" pitchFamily="49" charset="0"/>
              </a:rPr>
              <a:t> </a:t>
            </a:r>
            <a:r>
              <a:rPr lang="en-US" dirty="0" err="1">
                <a:latin typeface="Consolas" panose="020B0609020204030204" pitchFamily="49" charset="0"/>
              </a:rPr>
              <a:t>dễ</a:t>
            </a:r>
            <a:r>
              <a:rPr lang="en-US" dirty="0">
                <a:latin typeface="Consolas" panose="020B0609020204030204" pitchFamily="49" charset="0"/>
              </a:rPr>
              <a:t> </a:t>
            </a:r>
            <a:r>
              <a:rPr lang="en-US" dirty="0" err="1">
                <a:latin typeface="Consolas" panose="020B0609020204030204" pitchFamily="49" charset="0"/>
              </a:rPr>
              <a:t>bị</a:t>
            </a:r>
            <a:r>
              <a:rPr lang="en-US" dirty="0">
                <a:latin typeface="Consolas" panose="020B0609020204030204" pitchFamily="49" charset="0"/>
              </a:rPr>
              <a:t> overfit</a:t>
            </a:r>
            <a:endParaRPr lang="en-US" dirty="0">
              <a:effectLst/>
              <a:latin typeface="Consolas" panose="020B0609020204030204" pitchFamily="49" charset="0"/>
            </a:endParaRPr>
          </a:p>
        </p:txBody>
      </p:sp>
      <p:pic>
        <p:nvPicPr>
          <p:cNvPr id="4" name="Hình ảnh 3">
            <a:extLst>
              <a:ext uri="{FF2B5EF4-FFF2-40B4-BE49-F238E27FC236}">
                <a16:creationId xmlns:a16="http://schemas.microsoft.com/office/drawing/2014/main" id="{C8222BDC-0800-F52E-D7A3-378120C5DC7F}"/>
              </a:ext>
            </a:extLst>
          </p:cNvPr>
          <p:cNvPicPr>
            <a:picLocks noChangeAspect="1"/>
          </p:cNvPicPr>
          <p:nvPr/>
        </p:nvPicPr>
        <p:blipFill>
          <a:blip r:embed="rId2"/>
          <a:stretch>
            <a:fillRect/>
          </a:stretch>
        </p:blipFill>
        <p:spPr>
          <a:xfrm>
            <a:off x="7370572" y="1223654"/>
            <a:ext cx="3600953" cy="4410691"/>
          </a:xfrm>
          <a:prstGeom prst="rect">
            <a:avLst/>
          </a:prstGeom>
        </p:spPr>
      </p:pic>
      <p:pic>
        <p:nvPicPr>
          <p:cNvPr id="9" name="Hình ảnh 8">
            <a:extLst>
              <a:ext uri="{FF2B5EF4-FFF2-40B4-BE49-F238E27FC236}">
                <a16:creationId xmlns:a16="http://schemas.microsoft.com/office/drawing/2014/main" id="{B69AA19E-10A6-2075-BBB4-E0DC3A7F5323}"/>
              </a:ext>
            </a:extLst>
          </p:cNvPr>
          <p:cNvPicPr>
            <a:picLocks noChangeAspect="1"/>
          </p:cNvPicPr>
          <p:nvPr/>
        </p:nvPicPr>
        <p:blipFill>
          <a:blip r:embed="rId3"/>
          <a:stretch>
            <a:fillRect/>
          </a:stretch>
        </p:blipFill>
        <p:spPr>
          <a:xfrm>
            <a:off x="874991" y="5026045"/>
            <a:ext cx="5939799" cy="1524213"/>
          </a:xfrm>
          <a:prstGeom prst="rect">
            <a:avLst/>
          </a:prstGeom>
        </p:spPr>
      </p:pic>
    </p:spTree>
    <p:extLst>
      <p:ext uri="{BB962C8B-B14F-4D97-AF65-F5344CB8AC3E}">
        <p14:creationId xmlns:p14="http://schemas.microsoft.com/office/powerpoint/2010/main" val="115879152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barn(inVertic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500"/>
                                        <p:tgtEl>
                                          <p:spTgt spid="28"/>
                                        </p:tgtEl>
                                      </p:cBhvr>
                                    </p:animEffect>
                                    <p:set>
                                      <p:cBhvr>
                                        <p:cTn id="12" dur="1" fill="hold">
                                          <p:stCondLst>
                                            <p:cond delay="499"/>
                                          </p:stCondLst>
                                        </p:cTn>
                                        <p:tgtEl>
                                          <p:spTgt spid="28"/>
                                        </p:tgtEl>
                                        <p:attrNameLst>
                                          <p:attrName>style.visibility</p:attrName>
                                        </p:attrNameLst>
                                      </p:cBhvr>
                                      <p:to>
                                        <p:strVal val="hidden"/>
                                      </p:to>
                                    </p:set>
                                  </p:childTnLst>
                                </p:cTn>
                              </p:par>
                              <p:par>
                                <p:cTn id="13" presetID="10" presetClass="exit" presetSubtype="0" fill="hold" grpId="0" nodeType="withEffect">
                                  <p:stCondLst>
                                    <p:cond delay="0"/>
                                  </p:stCondLst>
                                  <p:childTnLst>
                                    <p:animEffect transition="out" filter="fade">
                                      <p:cBhvr>
                                        <p:cTn id="14" dur="500"/>
                                        <p:tgtEl>
                                          <p:spTgt spid="7"/>
                                        </p:tgtEl>
                                      </p:cBhvr>
                                    </p:animEffect>
                                    <p:set>
                                      <p:cBhvr>
                                        <p:cTn id="15"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8" grpId="0"/>
      <p:bldP spid="28"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DDC2D-6FD8-BCE6-3C39-CBEB55DDE45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04BDFEA-1051-7331-9E3E-2513EA1C5199}"/>
              </a:ext>
            </a:extLst>
          </p:cNvPr>
          <p:cNvSpPr txBox="1"/>
          <p:nvPr/>
        </p:nvSpPr>
        <p:spPr>
          <a:xfrm>
            <a:off x="517867" y="713232"/>
            <a:ext cx="9473692" cy="850392"/>
          </a:xfrm>
          <a:prstGeom prst="rect">
            <a:avLst/>
          </a:prstGeom>
        </p:spPr>
        <p:txBody>
          <a:bodyPr vert="horz" lIns="91440" tIns="45720" rIns="91440" bIns="45720" rtlCol="0" anchor="t">
            <a:normAutofit fontScale="85000" lnSpcReduction="20000"/>
          </a:bodyPr>
          <a:lstStyle/>
          <a:p>
            <a:pPr>
              <a:lnSpc>
                <a:spcPct val="9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endParaRPr lang="en-US" sz="4400" b="1" dirty="0"/>
          </a:p>
          <a:p>
            <a:pPr>
              <a:lnSpc>
                <a:spcPct val="90000"/>
              </a:lnSpc>
              <a:spcBef>
                <a:spcPct val="0"/>
              </a:spcBef>
              <a:spcAft>
                <a:spcPts val="600"/>
              </a:spcAft>
            </a:pPr>
            <a:r>
              <a:rPr lang="en-US" sz="2600" u="sng" dirty="0" err="1"/>
              <a:t>Quá</a:t>
            </a:r>
            <a:r>
              <a:rPr lang="en-US" sz="2600" u="sng" dirty="0"/>
              <a:t> </a:t>
            </a:r>
            <a:r>
              <a:rPr lang="en-US" sz="2600" u="sng" dirty="0" err="1"/>
              <a:t>trình</a:t>
            </a:r>
            <a:r>
              <a:rPr lang="en-US" sz="2600" u="sng" dirty="0"/>
              <a:t>:</a:t>
            </a:r>
          </a:p>
        </p:txBody>
      </p:sp>
      <p:graphicFrame>
        <p:nvGraphicFramePr>
          <p:cNvPr id="3" name="Sơ đồ 2">
            <a:extLst>
              <a:ext uri="{FF2B5EF4-FFF2-40B4-BE49-F238E27FC236}">
                <a16:creationId xmlns:a16="http://schemas.microsoft.com/office/drawing/2014/main" id="{8D7FD18E-D576-7B79-E207-12F50A4E5497}"/>
              </a:ext>
            </a:extLst>
          </p:cNvPr>
          <p:cNvGraphicFramePr/>
          <p:nvPr>
            <p:extLst>
              <p:ext uri="{D42A27DB-BD31-4B8C-83A1-F6EECF244321}">
                <p14:modId xmlns:p14="http://schemas.microsoft.com/office/powerpoint/2010/main" val="366672221"/>
              </p:ext>
            </p:extLst>
          </p:nvPr>
        </p:nvGraphicFramePr>
        <p:xfrm>
          <a:off x="1863559" y="1439333"/>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8622071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72460-3A6A-A0EF-8EE5-5B271E065AF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54FC018-6582-0C76-4ECC-1A023F19875B}"/>
              </a:ext>
            </a:extLst>
          </p:cNvPr>
          <p:cNvSpPr txBox="1"/>
          <p:nvPr/>
        </p:nvSpPr>
        <p:spPr>
          <a:xfrm>
            <a:off x="517867" y="713232"/>
            <a:ext cx="9473692" cy="850392"/>
          </a:xfrm>
          <a:prstGeom prst="rect">
            <a:avLst/>
          </a:prstGeom>
        </p:spPr>
        <p:txBody>
          <a:bodyPr vert="horz" lIns="91440" tIns="45720" rIns="91440" bIns="45720" rtlCol="0" anchor="t">
            <a:normAutofit fontScale="85000" lnSpcReduction="20000"/>
          </a:bodyPr>
          <a:lstStyle/>
          <a:p>
            <a:pPr>
              <a:lnSpc>
                <a:spcPct val="9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endParaRPr lang="en-US" sz="4400" b="1" dirty="0"/>
          </a:p>
          <a:p>
            <a:pPr>
              <a:lnSpc>
                <a:spcPct val="90000"/>
              </a:lnSpc>
              <a:spcBef>
                <a:spcPct val="0"/>
              </a:spcBef>
              <a:spcAft>
                <a:spcPts val="600"/>
              </a:spcAft>
            </a:pPr>
            <a:r>
              <a:rPr lang="en-US" sz="2800" u="sng" dirty="0"/>
              <a:t>Exploratory Data Analysis (EDA)</a:t>
            </a:r>
            <a:endParaRPr lang="en-US" sz="2600" u="sng" dirty="0"/>
          </a:p>
        </p:txBody>
      </p:sp>
      <p:pic>
        <p:nvPicPr>
          <p:cNvPr id="4" name="Hình ảnh 3" descr="Ảnh có chứa văn bản, ảnh chụp màn hình, biểu đồ, phần mềm&#10;&#10;Nội dung do AI tạo ra có thể không chính xác.">
            <a:extLst>
              <a:ext uri="{FF2B5EF4-FFF2-40B4-BE49-F238E27FC236}">
                <a16:creationId xmlns:a16="http://schemas.microsoft.com/office/drawing/2014/main" id="{D4BBC839-8CC8-C9DE-5139-98532E0473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7867" y="1563624"/>
            <a:ext cx="4685069" cy="2661075"/>
          </a:xfrm>
          <a:prstGeom prst="rect">
            <a:avLst/>
          </a:prstGeom>
        </p:spPr>
      </p:pic>
      <p:pic>
        <p:nvPicPr>
          <p:cNvPr id="9" name="Hình ảnh 8" descr="Ảnh có chứa văn bản, ảnh chụp màn hình, biểu đồ, hàng&#10;&#10;Nội dung do AI tạo ra có thể không chính xác.">
            <a:extLst>
              <a:ext uri="{FF2B5EF4-FFF2-40B4-BE49-F238E27FC236}">
                <a16:creationId xmlns:a16="http://schemas.microsoft.com/office/drawing/2014/main" id="{6AA42C1F-AEAE-C4BA-0DFB-0F0185BBCE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11907" y="4225097"/>
            <a:ext cx="2488818" cy="2212283"/>
          </a:xfrm>
          <a:prstGeom prst="rect">
            <a:avLst/>
          </a:prstGeom>
        </p:spPr>
      </p:pic>
      <p:pic>
        <p:nvPicPr>
          <p:cNvPr id="13" name="Hình ảnh 12" descr="Ảnh có chứa văn bản, ảnh chụp màn hình, biểu đồ, Sơ đồ&#10;&#10;Nội dung do AI tạo ra có thể không chính xác.">
            <a:extLst>
              <a:ext uri="{FF2B5EF4-FFF2-40B4-BE49-F238E27FC236}">
                <a16:creationId xmlns:a16="http://schemas.microsoft.com/office/drawing/2014/main" id="{2E0EB654-326B-20C5-5396-CDCF5075FBC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592" y="4224699"/>
            <a:ext cx="3089315" cy="2212681"/>
          </a:xfrm>
          <a:prstGeom prst="rect">
            <a:avLst/>
          </a:prstGeom>
        </p:spPr>
      </p:pic>
      <p:sp>
        <p:nvSpPr>
          <p:cNvPr id="14" name="TextBox 3">
            <a:extLst>
              <a:ext uri="{FF2B5EF4-FFF2-40B4-BE49-F238E27FC236}">
                <a16:creationId xmlns:a16="http://schemas.microsoft.com/office/drawing/2014/main" id="{43282DF0-7BA3-09EF-23F6-755A593E65F5}"/>
              </a:ext>
            </a:extLst>
          </p:cNvPr>
          <p:cNvSpPr txBox="1"/>
          <p:nvPr/>
        </p:nvSpPr>
        <p:spPr>
          <a:xfrm>
            <a:off x="5800725" y="2107450"/>
            <a:ext cx="5181219" cy="1200329"/>
          </a:xfrm>
          <a:prstGeom prst="rect">
            <a:avLst/>
          </a:prstGeom>
          <a:noFill/>
        </p:spPr>
        <p:txBody>
          <a:bodyPr wrap="square">
            <a:spAutoFit/>
          </a:bodyPr>
          <a:lstStyle/>
          <a:p>
            <a:pPr>
              <a:buNone/>
            </a:pPr>
            <a:r>
              <a:rPr lang="en-US" dirty="0">
                <a:latin typeface="Consolas" panose="020B0609020204030204" pitchFamily="49" charset="0"/>
              </a:rPr>
              <a:t>Sex </a:t>
            </a:r>
            <a:r>
              <a:rPr lang="en-US" dirty="0" err="1">
                <a:latin typeface="Consolas" panose="020B0609020204030204" pitchFamily="49" charset="0"/>
              </a:rPr>
              <a:t>là</a:t>
            </a:r>
            <a:r>
              <a:rPr lang="en-US" dirty="0">
                <a:latin typeface="Consolas" panose="020B0609020204030204" pitchFamily="49" charset="0"/>
              </a:rPr>
              <a:t> </a:t>
            </a:r>
            <a:r>
              <a:rPr lang="en-US" dirty="0" err="1">
                <a:latin typeface="Consolas" panose="020B0609020204030204" pitchFamily="49" charset="0"/>
              </a:rPr>
              <a:t>một</a:t>
            </a:r>
            <a:r>
              <a:rPr lang="en-US" dirty="0">
                <a:latin typeface="Consolas" panose="020B0609020204030204" pitchFamily="49" charset="0"/>
              </a:rPr>
              <a:t> </a:t>
            </a:r>
            <a:r>
              <a:rPr lang="en-US" dirty="0" err="1">
                <a:latin typeface="Consolas" panose="020B0609020204030204" pitchFamily="49" charset="0"/>
              </a:rPr>
              <a:t>đặc</a:t>
            </a:r>
            <a:r>
              <a:rPr lang="en-US" dirty="0">
                <a:latin typeface="Consolas" panose="020B0609020204030204" pitchFamily="49" charset="0"/>
              </a:rPr>
              <a:t> </a:t>
            </a:r>
            <a:r>
              <a:rPr lang="en-US" dirty="0" err="1">
                <a:latin typeface="Consolas" panose="020B0609020204030204" pitchFamily="49" charset="0"/>
              </a:rPr>
              <a:t>trưng</a:t>
            </a:r>
            <a:r>
              <a:rPr lang="en-US" dirty="0">
                <a:latin typeface="Consolas" panose="020B0609020204030204" pitchFamily="49" charset="0"/>
              </a:rPr>
              <a:t> </a:t>
            </a:r>
            <a:r>
              <a:rPr lang="en-US" dirty="0" err="1">
                <a:latin typeface="Consolas" panose="020B0609020204030204" pitchFamily="49" charset="0"/>
              </a:rPr>
              <a:t>có</a:t>
            </a:r>
            <a:r>
              <a:rPr lang="en-US" dirty="0">
                <a:latin typeface="Consolas" panose="020B0609020204030204" pitchFamily="49" charset="0"/>
              </a:rPr>
              <a:t> </a:t>
            </a:r>
            <a:r>
              <a:rPr lang="en-US" dirty="0" err="1">
                <a:latin typeface="Consolas" panose="020B0609020204030204" pitchFamily="49" charset="0"/>
              </a:rPr>
              <a:t>yếu</a:t>
            </a:r>
            <a:r>
              <a:rPr lang="en-US" dirty="0">
                <a:latin typeface="Consolas" panose="020B0609020204030204" pitchFamily="49" charset="0"/>
              </a:rPr>
              <a:t> </a:t>
            </a:r>
            <a:r>
              <a:rPr lang="en-US" dirty="0" err="1">
                <a:latin typeface="Consolas" panose="020B0609020204030204" pitchFamily="49" charset="0"/>
              </a:rPr>
              <a:t>tố</a:t>
            </a:r>
            <a:r>
              <a:rPr lang="en-US" dirty="0">
                <a:latin typeface="Consolas" panose="020B0609020204030204" pitchFamily="49" charset="0"/>
              </a:rPr>
              <a:t> </a:t>
            </a:r>
            <a:r>
              <a:rPr lang="en-US" dirty="0" err="1">
                <a:latin typeface="Consolas" panose="020B0609020204030204" pitchFamily="49" charset="0"/>
              </a:rPr>
              <a:t>dự</a:t>
            </a:r>
            <a:r>
              <a:rPr lang="en-US" dirty="0">
                <a:latin typeface="Consolas" panose="020B0609020204030204" pitchFamily="49" charset="0"/>
              </a:rPr>
              <a:t> </a:t>
            </a:r>
            <a:r>
              <a:rPr lang="en-US" dirty="0" err="1">
                <a:latin typeface="Consolas" panose="020B0609020204030204" pitchFamily="49" charset="0"/>
              </a:rPr>
              <a:t>đoán</a:t>
            </a:r>
            <a:r>
              <a:rPr lang="en-US" dirty="0">
                <a:latin typeface="Consolas" panose="020B0609020204030204" pitchFamily="49" charset="0"/>
              </a:rPr>
              <a:t> </a:t>
            </a:r>
            <a:r>
              <a:rPr lang="en-US" dirty="0" err="1">
                <a:latin typeface="Consolas" panose="020B0609020204030204" pitchFamily="49" charset="0"/>
              </a:rPr>
              <a:t>mạnh</a:t>
            </a:r>
            <a:r>
              <a:rPr lang="en-US" dirty="0">
                <a:latin typeface="Consolas" panose="020B0609020204030204" pitchFamily="49" charset="0"/>
              </a:rPr>
              <a:t> </a:t>
            </a:r>
            <a:r>
              <a:rPr lang="en-US" dirty="0" err="1">
                <a:latin typeface="Consolas" panose="020B0609020204030204" pitchFamily="49" charset="0"/>
              </a:rPr>
              <a:t>về</a:t>
            </a:r>
            <a:r>
              <a:rPr lang="en-US" dirty="0">
                <a:latin typeface="Consolas" panose="020B0609020204030204" pitchFamily="49" charset="0"/>
              </a:rPr>
              <a:t> </a:t>
            </a:r>
            <a:r>
              <a:rPr lang="en-US" dirty="0" err="1">
                <a:latin typeface="Consolas" panose="020B0609020204030204" pitchFamily="49" charset="0"/>
              </a:rPr>
              <a:t>khả</a:t>
            </a:r>
            <a:r>
              <a:rPr lang="en-US" dirty="0">
                <a:latin typeface="Consolas" panose="020B0609020204030204" pitchFamily="49" charset="0"/>
              </a:rPr>
              <a:t> </a:t>
            </a:r>
            <a:r>
              <a:rPr lang="en-US" dirty="0" err="1">
                <a:latin typeface="Consolas" panose="020B0609020204030204" pitchFamily="49" charset="0"/>
              </a:rPr>
              <a:t>năng</a:t>
            </a:r>
            <a:r>
              <a:rPr lang="en-US" dirty="0">
                <a:latin typeface="Consolas" panose="020B0609020204030204" pitchFamily="49" charset="0"/>
              </a:rPr>
              <a:t> </a:t>
            </a:r>
            <a:r>
              <a:rPr lang="en-US" dirty="0" err="1">
                <a:latin typeface="Consolas" panose="020B0609020204030204" pitchFamily="49" charset="0"/>
              </a:rPr>
              <a:t>sống</a:t>
            </a:r>
            <a:r>
              <a:rPr lang="en-US" dirty="0">
                <a:latin typeface="Consolas" panose="020B0609020204030204" pitchFamily="49" charset="0"/>
              </a:rPr>
              <a:t> </a:t>
            </a:r>
            <a:r>
              <a:rPr lang="en-US" dirty="0" err="1">
                <a:latin typeface="Consolas" panose="020B0609020204030204" pitchFamily="49" charset="0"/>
              </a:rPr>
              <a:t>sót</a:t>
            </a:r>
            <a:r>
              <a:rPr lang="en-US" dirty="0">
                <a:latin typeface="Consolas" panose="020B0609020204030204" pitchFamily="49" charset="0"/>
              </a:rPr>
              <a:t>. Do “</a:t>
            </a:r>
            <a:r>
              <a:rPr lang="en-US" dirty="0" err="1">
                <a:latin typeface="Consolas" panose="020B0609020204030204" pitchFamily="49" charset="0"/>
              </a:rPr>
              <a:t>Phụ</a:t>
            </a:r>
            <a:r>
              <a:rPr lang="en-US" dirty="0">
                <a:latin typeface="Consolas" panose="020B0609020204030204" pitchFamily="49" charset="0"/>
              </a:rPr>
              <a:t> </a:t>
            </a:r>
            <a:r>
              <a:rPr lang="en-US" dirty="0" err="1">
                <a:latin typeface="Consolas" panose="020B0609020204030204" pitchFamily="49" charset="0"/>
              </a:rPr>
              <a:t>nữ</a:t>
            </a:r>
            <a:r>
              <a:rPr lang="en-US" dirty="0">
                <a:latin typeface="Consolas" panose="020B0609020204030204" pitchFamily="49" charset="0"/>
              </a:rPr>
              <a:t> </a:t>
            </a:r>
            <a:r>
              <a:rPr lang="en-US" dirty="0" err="1">
                <a:latin typeface="Consolas" panose="020B0609020204030204" pitchFamily="49" charset="0"/>
              </a:rPr>
              <a:t>và</a:t>
            </a:r>
            <a:r>
              <a:rPr lang="en-US" dirty="0">
                <a:latin typeface="Consolas" panose="020B0609020204030204" pitchFamily="49" charset="0"/>
              </a:rPr>
              <a:t> </a:t>
            </a:r>
            <a:r>
              <a:rPr lang="en-US" dirty="0" err="1">
                <a:latin typeface="Consolas" panose="020B0609020204030204" pitchFamily="49" charset="0"/>
              </a:rPr>
              <a:t>trẻ</a:t>
            </a:r>
            <a:r>
              <a:rPr lang="en-US" dirty="0">
                <a:latin typeface="Consolas" panose="020B0609020204030204" pitchFamily="49" charset="0"/>
              </a:rPr>
              <a:t> </a:t>
            </a:r>
            <a:r>
              <a:rPr lang="en-US" dirty="0" err="1">
                <a:latin typeface="Consolas" panose="020B0609020204030204" pitchFamily="49" charset="0"/>
              </a:rPr>
              <a:t>em</a:t>
            </a:r>
            <a:r>
              <a:rPr lang="en-US" dirty="0">
                <a:latin typeface="Consolas" panose="020B0609020204030204" pitchFamily="49" charset="0"/>
              </a:rPr>
              <a:t> </a:t>
            </a:r>
            <a:r>
              <a:rPr lang="en-US" dirty="0" err="1">
                <a:latin typeface="Consolas" panose="020B0609020204030204" pitchFamily="49" charset="0"/>
              </a:rPr>
              <a:t>được</a:t>
            </a:r>
            <a:r>
              <a:rPr lang="en-US" dirty="0">
                <a:latin typeface="Consolas" panose="020B0609020204030204" pitchFamily="49" charset="0"/>
              </a:rPr>
              <a:t> </a:t>
            </a:r>
            <a:r>
              <a:rPr lang="en-US" dirty="0" err="1">
                <a:latin typeface="Consolas" panose="020B0609020204030204" pitchFamily="49" charset="0"/>
              </a:rPr>
              <a:t>ưu</a:t>
            </a:r>
            <a:r>
              <a:rPr lang="en-US" dirty="0">
                <a:latin typeface="Consolas" panose="020B0609020204030204" pitchFamily="49" charset="0"/>
              </a:rPr>
              <a:t> </a:t>
            </a:r>
            <a:r>
              <a:rPr lang="en-US" dirty="0" err="1">
                <a:latin typeface="Consolas" panose="020B0609020204030204" pitchFamily="49" charset="0"/>
              </a:rPr>
              <a:t>tiên</a:t>
            </a:r>
            <a:r>
              <a:rPr lang="en-US" dirty="0">
                <a:latin typeface="Consolas" panose="020B0609020204030204" pitchFamily="49" charset="0"/>
              </a:rPr>
              <a:t>” do </a:t>
            </a:r>
            <a:r>
              <a:rPr lang="en-US" dirty="0" err="1">
                <a:latin typeface="Consolas" panose="020B0609020204030204" pitchFamily="49" charset="0"/>
              </a:rPr>
              <a:t>đó</a:t>
            </a:r>
            <a:r>
              <a:rPr lang="en-US" dirty="0">
                <a:latin typeface="Consolas" panose="020B0609020204030204" pitchFamily="49" charset="0"/>
              </a:rPr>
              <a:t> </a:t>
            </a:r>
            <a:r>
              <a:rPr lang="en-US" dirty="0" err="1">
                <a:latin typeface="Consolas" panose="020B0609020204030204" pitchFamily="49" charset="0"/>
              </a:rPr>
              <a:t>nữ</a:t>
            </a:r>
            <a:r>
              <a:rPr lang="en-US" dirty="0">
                <a:latin typeface="Consolas" panose="020B0609020204030204" pitchFamily="49" charset="0"/>
              </a:rPr>
              <a:t> </a:t>
            </a:r>
            <a:r>
              <a:rPr lang="en-US" dirty="0" err="1">
                <a:latin typeface="Consolas" panose="020B0609020204030204" pitchFamily="49" charset="0"/>
              </a:rPr>
              <a:t>giới</a:t>
            </a:r>
            <a:r>
              <a:rPr lang="en-US" dirty="0">
                <a:latin typeface="Consolas" panose="020B0609020204030204" pitchFamily="49" charset="0"/>
              </a:rPr>
              <a:t> </a:t>
            </a:r>
            <a:r>
              <a:rPr lang="en-US" dirty="0" err="1">
                <a:latin typeface="Consolas" panose="020B0609020204030204" pitchFamily="49" charset="0"/>
              </a:rPr>
              <a:t>có</a:t>
            </a:r>
            <a:r>
              <a:rPr lang="en-US" dirty="0">
                <a:latin typeface="Consolas" panose="020B0609020204030204" pitchFamily="49" charset="0"/>
              </a:rPr>
              <a:t> </a:t>
            </a:r>
            <a:r>
              <a:rPr lang="en-US" dirty="0" err="1">
                <a:latin typeface="Consolas" panose="020B0609020204030204" pitchFamily="49" charset="0"/>
              </a:rPr>
              <a:t>tỉ</a:t>
            </a:r>
            <a:r>
              <a:rPr lang="en-US" dirty="0">
                <a:latin typeface="Consolas" panose="020B0609020204030204" pitchFamily="49" charset="0"/>
              </a:rPr>
              <a:t> </a:t>
            </a:r>
            <a:r>
              <a:rPr lang="en-US" dirty="0" err="1">
                <a:latin typeface="Consolas" panose="020B0609020204030204" pitchFamily="49" charset="0"/>
              </a:rPr>
              <a:t>lệ</a:t>
            </a:r>
            <a:r>
              <a:rPr lang="en-US" dirty="0">
                <a:latin typeface="Consolas" panose="020B0609020204030204" pitchFamily="49" charset="0"/>
              </a:rPr>
              <a:t> </a:t>
            </a:r>
            <a:r>
              <a:rPr lang="en-US" dirty="0" err="1">
                <a:latin typeface="Consolas" panose="020B0609020204030204" pitchFamily="49" charset="0"/>
              </a:rPr>
              <a:t>sống</a:t>
            </a:r>
            <a:r>
              <a:rPr lang="en-US" dirty="0">
                <a:latin typeface="Consolas" panose="020B0609020204030204" pitchFamily="49" charset="0"/>
              </a:rPr>
              <a:t> </a:t>
            </a:r>
            <a:r>
              <a:rPr lang="en-US" dirty="0" err="1">
                <a:latin typeface="Consolas" panose="020B0609020204030204" pitchFamily="49" charset="0"/>
              </a:rPr>
              <a:t>sốt</a:t>
            </a:r>
            <a:r>
              <a:rPr lang="en-US" dirty="0">
                <a:latin typeface="Consolas" panose="020B0609020204030204" pitchFamily="49" charset="0"/>
              </a:rPr>
              <a:t> </a:t>
            </a:r>
            <a:r>
              <a:rPr lang="en-US" dirty="0" err="1">
                <a:latin typeface="Consolas" panose="020B0609020204030204" pitchFamily="49" charset="0"/>
              </a:rPr>
              <a:t>cao</a:t>
            </a:r>
            <a:r>
              <a:rPr lang="en-US" dirty="0">
                <a:latin typeface="Consolas" panose="020B0609020204030204" pitchFamily="49" charset="0"/>
              </a:rPr>
              <a:t> </a:t>
            </a:r>
            <a:r>
              <a:rPr lang="en-US" dirty="0" err="1">
                <a:latin typeface="Consolas" panose="020B0609020204030204" pitchFamily="49" charset="0"/>
              </a:rPr>
              <a:t>hơn</a:t>
            </a:r>
            <a:r>
              <a:rPr lang="en-US" dirty="0">
                <a:latin typeface="Consolas" panose="020B0609020204030204" pitchFamily="49" charset="0"/>
              </a:rPr>
              <a:t>.</a:t>
            </a:r>
            <a:endParaRPr lang="en-US" dirty="0">
              <a:effectLst/>
              <a:latin typeface="Consolas" panose="020B0609020204030204" pitchFamily="49" charset="0"/>
            </a:endParaRPr>
          </a:p>
        </p:txBody>
      </p:sp>
      <p:sp>
        <p:nvSpPr>
          <p:cNvPr id="16" name="Hộp Văn bản 15">
            <a:extLst>
              <a:ext uri="{FF2B5EF4-FFF2-40B4-BE49-F238E27FC236}">
                <a16:creationId xmlns:a16="http://schemas.microsoft.com/office/drawing/2014/main" id="{54824C34-0A75-B2EE-2859-47EFE8E249D1}"/>
              </a:ext>
            </a:extLst>
          </p:cNvPr>
          <p:cNvSpPr txBox="1"/>
          <p:nvPr/>
        </p:nvSpPr>
        <p:spPr>
          <a:xfrm>
            <a:off x="5800725" y="4176877"/>
            <a:ext cx="6094476" cy="2308324"/>
          </a:xfrm>
          <a:prstGeom prst="rect">
            <a:avLst/>
          </a:prstGeom>
          <a:noFill/>
        </p:spPr>
        <p:txBody>
          <a:bodyPr wrap="square">
            <a:spAutoFit/>
          </a:bodyPr>
          <a:lstStyle/>
          <a:p>
            <a:pPr>
              <a:buNone/>
            </a:pPr>
            <a:r>
              <a:rPr lang="vi-VN" dirty="0">
                <a:effectLst/>
                <a:latin typeface="Consolas" panose="020B0609020204030204" pitchFamily="49" charset="0"/>
              </a:rPr>
              <a:t>Người có hơn 2 anh em hoặc là vợ/chồng có tỉ lệ sống sót cao hơn</a:t>
            </a:r>
            <a:br>
              <a:rPr lang="vi-VN" dirty="0">
                <a:effectLst/>
                <a:latin typeface="Consolas" panose="020B0609020204030204" pitchFamily="49" charset="0"/>
              </a:rPr>
            </a:br>
            <a:endParaRPr lang="vi-VN" dirty="0">
              <a:effectLst/>
              <a:latin typeface="Consolas" panose="020B0609020204030204" pitchFamily="49" charset="0"/>
            </a:endParaRPr>
          </a:p>
          <a:p>
            <a:pPr>
              <a:buNone/>
            </a:pPr>
            <a:r>
              <a:rPr lang="vi-VN" dirty="0">
                <a:effectLst/>
                <a:latin typeface="Consolas" panose="020B0609020204030204" pitchFamily="49" charset="0"/>
              </a:rPr>
              <a:t>Người không anh em hoặc là vợ/chồng có tỉ lệ chết cao hơn</a:t>
            </a:r>
            <a:endParaRPr lang="en-US" dirty="0">
              <a:effectLst/>
              <a:latin typeface="Consolas" panose="020B0609020204030204" pitchFamily="49" charset="0"/>
            </a:endParaRPr>
          </a:p>
          <a:p>
            <a:pPr>
              <a:buNone/>
            </a:pPr>
            <a:endParaRPr lang="en-US" dirty="0">
              <a:latin typeface="Consolas" panose="020B0609020204030204" pitchFamily="49" charset="0"/>
            </a:endParaRPr>
          </a:p>
          <a:p>
            <a:pPr>
              <a:buNone/>
            </a:pPr>
            <a:r>
              <a:rPr lang="vi-VN" dirty="0">
                <a:latin typeface="Consolas" panose="020B0609020204030204" pitchFamily="49" charset="0"/>
              </a:rPr>
              <a:t>Các gia định có quy mô vừa và nhỏ có</a:t>
            </a:r>
            <a:r>
              <a:rPr lang="en-US" dirty="0">
                <a:latin typeface="Consolas" panose="020B0609020204030204" pitchFamily="49" charset="0"/>
              </a:rPr>
              <a:t> </a:t>
            </a:r>
            <a:r>
              <a:rPr lang="vi-VN" dirty="0">
                <a:latin typeface="Consolas" panose="020B0609020204030204" pitchFamily="49" charset="0"/>
              </a:rPr>
              <a:t>nhiều cơ hội sống</a:t>
            </a:r>
            <a:endParaRPr lang="en-US" dirty="0">
              <a:latin typeface="Consolas" panose="020B0609020204030204" pitchFamily="49" charset="0"/>
            </a:endParaRPr>
          </a:p>
        </p:txBody>
      </p:sp>
    </p:spTree>
    <p:extLst>
      <p:ext uri="{BB962C8B-B14F-4D97-AF65-F5344CB8AC3E}">
        <p14:creationId xmlns:p14="http://schemas.microsoft.com/office/powerpoint/2010/main" val="295386303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B6355-1B01-6105-2428-E94B94E9417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61CD376-0F76-ECCA-12AC-99259F55A178}"/>
              </a:ext>
            </a:extLst>
          </p:cNvPr>
          <p:cNvSpPr txBox="1"/>
          <p:nvPr/>
        </p:nvSpPr>
        <p:spPr>
          <a:xfrm>
            <a:off x="517867" y="713232"/>
            <a:ext cx="9473692" cy="850392"/>
          </a:xfrm>
          <a:prstGeom prst="rect">
            <a:avLst/>
          </a:prstGeom>
        </p:spPr>
        <p:txBody>
          <a:bodyPr vert="horz" lIns="91440" tIns="45720" rIns="91440" bIns="45720" rtlCol="0" anchor="t">
            <a:normAutofit fontScale="85000" lnSpcReduction="20000"/>
          </a:bodyPr>
          <a:lstStyle/>
          <a:p>
            <a:pPr>
              <a:lnSpc>
                <a:spcPct val="9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endParaRPr lang="en-US" sz="4400" b="1" dirty="0"/>
          </a:p>
          <a:p>
            <a:pPr>
              <a:lnSpc>
                <a:spcPct val="90000"/>
              </a:lnSpc>
              <a:spcBef>
                <a:spcPct val="0"/>
              </a:spcBef>
              <a:spcAft>
                <a:spcPts val="600"/>
              </a:spcAft>
            </a:pPr>
            <a:r>
              <a:rPr lang="en-US" sz="2800" u="sng" dirty="0"/>
              <a:t>Exploratory Data Analysis (EDA)</a:t>
            </a:r>
            <a:endParaRPr lang="en-US" sz="2600" u="sng" dirty="0"/>
          </a:p>
        </p:txBody>
      </p:sp>
      <p:sp>
        <p:nvSpPr>
          <p:cNvPr id="14" name="TextBox 3">
            <a:extLst>
              <a:ext uri="{FF2B5EF4-FFF2-40B4-BE49-F238E27FC236}">
                <a16:creationId xmlns:a16="http://schemas.microsoft.com/office/drawing/2014/main" id="{D94B3121-A5DA-457C-CFE1-CF60673C244A}"/>
              </a:ext>
            </a:extLst>
          </p:cNvPr>
          <p:cNvSpPr txBox="1"/>
          <p:nvPr/>
        </p:nvSpPr>
        <p:spPr>
          <a:xfrm>
            <a:off x="5800725" y="2131586"/>
            <a:ext cx="5181219" cy="1477328"/>
          </a:xfrm>
          <a:prstGeom prst="rect">
            <a:avLst/>
          </a:prstGeom>
          <a:noFill/>
        </p:spPr>
        <p:txBody>
          <a:bodyPr wrap="square">
            <a:spAutoFit/>
          </a:bodyPr>
          <a:lstStyle/>
          <a:p>
            <a:pPr>
              <a:buNone/>
            </a:pPr>
            <a:r>
              <a:rPr lang="vi-VN" dirty="0">
                <a:latin typeface="Consolas" panose="020B0609020204030204" pitchFamily="49" charset="0"/>
              </a:rPr>
              <a:t>Hạng vé 1: có khả năng sống cao nhất</a:t>
            </a:r>
          </a:p>
          <a:p>
            <a:pPr>
              <a:buNone/>
            </a:pPr>
            <a:r>
              <a:rPr lang="vi-VN" dirty="0">
                <a:latin typeface="Consolas" panose="020B0609020204030204" pitchFamily="49" charset="0"/>
              </a:rPr>
              <a:t>Hạng vé 3: số người chết cao hơn rất nhiều</a:t>
            </a:r>
          </a:p>
          <a:p>
            <a:pPr>
              <a:buNone/>
            </a:pPr>
            <a:r>
              <a:rPr lang="vi-VN" dirty="0">
                <a:latin typeface="Consolas" panose="020B0609020204030204" pitchFamily="49" charset="0"/>
              </a:rPr>
              <a:t>Hạng vé đóng vai trò quan trọng trong</a:t>
            </a:r>
            <a:r>
              <a:rPr lang="en-US" dirty="0">
                <a:latin typeface="Consolas" panose="020B0609020204030204" pitchFamily="49" charset="0"/>
              </a:rPr>
              <a:t> </a:t>
            </a:r>
            <a:r>
              <a:rPr lang="en-US" dirty="0" err="1">
                <a:latin typeface="Consolas" panose="020B0609020204030204" pitchFamily="49" charset="0"/>
              </a:rPr>
              <a:t>việc</a:t>
            </a:r>
            <a:r>
              <a:rPr lang="en-US" dirty="0">
                <a:latin typeface="Consolas" panose="020B0609020204030204" pitchFamily="49" charset="0"/>
              </a:rPr>
              <a:t> </a:t>
            </a:r>
            <a:r>
              <a:rPr lang="en-US" dirty="0" err="1">
                <a:latin typeface="Consolas" panose="020B0609020204030204" pitchFamily="49" charset="0"/>
              </a:rPr>
              <a:t>dự</a:t>
            </a:r>
            <a:r>
              <a:rPr lang="en-US" dirty="0">
                <a:latin typeface="Consolas" panose="020B0609020204030204" pitchFamily="49" charset="0"/>
              </a:rPr>
              <a:t> </a:t>
            </a:r>
            <a:r>
              <a:rPr lang="en-US" dirty="0" err="1">
                <a:latin typeface="Consolas" panose="020B0609020204030204" pitchFamily="49" charset="0"/>
              </a:rPr>
              <a:t>đoán</a:t>
            </a:r>
            <a:r>
              <a:rPr lang="en-US" dirty="0">
                <a:latin typeface="Consolas" panose="020B0609020204030204" pitchFamily="49" charset="0"/>
              </a:rPr>
              <a:t> </a:t>
            </a:r>
            <a:r>
              <a:rPr lang="en-US" dirty="0" err="1">
                <a:latin typeface="Consolas" panose="020B0609020204030204" pitchFamily="49" charset="0"/>
              </a:rPr>
              <a:t>sống</a:t>
            </a:r>
            <a:r>
              <a:rPr lang="en-US" dirty="0">
                <a:latin typeface="Consolas" panose="020B0609020204030204" pitchFamily="49" charset="0"/>
              </a:rPr>
              <a:t> </a:t>
            </a:r>
            <a:r>
              <a:rPr lang="en-US" dirty="0" err="1">
                <a:latin typeface="Consolas" panose="020B0609020204030204" pitchFamily="49" charset="0"/>
              </a:rPr>
              <a:t>sót</a:t>
            </a:r>
            <a:r>
              <a:rPr lang="en-US" dirty="0">
                <a:latin typeface="Consolas" panose="020B0609020204030204" pitchFamily="49" charset="0"/>
              </a:rPr>
              <a:t> </a:t>
            </a:r>
            <a:r>
              <a:rPr lang="en-US" dirty="0" err="1">
                <a:latin typeface="Consolas" panose="020B0609020204030204" pitchFamily="49" charset="0"/>
              </a:rPr>
              <a:t>của</a:t>
            </a:r>
            <a:r>
              <a:rPr lang="en-US" dirty="0">
                <a:latin typeface="Consolas" panose="020B0609020204030204" pitchFamily="49" charset="0"/>
              </a:rPr>
              <a:t> </a:t>
            </a:r>
            <a:r>
              <a:rPr lang="en-US" dirty="0" err="1">
                <a:latin typeface="Consolas" panose="020B0609020204030204" pitchFamily="49" charset="0"/>
              </a:rPr>
              <a:t>hành</a:t>
            </a:r>
            <a:r>
              <a:rPr lang="en-US" dirty="0">
                <a:latin typeface="Consolas" panose="020B0609020204030204" pitchFamily="49" charset="0"/>
              </a:rPr>
              <a:t> </a:t>
            </a:r>
            <a:r>
              <a:rPr lang="en-US" dirty="0" err="1">
                <a:latin typeface="Consolas" panose="020B0609020204030204" pitchFamily="49" charset="0"/>
              </a:rPr>
              <a:t>khách</a:t>
            </a:r>
            <a:r>
              <a:rPr lang="en-US" dirty="0">
                <a:latin typeface="Consolas" panose="020B0609020204030204" pitchFamily="49" charset="0"/>
              </a:rPr>
              <a:t>.</a:t>
            </a:r>
            <a:endParaRPr lang="en-US" dirty="0">
              <a:effectLst/>
              <a:latin typeface="Consolas" panose="020B0609020204030204" pitchFamily="49" charset="0"/>
            </a:endParaRPr>
          </a:p>
        </p:txBody>
      </p:sp>
      <p:sp>
        <p:nvSpPr>
          <p:cNvPr id="16" name="Hộp Văn bản 15">
            <a:extLst>
              <a:ext uri="{FF2B5EF4-FFF2-40B4-BE49-F238E27FC236}">
                <a16:creationId xmlns:a16="http://schemas.microsoft.com/office/drawing/2014/main" id="{E84BFE6B-B4EA-AE73-8D34-8A4052E34DA5}"/>
              </a:ext>
            </a:extLst>
          </p:cNvPr>
          <p:cNvSpPr txBox="1"/>
          <p:nvPr/>
        </p:nvSpPr>
        <p:spPr>
          <a:xfrm>
            <a:off x="5800725" y="4176877"/>
            <a:ext cx="6094476" cy="1754326"/>
          </a:xfrm>
          <a:prstGeom prst="rect">
            <a:avLst/>
          </a:prstGeom>
          <a:noFill/>
        </p:spPr>
        <p:txBody>
          <a:bodyPr wrap="square">
            <a:spAutoFit/>
          </a:bodyPr>
          <a:lstStyle/>
          <a:p>
            <a:pPr>
              <a:buNone/>
            </a:pPr>
            <a:r>
              <a:rPr lang="vi-VN" dirty="0">
                <a:latin typeface="Consolas" panose="020B0609020204030204" pitchFamily="49" charset="0"/>
              </a:rPr>
              <a:t>Cảng S: số lượng </a:t>
            </a:r>
            <a:r>
              <a:rPr lang="en-US" dirty="0" err="1">
                <a:latin typeface="Consolas" panose="020B0609020204030204" pitchFamily="49" charset="0"/>
              </a:rPr>
              <a:t>hành</a:t>
            </a:r>
            <a:r>
              <a:rPr lang="en-US" dirty="0">
                <a:latin typeface="Consolas" panose="020B0609020204030204" pitchFamily="49" charset="0"/>
              </a:rPr>
              <a:t> </a:t>
            </a:r>
            <a:r>
              <a:rPr lang="vi-VN" dirty="0">
                <a:latin typeface="Consolas" panose="020B0609020204030204" pitchFamily="49" charset="0"/>
              </a:rPr>
              <a:t>khách đông nhất và có tỉ lệ</a:t>
            </a:r>
            <a:r>
              <a:rPr lang="en-US" dirty="0">
                <a:latin typeface="Consolas" panose="020B0609020204030204" pitchFamily="49" charset="0"/>
              </a:rPr>
              <a:t> </a:t>
            </a:r>
            <a:r>
              <a:rPr lang="en-US" dirty="0" err="1">
                <a:latin typeface="Consolas" panose="020B0609020204030204" pitchFamily="49" charset="0"/>
              </a:rPr>
              <a:t>tử</a:t>
            </a:r>
            <a:r>
              <a:rPr lang="en-US" dirty="0">
                <a:latin typeface="Consolas" panose="020B0609020204030204" pitchFamily="49" charset="0"/>
              </a:rPr>
              <a:t> </a:t>
            </a:r>
            <a:r>
              <a:rPr lang="en-US" dirty="0" err="1">
                <a:latin typeface="Consolas" panose="020B0609020204030204" pitchFamily="49" charset="0"/>
              </a:rPr>
              <a:t>vong</a:t>
            </a:r>
            <a:r>
              <a:rPr lang="en-US" dirty="0">
                <a:latin typeface="Consolas" panose="020B0609020204030204" pitchFamily="49" charset="0"/>
              </a:rPr>
              <a:t> </a:t>
            </a:r>
            <a:r>
              <a:rPr lang="vi-VN" dirty="0">
                <a:latin typeface="Consolas" panose="020B0609020204030204" pitchFamily="49" charset="0"/>
              </a:rPr>
              <a:t>cao nhất</a:t>
            </a:r>
          </a:p>
          <a:p>
            <a:pPr>
              <a:buNone/>
            </a:pPr>
            <a:endParaRPr lang="vi-VN" dirty="0">
              <a:latin typeface="Consolas" panose="020B0609020204030204" pitchFamily="49" charset="0"/>
            </a:endParaRPr>
          </a:p>
          <a:p>
            <a:pPr>
              <a:buNone/>
            </a:pPr>
            <a:r>
              <a:rPr lang="vi-VN" dirty="0">
                <a:latin typeface="Consolas" panose="020B0609020204030204" pitchFamily="49" charset="0"/>
              </a:rPr>
              <a:t>Cảng C: số </a:t>
            </a:r>
            <a:r>
              <a:rPr lang="en-US" dirty="0" err="1">
                <a:latin typeface="Consolas" panose="020B0609020204030204" pitchFamily="49" charset="0"/>
              </a:rPr>
              <a:t>hành</a:t>
            </a:r>
            <a:r>
              <a:rPr lang="en-US" dirty="0">
                <a:latin typeface="Consolas" panose="020B0609020204030204" pitchFamily="49" charset="0"/>
              </a:rPr>
              <a:t> </a:t>
            </a:r>
            <a:r>
              <a:rPr lang="en-US" dirty="0" err="1">
                <a:latin typeface="Consolas" panose="020B0609020204030204" pitchFamily="49" charset="0"/>
              </a:rPr>
              <a:t>khách</a:t>
            </a:r>
            <a:r>
              <a:rPr lang="en-US" dirty="0">
                <a:latin typeface="Consolas" panose="020B0609020204030204" pitchFamily="49" charset="0"/>
              </a:rPr>
              <a:t> </a:t>
            </a:r>
            <a:r>
              <a:rPr lang="vi-VN" dirty="0">
                <a:latin typeface="Consolas" panose="020B0609020204030204" pitchFamily="49" charset="0"/>
              </a:rPr>
              <a:t>sống sót và</a:t>
            </a:r>
            <a:r>
              <a:rPr lang="en-US" dirty="0">
                <a:latin typeface="Consolas" panose="020B0609020204030204" pitchFamily="49" charset="0"/>
              </a:rPr>
              <a:t> </a:t>
            </a:r>
            <a:r>
              <a:rPr lang="en-US" dirty="0" err="1">
                <a:latin typeface="Consolas" panose="020B0609020204030204" pitchFamily="49" charset="0"/>
              </a:rPr>
              <a:t>tử</a:t>
            </a:r>
            <a:r>
              <a:rPr lang="en-US" dirty="0">
                <a:latin typeface="Consolas" panose="020B0609020204030204" pitchFamily="49" charset="0"/>
              </a:rPr>
              <a:t> </a:t>
            </a:r>
            <a:r>
              <a:rPr lang="en-US" dirty="0" err="1">
                <a:latin typeface="Consolas" panose="020B0609020204030204" pitchFamily="49" charset="0"/>
              </a:rPr>
              <a:t>vong</a:t>
            </a:r>
            <a:r>
              <a:rPr lang="en-US" dirty="0">
                <a:latin typeface="Consolas" panose="020B0609020204030204" pitchFamily="49" charset="0"/>
              </a:rPr>
              <a:t> </a:t>
            </a:r>
            <a:r>
              <a:rPr lang="vi-VN" dirty="0">
                <a:latin typeface="Consolas" panose="020B0609020204030204" pitchFamily="49" charset="0"/>
              </a:rPr>
              <a:t>gần bằng</a:t>
            </a:r>
            <a:r>
              <a:rPr lang="en-US" dirty="0">
                <a:latin typeface="Consolas" panose="020B0609020204030204" pitchFamily="49" charset="0"/>
              </a:rPr>
              <a:t> </a:t>
            </a:r>
            <a:r>
              <a:rPr lang="vi-VN" dirty="0">
                <a:latin typeface="Consolas" panose="020B0609020204030204" pitchFamily="49" charset="0"/>
              </a:rPr>
              <a:t>nhau nhưng tỉ lệ sống sót</a:t>
            </a:r>
            <a:r>
              <a:rPr lang="en-US" dirty="0">
                <a:latin typeface="Consolas" panose="020B0609020204030204" pitchFamily="49" charset="0"/>
              </a:rPr>
              <a:t> </a:t>
            </a:r>
            <a:r>
              <a:rPr lang="en-US" dirty="0" err="1">
                <a:latin typeface="Consolas" panose="020B0609020204030204" pitchFamily="49" charset="0"/>
              </a:rPr>
              <a:t>lại</a:t>
            </a:r>
            <a:r>
              <a:rPr lang="vi-VN" dirty="0">
                <a:latin typeface="Consolas" panose="020B0609020204030204" pitchFamily="49" charset="0"/>
              </a:rPr>
              <a:t> cao nhất tro</a:t>
            </a:r>
            <a:r>
              <a:rPr lang="en-US" dirty="0">
                <a:latin typeface="Consolas" panose="020B0609020204030204" pitchFamily="49" charset="0"/>
              </a:rPr>
              <a:t>ng</a:t>
            </a:r>
            <a:r>
              <a:rPr lang="vi-VN" dirty="0">
                <a:latin typeface="Consolas" panose="020B0609020204030204" pitchFamily="49" charset="0"/>
              </a:rPr>
              <a:t> 3 cảng.</a:t>
            </a:r>
            <a:endParaRPr lang="en-US" dirty="0">
              <a:latin typeface="Consolas" panose="020B0609020204030204" pitchFamily="49" charset="0"/>
            </a:endParaRPr>
          </a:p>
        </p:txBody>
      </p:sp>
      <p:pic>
        <p:nvPicPr>
          <p:cNvPr id="3" name="Hình ảnh 2" descr="Ảnh có chứa văn bản, ảnh chụp màn hình, biểu đồ, Sơ đồ&#10;&#10;Nội dung do AI tạo ra có thể không chính xác.">
            <a:extLst>
              <a:ext uri="{FF2B5EF4-FFF2-40B4-BE49-F238E27FC236}">
                <a16:creationId xmlns:a16="http://schemas.microsoft.com/office/drawing/2014/main" id="{4CE2728A-3788-E23E-B422-0ACD9A8433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7866" y="1484932"/>
            <a:ext cx="4720366" cy="2681123"/>
          </a:xfrm>
          <a:prstGeom prst="rect">
            <a:avLst/>
          </a:prstGeom>
        </p:spPr>
      </p:pic>
      <p:pic>
        <p:nvPicPr>
          <p:cNvPr id="6" name="Hình ảnh 5" descr="Ảnh có chứa văn bản, ảnh chụp màn hình, Sơ đồ, biểu đồ&#10;&#10;Nội dung do AI tạo ra có thể không chính xác.">
            <a:extLst>
              <a:ext uri="{FF2B5EF4-FFF2-40B4-BE49-F238E27FC236}">
                <a16:creationId xmlns:a16="http://schemas.microsoft.com/office/drawing/2014/main" id="{B47C2EA1-F251-E91E-FDDB-5FE55B6336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867" y="4176877"/>
            <a:ext cx="4720367" cy="2681123"/>
          </a:xfrm>
          <a:prstGeom prst="rect">
            <a:avLst/>
          </a:prstGeom>
        </p:spPr>
      </p:pic>
    </p:spTree>
    <p:extLst>
      <p:ext uri="{BB962C8B-B14F-4D97-AF65-F5344CB8AC3E}">
        <p14:creationId xmlns:p14="http://schemas.microsoft.com/office/powerpoint/2010/main" val="53355397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F4724-5E7C-7B0A-2BE5-136E764CD81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6D89A98-15B8-A70C-197D-9572C5931320}"/>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r>
              <a:rPr lang="en-US" sz="2600" u="sng" dirty="0" err="1"/>
              <a:t>Tạo</a:t>
            </a:r>
            <a:r>
              <a:rPr lang="en-US" sz="2600" u="sng" dirty="0"/>
              <a:t> </a:t>
            </a:r>
            <a:r>
              <a:rPr lang="en-US" sz="2600" u="sng" dirty="0" err="1"/>
              <a:t>đặc</a:t>
            </a:r>
            <a:r>
              <a:rPr lang="en-US" sz="2600" u="sng" dirty="0"/>
              <a:t> </a:t>
            </a:r>
            <a:r>
              <a:rPr lang="en-US" sz="2600" u="sng" dirty="0" err="1"/>
              <a:t>trưng</a:t>
            </a:r>
            <a:r>
              <a:rPr lang="en-US" sz="2600" u="sng" dirty="0"/>
              <a:t> </a:t>
            </a:r>
            <a:r>
              <a:rPr lang="en-US" sz="2600" u="sng" dirty="0" err="1"/>
              <a:t>mới</a:t>
            </a:r>
            <a:r>
              <a:rPr lang="en-US" sz="2600" u="sng" dirty="0"/>
              <a:t> Title:</a:t>
            </a:r>
          </a:p>
        </p:txBody>
      </p:sp>
      <p:sp>
        <p:nvSpPr>
          <p:cNvPr id="14" name="TextBox 3">
            <a:extLst>
              <a:ext uri="{FF2B5EF4-FFF2-40B4-BE49-F238E27FC236}">
                <a16:creationId xmlns:a16="http://schemas.microsoft.com/office/drawing/2014/main" id="{4128643C-D17C-6DB0-F663-779DDBF93ECA}"/>
              </a:ext>
            </a:extLst>
          </p:cNvPr>
          <p:cNvSpPr txBox="1"/>
          <p:nvPr/>
        </p:nvSpPr>
        <p:spPr>
          <a:xfrm>
            <a:off x="3518242" y="1814795"/>
            <a:ext cx="5301908" cy="646331"/>
          </a:xfrm>
          <a:prstGeom prst="rect">
            <a:avLst/>
          </a:prstGeom>
          <a:noFill/>
        </p:spPr>
        <p:txBody>
          <a:bodyPr wrap="square">
            <a:spAutoFit/>
          </a:bodyPr>
          <a:lstStyle/>
          <a:p>
            <a:r>
              <a:rPr lang="vi-VN" dirty="0"/>
              <a:t>xử lý đặc trưng </a:t>
            </a:r>
            <a:r>
              <a:rPr lang="vi-VN" dirty="0" err="1"/>
              <a:t>Name</a:t>
            </a:r>
            <a:r>
              <a:rPr lang="vi-VN" dirty="0"/>
              <a:t> bằng cách tạo một đặc trưng mới tên '</a:t>
            </a:r>
            <a:r>
              <a:rPr lang="vi-VN" dirty="0" err="1"/>
              <a:t>Title</a:t>
            </a:r>
            <a:r>
              <a:rPr lang="vi-VN" dirty="0"/>
              <a:t>' lưu lại danh từ xưng hô của các tên</a:t>
            </a:r>
            <a:endParaRPr lang="en-US" dirty="0"/>
          </a:p>
        </p:txBody>
      </p:sp>
      <p:pic>
        <p:nvPicPr>
          <p:cNvPr id="4" name="Hình ảnh 3">
            <a:extLst>
              <a:ext uri="{FF2B5EF4-FFF2-40B4-BE49-F238E27FC236}">
                <a16:creationId xmlns:a16="http://schemas.microsoft.com/office/drawing/2014/main" id="{CFD3245D-13BA-BC24-7F36-6DE17A515A2D}"/>
              </a:ext>
            </a:extLst>
          </p:cNvPr>
          <p:cNvPicPr>
            <a:picLocks noChangeAspect="1"/>
          </p:cNvPicPr>
          <p:nvPr/>
        </p:nvPicPr>
        <p:blipFill>
          <a:blip r:embed="rId2"/>
          <a:stretch>
            <a:fillRect/>
          </a:stretch>
        </p:blipFill>
        <p:spPr>
          <a:xfrm>
            <a:off x="7603758" y="2895598"/>
            <a:ext cx="2906770" cy="3783961"/>
          </a:xfrm>
          <a:prstGeom prst="rect">
            <a:avLst/>
          </a:prstGeom>
        </p:spPr>
      </p:pic>
      <p:pic>
        <p:nvPicPr>
          <p:cNvPr id="8" name="Hình ảnh 7">
            <a:extLst>
              <a:ext uri="{FF2B5EF4-FFF2-40B4-BE49-F238E27FC236}">
                <a16:creationId xmlns:a16="http://schemas.microsoft.com/office/drawing/2014/main" id="{A58FC0FA-4CE0-D98E-3861-1CFB2A677A6B}"/>
              </a:ext>
            </a:extLst>
          </p:cNvPr>
          <p:cNvPicPr>
            <a:picLocks noChangeAspect="1"/>
          </p:cNvPicPr>
          <p:nvPr/>
        </p:nvPicPr>
        <p:blipFill>
          <a:blip r:embed="rId3"/>
          <a:stretch>
            <a:fillRect/>
          </a:stretch>
        </p:blipFill>
        <p:spPr>
          <a:xfrm>
            <a:off x="1749398" y="3358630"/>
            <a:ext cx="2838846" cy="2857899"/>
          </a:xfrm>
          <a:prstGeom prst="rect">
            <a:avLst/>
          </a:prstGeom>
        </p:spPr>
      </p:pic>
    </p:spTree>
    <p:extLst>
      <p:ext uri="{BB962C8B-B14F-4D97-AF65-F5344CB8AC3E}">
        <p14:creationId xmlns:p14="http://schemas.microsoft.com/office/powerpoint/2010/main" val="2753677689"/>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DF41D-CA00-7C28-007E-A6965953276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01C32C6-900D-A525-F63E-6961808A2B7D}"/>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r>
              <a:rPr lang="en-US" sz="2600" u="sng" dirty="0" err="1"/>
              <a:t>Tạo</a:t>
            </a:r>
            <a:r>
              <a:rPr lang="en-US" sz="2600" u="sng" dirty="0"/>
              <a:t> </a:t>
            </a:r>
            <a:r>
              <a:rPr lang="en-US" sz="2600" u="sng" dirty="0" err="1"/>
              <a:t>đặc</a:t>
            </a:r>
            <a:r>
              <a:rPr lang="en-US" sz="2600" u="sng" dirty="0"/>
              <a:t> </a:t>
            </a:r>
            <a:r>
              <a:rPr lang="en-US" sz="2600" u="sng" dirty="0" err="1"/>
              <a:t>trưng</a:t>
            </a:r>
            <a:r>
              <a:rPr lang="en-US" sz="2600" u="sng" dirty="0"/>
              <a:t> </a:t>
            </a:r>
            <a:r>
              <a:rPr lang="en-US" sz="2600" u="sng" dirty="0" err="1"/>
              <a:t>mới</a:t>
            </a:r>
            <a:r>
              <a:rPr lang="en-US" sz="2600" u="sng" dirty="0"/>
              <a:t> Title:</a:t>
            </a:r>
          </a:p>
        </p:txBody>
      </p:sp>
      <p:sp>
        <p:nvSpPr>
          <p:cNvPr id="9" name="TextBox 3">
            <a:extLst>
              <a:ext uri="{FF2B5EF4-FFF2-40B4-BE49-F238E27FC236}">
                <a16:creationId xmlns:a16="http://schemas.microsoft.com/office/drawing/2014/main" id="{7B51D990-7476-A6EB-82F7-E7738CA359A0}"/>
              </a:ext>
            </a:extLst>
          </p:cNvPr>
          <p:cNvSpPr txBox="1"/>
          <p:nvPr/>
        </p:nvSpPr>
        <p:spPr>
          <a:xfrm>
            <a:off x="517867" y="2068183"/>
            <a:ext cx="5301908" cy="646331"/>
          </a:xfrm>
          <a:prstGeom prst="rect">
            <a:avLst/>
          </a:prstGeom>
          <a:noFill/>
        </p:spPr>
        <p:txBody>
          <a:bodyPr wrap="square">
            <a:spAutoFit/>
          </a:bodyPr>
          <a:lstStyle/>
          <a:p>
            <a:r>
              <a:rPr lang="en-US" dirty="0"/>
              <a:t>Sau </a:t>
            </a:r>
            <a:r>
              <a:rPr lang="en-US" dirty="0" err="1"/>
              <a:t>đó</a:t>
            </a:r>
            <a:r>
              <a:rPr lang="en-US" dirty="0"/>
              <a:t> ta </a:t>
            </a:r>
            <a:r>
              <a:rPr lang="en-US" dirty="0" err="1"/>
              <a:t>sẽ</a:t>
            </a:r>
            <a:r>
              <a:rPr lang="en-US" dirty="0"/>
              <a:t> </a:t>
            </a:r>
            <a:r>
              <a:rPr lang="en-US" dirty="0" err="1"/>
              <a:t>giảm</a:t>
            </a:r>
            <a:r>
              <a:rPr lang="en-US" dirty="0"/>
              <a:t> </a:t>
            </a:r>
            <a:r>
              <a:rPr lang="en-US" dirty="0" err="1"/>
              <a:t>bớt</a:t>
            </a:r>
            <a:r>
              <a:rPr lang="en-US" dirty="0"/>
              <a:t> </a:t>
            </a:r>
            <a:r>
              <a:rPr lang="en-US" dirty="0" err="1"/>
              <a:t>biến</a:t>
            </a:r>
            <a:r>
              <a:rPr lang="en-US" dirty="0"/>
              <a:t> </a:t>
            </a:r>
            <a:r>
              <a:rPr lang="en-US" dirty="0" err="1"/>
              <a:t>của</a:t>
            </a:r>
            <a:r>
              <a:rPr lang="en-US" dirty="0"/>
              <a:t> </a:t>
            </a:r>
            <a:r>
              <a:rPr lang="en-US" dirty="0" err="1"/>
              <a:t>đặc</a:t>
            </a:r>
            <a:r>
              <a:rPr lang="en-US" dirty="0"/>
              <a:t> </a:t>
            </a:r>
            <a:r>
              <a:rPr lang="en-US" dirty="0" err="1"/>
              <a:t>trưng</a:t>
            </a:r>
            <a:r>
              <a:rPr lang="en-US" dirty="0"/>
              <a:t> Title </a:t>
            </a:r>
            <a:r>
              <a:rPr lang="en-US" dirty="0" err="1"/>
              <a:t>bằng</a:t>
            </a:r>
            <a:r>
              <a:rPr lang="en-US" dirty="0"/>
              <a:t> </a:t>
            </a:r>
            <a:r>
              <a:rPr lang="en-US" dirty="0" err="1"/>
              <a:t>cách</a:t>
            </a:r>
            <a:r>
              <a:rPr lang="en-US" dirty="0"/>
              <a:t> </a:t>
            </a:r>
            <a:r>
              <a:rPr lang="en-US" dirty="0" err="1"/>
              <a:t>dùng</a:t>
            </a:r>
            <a:r>
              <a:rPr lang="en-US" dirty="0"/>
              <a:t> ‘</a:t>
            </a:r>
            <a:r>
              <a:rPr lang="en-US" dirty="0" err="1"/>
              <a:t>từ</a:t>
            </a:r>
            <a:r>
              <a:rPr lang="en-US" dirty="0"/>
              <a:t> </a:t>
            </a:r>
            <a:r>
              <a:rPr lang="en-US" dirty="0" err="1"/>
              <a:t>điển</a:t>
            </a:r>
            <a:r>
              <a:rPr lang="en-US" dirty="0"/>
              <a:t>’</a:t>
            </a:r>
            <a:endParaRPr lang="vi-VN" dirty="0"/>
          </a:p>
        </p:txBody>
      </p:sp>
      <p:pic>
        <p:nvPicPr>
          <p:cNvPr id="11" name="Hình ảnh 10">
            <a:extLst>
              <a:ext uri="{FF2B5EF4-FFF2-40B4-BE49-F238E27FC236}">
                <a16:creationId xmlns:a16="http://schemas.microsoft.com/office/drawing/2014/main" id="{C96A9673-7583-DB9B-2D43-EE88E54D2CF2}"/>
              </a:ext>
            </a:extLst>
          </p:cNvPr>
          <p:cNvPicPr>
            <a:picLocks noChangeAspect="1"/>
          </p:cNvPicPr>
          <p:nvPr/>
        </p:nvPicPr>
        <p:blipFill>
          <a:blip r:embed="rId2"/>
          <a:stretch>
            <a:fillRect/>
          </a:stretch>
        </p:blipFill>
        <p:spPr>
          <a:xfrm>
            <a:off x="8841154" y="3219073"/>
            <a:ext cx="3173666" cy="3377107"/>
          </a:xfrm>
          <a:prstGeom prst="rect">
            <a:avLst/>
          </a:prstGeom>
        </p:spPr>
      </p:pic>
      <p:pic>
        <p:nvPicPr>
          <p:cNvPr id="3" name="Hình ảnh 2">
            <a:extLst>
              <a:ext uri="{FF2B5EF4-FFF2-40B4-BE49-F238E27FC236}">
                <a16:creationId xmlns:a16="http://schemas.microsoft.com/office/drawing/2014/main" id="{23581886-48D1-6562-8045-17F1960EB163}"/>
              </a:ext>
            </a:extLst>
          </p:cNvPr>
          <p:cNvPicPr>
            <a:picLocks noChangeAspect="1"/>
          </p:cNvPicPr>
          <p:nvPr/>
        </p:nvPicPr>
        <p:blipFill>
          <a:blip r:embed="rId3"/>
          <a:stretch>
            <a:fillRect/>
          </a:stretch>
        </p:blipFill>
        <p:spPr>
          <a:xfrm>
            <a:off x="517867" y="3585818"/>
            <a:ext cx="7941761" cy="3010362"/>
          </a:xfrm>
          <a:prstGeom prst="rect">
            <a:avLst/>
          </a:prstGeom>
        </p:spPr>
      </p:pic>
    </p:spTree>
    <p:extLst>
      <p:ext uri="{BB962C8B-B14F-4D97-AF65-F5344CB8AC3E}">
        <p14:creationId xmlns:p14="http://schemas.microsoft.com/office/powerpoint/2010/main" val="204837046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21797-C4C1-FA59-B102-9DB4B439AAF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DB5B0CD-E8B1-B23F-9A25-03142C1B2E12}"/>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r>
              <a:rPr lang="en-US" sz="2600" u="sng" dirty="0" err="1"/>
              <a:t>Tạo</a:t>
            </a:r>
            <a:r>
              <a:rPr lang="en-US" sz="2600" u="sng" dirty="0"/>
              <a:t> </a:t>
            </a:r>
            <a:r>
              <a:rPr lang="en-US" sz="2600" u="sng" dirty="0" err="1"/>
              <a:t>đặc</a:t>
            </a:r>
            <a:r>
              <a:rPr lang="en-US" sz="2600" u="sng" dirty="0"/>
              <a:t> </a:t>
            </a:r>
            <a:r>
              <a:rPr lang="en-US" sz="2600" u="sng" dirty="0" err="1"/>
              <a:t>trưng</a:t>
            </a:r>
            <a:r>
              <a:rPr lang="en-US" sz="2600" u="sng" dirty="0"/>
              <a:t> </a:t>
            </a:r>
            <a:r>
              <a:rPr lang="en-US" sz="2600" u="sng" dirty="0" err="1"/>
              <a:t>mới</a:t>
            </a:r>
            <a:r>
              <a:rPr lang="en-US" sz="2600" u="sng" dirty="0"/>
              <a:t> </a:t>
            </a:r>
            <a:r>
              <a:rPr lang="en-US" sz="2600" u="sng" dirty="0" err="1"/>
              <a:t>FamilySize</a:t>
            </a:r>
            <a:r>
              <a:rPr lang="en-US" sz="2600" u="sng" dirty="0"/>
              <a:t>:</a:t>
            </a:r>
          </a:p>
        </p:txBody>
      </p:sp>
      <p:sp>
        <p:nvSpPr>
          <p:cNvPr id="9" name="TextBox 3">
            <a:extLst>
              <a:ext uri="{FF2B5EF4-FFF2-40B4-BE49-F238E27FC236}">
                <a16:creationId xmlns:a16="http://schemas.microsoft.com/office/drawing/2014/main" id="{71F76CA5-7516-833A-3459-596281A33FF4}"/>
              </a:ext>
            </a:extLst>
          </p:cNvPr>
          <p:cNvSpPr txBox="1"/>
          <p:nvPr/>
        </p:nvSpPr>
        <p:spPr>
          <a:xfrm>
            <a:off x="517867" y="1837350"/>
            <a:ext cx="5301908" cy="369332"/>
          </a:xfrm>
          <a:prstGeom prst="rect">
            <a:avLst/>
          </a:prstGeom>
          <a:noFill/>
        </p:spPr>
        <p:txBody>
          <a:bodyPr wrap="square">
            <a:spAutoFit/>
          </a:bodyPr>
          <a:lstStyle/>
          <a:p>
            <a:r>
              <a:rPr lang="en-US" dirty="0" err="1"/>
              <a:t>FamilySize</a:t>
            </a:r>
            <a:r>
              <a:rPr lang="en-US" dirty="0"/>
              <a:t> = </a:t>
            </a:r>
            <a:r>
              <a:rPr lang="en-US" dirty="0" err="1"/>
              <a:t>SibSp</a:t>
            </a:r>
            <a:r>
              <a:rPr lang="en-US" dirty="0"/>
              <a:t> + Parch + 1</a:t>
            </a:r>
            <a:endParaRPr lang="vi-VN" dirty="0"/>
          </a:p>
        </p:txBody>
      </p:sp>
      <p:pic>
        <p:nvPicPr>
          <p:cNvPr id="4" name="Hình ảnh 3">
            <a:extLst>
              <a:ext uri="{FF2B5EF4-FFF2-40B4-BE49-F238E27FC236}">
                <a16:creationId xmlns:a16="http://schemas.microsoft.com/office/drawing/2014/main" id="{B12B2330-9956-775D-A964-35558D315C54}"/>
              </a:ext>
            </a:extLst>
          </p:cNvPr>
          <p:cNvPicPr>
            <a:picLocks noChangeAspect="1"/>
          </p:cNvPicPr>
          <p:nvPr/>
        </p:nvPicPr>
        <p:blipFill>
          <a:blip r:embed="rId2"/>
          <a:stretch>
            <a:fillRect/>
          </a:stretch>
        </p:blipFill>
        <p:spPr>
          <a:xfrm>
            <a:off x="451650" y="2480408"/>
            <a:ext cx="11288700" cy="3839111"/>
          </a:xfrm>
          <a:prstGeom prst="rect">
            <a:avLst/>
          </a:prstGeom>
        </p:spPr>
      </p:pic>
    </p:spTree>
    <p:extLst>
      <p:ext uri="{BB962C8B-B14F-4D97-AF65-F5344CB8AC3E}">
        <p14:creationId xmlns:p14="http://schemas.microsoft.com/office/powerpoint/2010/main" val="326698339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9751B-056A-79DD-D3EF-72DA760D9BA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1C9F7C5-EFC2-9152-BA3D-183A511C1D95}"/>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r>
              <a:rPr lang="en-US" sz="2600" u="sng" dirty="0" err="1"/>
              <a:t>Tạo</a:t>
            </a:r>
            <a:r>
              <a:rPr lang="en-US" sz="2600" u="sng" dirty="0"/>
              <a:t> </a:t>
            </a:r>
            <a:r>
              <a:rPr lang="en-US" sz="2600" u="sng" dirty="0" err="1"/>
              <a:t>đặc</a:t>
            </a:r>
            <a:r>
              <a:rPr lang="en-US" sz="2600" u="sng" dirty="0"/>
              <a:t> </a:t>
            </a:r>
            <a:r>
              <a:rPr lang="en-US" sz="2600" u="sng" dirty="0" err="1"/>
              <a:t>trưng</a:t>
            </a:r>
            <a:r>
              <a:rPr lang="en-US" sz="2600" u="sng" dirty="0"/>
              <a:t> </a:t>
            </a:r>
            <a:r>
              <a:rPr lang="en-US" sz="2600" u="sng" dirty="0" err="1"/>
              <a:t>mới</a:t>
            </a:r>
            <a:r>
              <a:rPr lang="en-US" sz="2600" u="sng" dirty="0"/>
              <a:t> </a:t>
            </a:r>
            <a:r>
              <a:rPr lang="en-US" sz="2600" u="sng" dirty="0" err="1"/>
              <a:t>IsChild</a:t>
            </a:r>
            <a:r>
              <a:rPr lang="en-US" sz="2600" u="sng" dirty="0"/>
              <a:t> </a:t>
            </a:r>
            <a:r>
              <a:rPr lang="en-US" sz="2600" u="sng" dirty="0" err="1"/>
              <a:t>và</a:t>
            </a:r>
            <a:r>
              <a:rPr lang="en-US" sz="2600" u="sng" dirty="0"/>
              <a:t> </a:t>
            </a:r>
            <a:r>
              <a:rPr lang="en-US" sz="2600" u="sng" dirty="0" err="1"/>
              <a:t>IsMother</a:t>
            </a:r>
            <a:r>
              <a:rPr lang="en-US" sz="2600" u="sng" dirty="0"/>
              <a:t>:</a:t>
            </a:r>
          </a:p>
        </p:txBody>
      </p:sp>
      <p:sp>
        <p:nvSpPr>
          <p:cNvPr id="9" name="TextBox 3">
            <a:extLst>
              <a:ext uri="{FF2B5EF4-FFF2-40B4-BE49-F238E27FC236}">
                <a16:creationId xmlns:a16="http://schemas.microsoft.com/office/drawing/2014/main" id="{E441BF4A-BCD9-98C0-F49A-A868FBDF15DE}"/>
              </a:ext>
            </a:extLst>
          </p:cNvPr>
          <p:cNvSpPr txBox="1"/>
          <p:nvPr/>
        </p:nvSpPr>
        <p:spPr>
          <a:xfrm>
            <a:off x="517866" y="1652684"/>
            <a:ext cx="6454433" cy="646331"/>
          </a:xfrm>
          <a:prstGeom prst="rect">
            <a:avLst/>
          </a:prstGeom>
          <a:noFill/>
        </p:spPr>
        <p:txBody>
          <a:bodyPr wrap="square">
            <a:spAutoFit/>
          </a:bodyPr>
          <a:lstStyle/>
          <a:p>
            <a:r>
              <a:rPr lang="en-US" dirty="0" err="1"/>
              <a:t>IsChild</a:t>
            </a:r>
            <a:r>
              <a:rPr lang="en-US" dirty="0"/>
              <a:t> </a:t>
            </a:r>
            <a:r>
              <a:rPr lang="en-US" dirty="0" err="1"/>
              <a:t>với</a:t>
            </a:r>
            <a:r>
              <a:rPr lang="en-US" dirty="0"/>
              <a:t> </a:t>
            </a:r>
            <a:r>
              <a:rPr lang="en-US" dirty="0" err="1"/>
              <a:t>điều</a:t>
            </a:r>
            <a:r>
              <a:rPr lang="en-US" dirty="0"/>
              <a:t> </a:t>
            </a:r>
            <a:r>
              <a:rPr lang="en-US" dirty="0" err="1"/>
              <a:t>kiện</a:t>
            </a:r>
            <a:r>
              <a:rPr lang="en-US" dirty="0"/>
              <a:t> Age &lt; 12</a:t>
            </a:r>
            <a:br>
              <a:rPr lang="en-US" dirty="0"/>
            </a:br>
            <a:r>
              <a:rPr lang="en-US" dirty="0" err="1"/>
              <a:t>IsMother</a:t>
            </a:r>
            <a:r>
              <a:rPr lang="en-US" dirty="0"/>
              <a:t> </a:t>
            </a:r>
            <a:r>
              <a:rPr lang="en-US" dirty="0" err="1"/>
              <a:t>với</a:t>
            </a:r>
            <a:r>
              <a:rPr lang="en-US" dirty="0"/>
              <a:t> </a:t>
            </a:r>
            <a:r>
              <a:rPr lang="en-US" dirty="0" err="1"/>
              <a:t>điều</a:t>
            </a:r>
            <a:r>
              <a:rPr lang="en-US" dirty="0"/>
              <a:t> </a:t>
            </a:r>
            <a:r>
              <a:rPr lang="en-US" dirty="0" err="1"/>
              <a:t>kiện</a:t>
            </a:r>
            <a:r>
              <a:rPr lang="en-US" dirty="0"/>
              <a:t> Age &gt; 18, Sex = female, Title = </a:t>
            </a:r>
            <a:r>
              <a:rPr lang="en-US" dirty="0" err="1"/>
              <a:t>Mrs</a:t>
            </a:r>
            <a:endParaRPr lang="vi-VN" dirty="0"/>
          </a:p>
        </p:txBody>
      </p:sp>
      <p:pic>
        <p:nvPicPr>
          <p:cNvPr id="3" name="Hình ảnh 2">
            <a:extLst>
              <a:ext uri="{FF2B5EF4-FFF2-40B4-BE49-F238E27FC236}">
                <a16:creationId xmlns:a16="http://schemas.microsoft.com/office/drawing/2014/main" id="{9A8379C9-3623-B502-8CEC-FD3E135423FF}"/>
              </a:ext>
            </a:extLst>
          </p:cNvPr>
          <p:cNvPicPr>
            <a:picLocks noChangeAspect="1"/>
          </p:cNvPicPr>
          <p:nvPr/>
        </p:nvPicPr>
        <p:blipFill>
          <a:blip r:embed="rId2"/>
          <a:stretch>
            <a:fillRect/>
          </a:stretch>
        </p:blipFill>
        <p:spPr>
          <a:xfrm>
            <a:off x="133350" y="2648228"/>
            <a:ext cx="11925300" cy="3821516"/>
          </a:xfrm>
          <a:prstGeom prst="rect">
            <a:avLst/>
          </a:prstGeom>
        </p:spPr>
      </p:pic>
    </p:spTree>
    <p:extLst>
      <p:ext uri="{BB962C8B-B14F-4D97-AF65-F5344CB8AC3E}">
        <p14:creationId xmlns:p14="http://schemas.microsoft.com/office/powerpoint/2010/main" val="420352788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6C15-EBC0-B607-6757-29C242EA62F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DFC6A02-FAA0-AA7D-98D4-B23A956517AA}"/>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r>
              <a:rPr lang="en-US" sz="2600" u="sng" dirty="0" err="1"/>
              <a:t>Tạo</a:t>
            </a:r>
            <a:r>
              <a:rPr lang="en-US" sz="2600" u="sng" dirty="0"/>
              <a:t> </a:t>
            </a:r>
            <a:r>
              <a:rPr lang="en-US" sz="2600" u="sng" dirty="0" err="1"/>
              <a:t>đặc</a:t>
            </a:r>
            <a:r>
              <a:rPr lang="en-US" sz="2600" u="sng" dirty="0"/>
              <a:t> </a:t>
            </a:r>
            <a:r>
              <a:rPr lang="en-US" sz="2600" u="sng" dirty="0" err="1"/>
              <a:t>trưng</a:t>
            </a:r>
            <a:r>
              <a:rPr lang="en-US" sz="2600" u="sng" dirty="0"/>
              <a:t> </a:t>
            </a:r>
            <a:r>
              <a:rPr lang="en-US" sz="2600" u="sng" dirty="0" err="1"/>
              <a:t>mới</a:t>
            </a:r>
            <a:r>
              <a:rPr lang="en-US" sz="2600" u="sng" dirty="0"/>
              <a:t> </a:t>
            </a:r>
            <a:r>
              <a:rPr lang="en-US" sz="2600" u="sng" dirty="0" err="1"/>
              <a:t>Ticket_Prefix</a:t>
            </a:r>
            <a:r>
              <a:rPr lang="en-US" sz="2600" u="sng" dirty="0"/>
              <a:t>:</a:t>
            </a:r>
          </a:p>
        </p:txBody>
      </p:sp>
      <p:sp>
        <p:nvSpPr>
          <p:cNvPr id="9" name="TextBox 3">
            <a:extLst>
              <a:ext uri="{FF2B5EF4-FFF2-40B4-BE49-F238E27FC236}">
                <a16:creationId xmlns:a16="http://schemas.microsoft.com/office/drawing/2014/main" id="{65483543-6C3E-4D06-E466-BB82FA9895E5}"/>
              </a:ext>
            </a:extLst>
          </p:cNvPr>
          <p:cNvSpPr txBox="1"/>
          <p:nvPr/>
        </p:nvSpPr>
        <p:spPr>
          <a:xfrm>
            <a:off x="517867" y="1669919"/>
            <a:ext cx="6454433" cy="646331"/>
          </a:xfrm>
          <a:prstGeom prst="rect">
            <a:avLst/>
          </a:prstGeom>
          <a:noFill/>
        </p:spPr>
        <p:txBody>
          <a:bodyPr wrap="square">
            <a:spAutoFit/>
          </a:bodyPr>
          <a:lstStyle/>
          <a:p>
            <a:r>
              <a:rPr lang="en-US" dirty="0" err="1"/>
              <a:t>trích</a:t>
            </a:r>
            <a:r>
              <a:rPr lang="en-US" dirty="0"/>
              <a:t> </a:t>
            </a:r>
            <a:r>
              <a:rPr lang="en-US" dirty="0" err="1"/>
              <a:t>xuất</a:t>
            </a:r>
            <a:r>
              <a:rPr lang="en-US" dirty="0"/>
              <a:t> </a:t>
            </a:r>
            <a:r>
              <a:rPr lang="en-US" dirty="0" err="1"/>
              <a:t>tiền</a:t>
            </a:r>
            <a:r>
              <a:rPr lang="en-US" dirty="0"/>
              <a:t> </a:t>
            </a:r>
            <a:r>
              <a:rPr lang="en-US" dirty="0" err="1"/>
              <a:t>tố</a:t>
            </a:r>
            <a:r>
              <a:rPr lang="en-US" dirty="0"/>
              <a:t> (Prefix) </a:t>
            </a:r>
            <a:r>
              <a:rPr lang="en-US" dirty="0" err="1"/>
              <a:t>từ</a:t>
            </a:r>
            <a:r>
              <a:rPr lang="en-US" dirty="0"/>
              <a:t> </a:t>
            </a:r>
            <a:r>
              <a:rPr lang="en-US" dirty="0" err="1"/>
              <a:t>số</a:t>
            </a:r>
            <a:r>
              <a:rPr lang="en-US" dirty="0"/>
              <a:t> </a:t>
            </a:r>
            <a:r>
              <a:rPr lang="en-US" dirty="0" err="1"/>
              <a:t>vé</a:t>
            </a:r>
            <a:r>
              <a:rPr lang="en-US" dirty="0"/>
              <a:t> </a:t>
            </a:r>
            <a:r>
              <a:rPr lang="en-US" dirty="0" err="1"/>
              <a:t>và</a:t>
            </a:r>
            <a:r>
              <a:rPr lang="en-US" dirty="0"/>
              <a:t> </a:t>
            </a:r>
            <a:r>
              <a:rPr lang="en-US" dirty="0" err="1"/>
              <a:t>gán</a:t>
            </a:r>
            <a:r>
              <a:rPr lang="en-US" dirty="0"/>
              <a:t> </a:t>
            </a:r>
            <a:r>
              <a:rPr lang="en-US" dirty="0" err="1"/>
              <a:t>vào</a:t>
            </a:r>
            <a:r>
              <a:rPr lang="en-US" dirty="0"/>
              <a:t> </a:t>
            </a:r>
            <a:r>
              <a:rPr lang="en-US" dirty="0" err="1"/>
              <a:t>một</a:t>
            </a:r>
            <a:r>
              <a:rPr lang="en-US" dirty="0"/>
              <a:t> </a:t>
            </a:r>
            <a:r>
              <a:rPr lang="en-US" dirty="0" err="1"/>
              <a:t>cột</a:t>
            </a:r>
            <a:r>
              <a:rPr lang="en-US" dirty="0"/>
              <a:t> </a:t>
            </a:r>
            <a:r>
              <a:rPr lang="en-US" dirty="0" err="1"/>
              <a:t>mới</a:t>
            </a:r>
            <a:r>
              <a:rPr lang="en-US" dirty="0"/>
              <a:t> </a:t>
            </a:r>
            <a:r>
              <a:rPr lang="en-US" dirty="0" err="1"/>
              <a:t>là</a:t>
            </a:r>
            <a:r>
              <a:rPr lang="en-US" dirty="0"/>
              <a:t> ‘</a:t>
            </a:r>
            <a:r>
              <a:rPr lang="en-US" dirty="0" err="1"/>
              <a:t>Ticket_Prefix</a:t>
            </a:r>
            <a:r>
              <a:rPr lang="en-US" dirty="0"/>
              <a:t>’</a:t>
            </a:r>
            <a:endParaRPr lang="vi-VN" dirty="0"/>
          </a:p>
        </p:txBody>
      </p:sp>
      <p:pic>
        <p:nvPicPr>
          <p:cNvPr id="4" name="Hình ảnh 3">
            <a:extLst>
              <a:ext uri="{FF2B5EF4-FFF2-40B4-BE49-F238E27FC236}">
                <a16:creationId xmlns:a16="http://schemas.microsoft.com/office/drawing/2014/main" id="{190ADFD6-B8F5-A692-CD20-DD52F5AF83EE}"/>
              </a:ext>
            </a:extLst>
          </p:cNvPr>
          <p:cNvPicPr>
            <a:picLocks noChangeAspect="1"/>
          </p:cNvPicPr>
          <p:nvPr/>
        </p:nvPicPr>
        <p:blipFill>
          <a:blip r:embed="rId2"/>
          <a:stretch>
            <a:fillRect/>
          </a:stretch>
        </p:blipFill>
        <p:spPr>
          <a:xfrm>
            <a:off x="6972300" y="1138428"/>
            <a:ext cx="1333686" cy="5477639"/>
          </a:xfrm>
          <a:prstGeom prst="rect">
            <a:avLst/>
          </a:prstGeom>
        </p:spPr>
      </p:pic>
    </p:spTree>
    <p:extLst>
      <p:ext uri="{BB962C8B-B14F-4D97-AF65-F5344CB8AC3E}">
        <p14:creationId xmlns:p14="http://schemas.microsoft.com/office/powerpoint/2010/main" val="2497155384"/>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F0776-E314-E5E8-607F-F538D0DB445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F54F039-DB46-51D2-24A7-96B2E637C820}"/>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r>
              <a:rPr lang="en-US" sz="2600" u="sng" dirty="0"/>
              <a:t>Ý </a:t>
            </a:r>
            <a:r>
              <a:rPr lang="en-US" sz="2600" u="sng" dirty="0" err="1"/>
              <a:t>nghĩa</a:t>
            </a:r>
            <a:r>
              <a:rPr lang="en-US" sz="2600" u="sng" dirty="0"/>
              <a:t> </a:t>
            </a:r>
            <a:r>
              <a:rPr lang="en-US" sz="2600" u="sng" dirty="0" err="1"/>
              <a:t>và</a:t>
            </a:r>
            <a:r>
              <a:rPr lang="en-US" sz="2600" u="sng" dirty="0"/>
              <a:t> </a:t>
            </a:r>
            <a:r>
              <a:rPr lang="en-US" sz="2600" u="sng" dirty="0" err="1"/>
              <a:t>mục</a:t>
            </a:r>
            <a:r>
              <a:rPr lang="en-US" sz="2600" u="sng" dirty="0"/>
              <a:t> </a:t>
            </a:r>
            <a:r>
              <a:rPr lang="en-US" sz="2600" u="sng" dirty="0" err="1"/>
              <a:t>đích</a:t>
            </a:r>
            <a:r>
              <a:rPr lang="en-US" sz="2600" u="sng" dirty="0"/>
              <a:t> </a:t>
            </a:r>
            <a:r>
              <a:rPr lang="en-US" sz="2600" u="sng" dirty="0" err="1"/>
              <a:t>của</a:t>
            </a:r>
            <a:r>
              <a:rPr lang="en-US" sz="2600" u="sng" dirty="0"/>
              <a:t> </a:t>
            </a:r>
            <a:r>
              <a:rPr lang="en-US" sz="2600" u="sng" dirty="0" err="1"/>
              <a:t>các</a:t>
            </a:r>
            <a:r>
              <a:rPr lang="en-US" sz="2600" u="sng" dirty="0"/>
              <a:t> </a:t>
            </a:r>
            <a:r>
              <a:rPr lang="en-US" sz="2600" u="sng" dirty="0" err="1"/>
              <a:t>đặc</a:t>
            </a:r>
            <a:r>
              <a:rPr lang="en-US" sz="2600" u="sng" dirty="0"/>
              <a:t> </a:t>
            </a:r>
            <a:r>
              <a:rPr lang="en-US" sz="2600" u="sng" dirty="0" err="1"/>
              <a:t>trưng</a:t>
            </a:r>
            <a:r>
              <a:rPr lang="en-US" sz="2600" u="sng" dirty="0"/>
              <a:t> </a:t>
            </a:r>
            <a:r>
              <a:rPr lang="en-US" sz="2600" u="sng" dirty="0" err="1"/>
              <a:t>mới</a:t>
            </a:r>
            <a:r>
              <a:rPr lang="en-US" sz="2600" u="sng" dirty="0"/>
              <a:t>:</a:t>
            </a:r>
          </a:p>
        </p:txBody>
      </p:sp>
      <p:graphicFrame>
        <p:nvGraphicFramePr>
          <p:cNvPr id="6" name="Bảng 5">
            <a:extLst>
              <a:ext uri="{FF2B5EF4-FFF2-40B4-BE49-F238E27FC236}">
                <a16:creationId xmlns:a16="http://schemas.microsoft.com/office/drawing/2014/main" id="{E3046818-95CC-218E-0DC3-4DD416DBB262}"/>
              </a:ext>
            </a:extLst>
          </p:cNvPr>
          <p:cNvGraphicFramePr>
            <a:graphicFrameLocks noGrp="1"/>
          </p:cNvGraphicFramePr>
          <p:nvPr>
            <p:extLst>
              <p:ext uri="{D42A27DB-BD31-4B8C-83A1-F6EECF244321}">
                <p14:modId xmlns:p14="http://schemas.microsoft.com/office/powerpoint/2010/main" val="2661534600"/>
              </p:ext>
            </p:extLst>
          </p:nvPr>
        </p:nvGraphicFramePr>
        <p:xfrm>
          <a:off x="517867" y="1949196"/>
          <a:ext cx="7080797" cy="2494280"/>
        </p:xfrm>
        <a:graphic>
          <a:graphicData uri="http://schemas.openxmlformats.org/drawingml/2006/table">
            <a:tbl>
              <a:tblPr firstRow="1" bandRow="1">
                <a:tableStyleId>{5C22544A-7EE6-4342-B048-85BDC9FD1C3A}</a:tableStyleId>
              </a:tblPr>
              <a:tblGrid>
                <a:gridCol w="1739476">
                  <a:extLst>
                    <a:ext uri="{9D8B030D-6E8A-4147-A177-3AD203B41FA5}">
                      <a16:colId xmlns:a16="http://schemas.microsoft.com/office/drawing/2014/main" val="3495999541"/>
                    </a:ext>
                  </a:extLst>
                </a:gridCol>
                <a:gridCol w="5341321">
                  <a:extLst>
                    <a:ext uri="{9D8B030D-6E8A-4147-A177-3AD203B41FA5}">
                      <a16:colId xmlns:a16="http://schemas.microsoft.com/office/drawing/2014/main" val="1183948086"/>
                    </a:ext>
                  </a:extLst>
                </a:gridCol>
              </a:tblGrid>
              <a:tr h="370840">
                <a:tc gridSpan="2">
                  <a:txBody>
                    <a:bodyPr/>
                    <a:lstStyle/>
                    <a:p>
                      <a:r>
                        <a:rPr lang="en-US" dirty="0" err="1"/>
                        <a:t>Đặc</a:t>
                      </a:r>
                      <a:r>
                        <a:rPr lang="en-US" dirty="0"/>
                        <a:t> </a:t>
                      </a:r>
                      <a:r>
                        <a:rPr lang="en-US" dirty="0" err="1"/>
                        <a:t>trưng</a:t>
                      </a:r>
                      <a:r>
                        <a:rPr lang="en-US" dirty="0"/>
                        <a:t> </a:t>
                      </a:r>
                      <a:r>
                        <a:rPr lang="en-US" dirty="0" err="1"/>
                        <a:t>mới</a:t>
                      </a:r>
                      <a:endParaRPr lang="en-US" dirty="0"/>
                    </a:p>
                  </a:txBody>
                  <a:tcPr/>
                </a:tc>
                <a:tc hMerge="1">
                  <a:txBody>
                    <a:bodyPr/>
                    <a:lstStyle/>
                    <a:p>
                      <a:endParaRPr lang="en-US" dirty="0"/>
                    </a:p>
                  </a:txBody>
                  <a:tcPr/>
                </a:tc>
                <a:extLst>
                  <a:ext uri="{0D108BD9-81ED-4DB2-BD59-A6C34878D82A}">
                    <a16:rowId xmlns:a16="http://schemas.microsoft.com/office/drawing/2014/main" val="1796981846"/>
                  </a:ext>
                </a:extLst>
              </a:tr>
              <a:tr h="370840">
                <a:tc>
                  <a:txBody>
                    <a:bodyPr/>
                    <a:lstStyle/>
                    <a:p>
                      <a:r>
                        <a:rPr lang="en-US" dirty="0"/>
                        <a:t>Title</a:t>
                      </a:r>
                    </a:p>
                  </a:txBody>
                  <a:tcPr/>
                </a:tc>
                <a:tc>
                  <a:txBody>
                    <a:bodyPr/>
                    <a:lstStyle/>
                    <a:p>
                      <a:r>
                        <a:rPr lang="en-US" dirty="0" err="1"/>
                        <a:t>Phản</a:t>
                      </a:r>
                      <a:r>
                        <a:rPr lang="en-US" dirty="0"/>
                        <a:t> </a:t>
                      </a:r>
                      <a:r>
                        <a:rPr lang="en-US" dirty="0" err="1"/>
                        <a:t>ánh</a:t>
                      </a:r>
                      <a:r>
                        <a:rPr lang="en-US" dirty="0"/>
                        <a:t> </a:t>
                      </a:r>
                      <a:r>
                        <a:rPr lang="en-US" dirty="0" err="1"/>
                        <a:t>giới</a:t>
                      </a:r>
                      <a:r>
                        <a:rPr lang="en-US" dirty="0"/>
                        <a:t> </a:t>
                      </a:r>
                      <a:r>
                        <a:rPr lang="en-US" dirty="0" err="1"/>
                        <a:t>tính</a:t>
                      </a:r>
                      <a:r>
                        <a:rPr lang="en-US" dirty="0"/>
                        <a:t>, </a:t>
                      </a:r>
                      <a:r>
                        <a:rPr lang="en-US" dirty="0" err="1"/>
                        <a:t>địa</a:t>
                      </a:r>
                      <a:r>
                        <a:rPr lang="en-US" dirty="0"/>
                        <a:t> </a:t>
                      </a:r>
                      <a:r>
                        <a:rPr lang="en-US" dirty="0" err="1"/>
                        <a:t>vị</a:t>
                      </a:r>
                      <a:r>
                        <a:rPr lang="en-US" dirty="0"/>
                        <a:t>. </a:t>
                      </a:r>
                      <a:r>
                        <a:rPr lang="en-US" dirty="0" err="1"/>
                        <a:t>Loại</a:t>
                      </a:r>
                      <a:r>
                        <a:rPr lang="en-US" dirty="0"/>
                        <a:t> </a:t>
                      </a:r>
                      <a:r>
                        <a:rPr lang="en-US" dirty="0" err="1"/>
                        <a:t>bỏ</a:t>
                      </a:r>
                      <a:r>
                        <a:rPr lang="en-US" dirty="0"/>
                        <a:t> </a:t>
                      </a:r>
                      <a:r>
                        <a:rPr lang="en-US" dirty="0" err="1"/>
                        <a:t>đi</a:t>
                      </a:r>
                      <a:r>
                        <a:rPr lang="en-US" dirty="0"/>
                        <a:t> </a:t>
                      </a:r>
                      <a:r>
                        <a:rPr lang="en-US" dirty="0" err="1"/>
                        <a:t>đặc</a:t>
                      </a:r>
                      <a:r>
                        <a:rPr lang="en-US" dirty="0"/>
                        <a:t> </a:t>
                      </a:r>
                      <a:r>
                        <a:rPr lang="en-US" dirty="0" err="1"/>
                        <a:t>trưng</a:t>
                      </a:r>
                      <a:r>
                        <a:rPr lang="en-US" dirty="0"/>
                        <a:t> Name.</a:t>
                      </a:r>
                    </a:p>
                  </a:txBody>
                  <a:tcPr/>
                </a:tc>
                <a:extLst>
                  <a:ext uri="{0D108BD9-81ED-4DB2-BD59-A6C34878D82A}">
                    <a16:rowId xmlns:a16="http://schemas.microsoft.com/office/drawing/2014/main" val="120720964"/>
                  </a:ext>
                </a:extLst>
              </a:tr>
              <a:tr h="370840">
                <a:tc>
                  <a:txBody>
                    <a:bodyPr/>
                    <a:lstStyle/>
                    <a:p>
                      <a:r>
                        <a:rPr lang="en-US" dirty="0" err="1"/>
                        <a:t>FamilySize</a:t>
                      </a:r>
                      <a:endParaRPr lang="en-US" dirty="0"/>
                    </a:p>
                  </a:txBody>
                  <a:tcPr/>
                </a:tc>
                <a:tc>
                  <a:txBody>
                    <a:bodyPr/>
                    <a:lstStyle/>
                    <a:p>
                      <a:r>
                        <a:rPr lang="en-US" dirty="0"/>
                        <a:t>Gia </a:t>
                      </a:r>
                      <a:r>
                        <a:rPr lang="en-US" dirty="0" err="1"/>
                        <a:t>đình</a:t>
                      </a:r>
                      <a:r>
                        <a:rPr lang="en-US" dirty="0"/>
                        <a:t> </a:t>
                      </a:r>
                      <a:r>
                        <a:rPr lang="en-US" dirty="0" err="1"/>
                        <a:t>nhỏ</a:t>
                      </a:r>
                      <a:r>
                        <a:rPr lang="en-US" dirty="0"/>
                        <a:t> </a:t>
                      </a:r>
                      <a:r>
                        <a:rPr lang="en-US" dirty="0" err="1"/>
                        <a:t>hoặc</a:t>
                      </a:r>
                      <a:r>
                        <a:rPr lang="en-US" dirty="0"/>
                        <a:t> </a:t>
                      </a:r>
                      <a:r>
                        <a:rPr lang="en-US" dirty="0" err="1"/>
                        <a:t>vừa</a:t>
                      </a:r>
                      <a:r>
                        <a:rPr lang="en-US" dirty="0"/>
                        <a:t> </a:t>
                      </a:r>
                      <a:r>
                        <a:rPr lang="en-US" dirty="0" err="1"/>
                        <a:t>có</a:t>
                      </a:r>
                      <a:r>
                        <a:rPr lang="en-US" dirty="0"/>
                        <a:t> </a:t>
                      </a:r>
                      <a:r>
                        <a:rPr lang="en-US" dirty="0" err="1"/>
                        <a:t>tỷ</a:t>
                      </a:r>
                      <a:r>
                        <a:rPr lang="en-US" dirty="0"/>
                        <a:t> </a:t>
                      </a:r>
                      <a:r>
                        <a:rPr lang="en-US" dirty="0" err="1"/>
                        <a:t>lệ</a:t>
                      </a:r>
                      <a:r>
                        <a:rPr lang="en-US" dirty="0"/>
                        <a:t> </a:t>
                      </a:r>
                      <a:r>
                        <a:rPr lang="en-US" dirty="0" err="1"/>
                        <a:t>sống</a:t>
                      </a:r>
                      <a:r>
                        <a:rPr lang="en-US" dirty="0"/>
                        <a:t> </a:t>
                      </a:r>
                      <a:r>
                        <a:rPr lang="en-US" dirty="0" err="1"/>
                        <a:t>cao</a:t>
                      </a:r>
                      <a:r>
                        <a:rPr lang="en-US" dirty="0"/>
                        <a:t>.</a:t>
                      </a:r>
                    </a:p>
                  </a:txBody>
                  <a:tcPr/>
                </a:tc>
                <a:extLst>
                  <a:ext uri="{0D108BD9-81ED-4DB2-BD59-A6C34878D82A}">
                    <a16:rowId xmlns:a16="http://schemas.microsoft.com/office/drawing/2014/main" val="2125545322"/>
                  </a:ext>
                </a:extLst>
              </a:tr>
              <a:tr h="370840">
                <a:tc>
                  <a:txBody>
                    <a:bodyPr/>
                    <a:lstStyle/>
                    <a:p>
                      <a:r>
                        <a:rPr lang="en-US" dirty="0" err="1"/>
                        <a:t>IsChild</a:t>
                      </a:r>
                      <a:endParaRPr lang="en-US" dirty="0"/>
                    </a:p>
                  </a:txBody>
                  <a:tcPr/>
                </a:tc>
                <a:tc>
                  <a:txBody>
                    <a:bodyPr/>
                    <a:lstStyle/>
                    <a:p>
                      <a:r>
                        <a:rPr lang="en-US" dirty="0" err="1"/>
                        <a:t>Đánh</a:t>
                      </a:r>
                      <a:r>
                        <a:rPr lang="en-US" dirty="0"/>
                        <a:t> </a:t>
                      </a:r>
                      <a:r>
                        <a:rPr lang="en-US" dirty="0" err="1"/>
                        <a:t>dấu</a:t>
                      </a:r>
                      <a:r>
                        <a:rPr lang="en-US" dirty="0"/>
                        <a:t> </a:t>
                      </a:r>
                      <a:r>
                        <a:rPr lang="en-US" dirty="0" err="1"/>
                        <a:t>trẻ</a:t>
                      </a:r>
                      <a:r>
                        <a:rPr lang="en-US" dirty="0"/>
                        <a:t> </a:t>
                      </a:r>
                      <a:r>
                        <a:rPr lang="en-US" dirty="0" err="1"/>
                        <a:t>em</a:t>
                      </a:r>
                      <a:r>
                        <a:rPr lang="en-US" dirty="0"/>
                        <a:t> </a:t>
                      </a:r>
                      <a:r>
                        <a:rPr lang="en-US" dirty="0" err="1"/>
                        <a:t>vì</a:t>
                      </a:r>
                      <a:r>
                        <a:rPr lang="en-US" dirty="0"/>
                        <a:t> </a:t>
                      </a:r>
                      <a:r>
                        <a:rPr lang="en-US" dirty="0" err="1"/>
                        <a:t>trẻ</a:t>
                      </a:r>
                      <a:r>
                        <a:rPr lang="en-US" dirty="0"/>
                        <a:t> </a:t>
                      </a:r>
                      <a:r>
                        <a:rPr lang="en-US" dirty="0" err="1"/>
                        <a:t>em</a:t>
                      </a:r>
                      <a:r>
                        <a:rPr lang="en-US" dirty="0"/>
                        <a:t> </a:t>
                      </a:r>
                      <a:r>
                        <a:rPr lang="en-US" dirty="0" err="1"/>
                        <a:t>có</a:t>
                      </a:r>
                      <a:r>
                        <a:rPr lang="en-US" dirty="0"/>
                        <a:t> </a:t>
                      </a:r>
                      <a:r>
                        <a:rPr lang="en-US" dirty="0" err="1"/>
                        <a:t>tỉ</a:t>
                      </a:r>
                      <a:r>
                        <a:rPr lang="en-US" dirty="0"/>
                        <a:t> </a:t>
                      </a:r>
                      <a:r>
                        <a:rPr lang="en-US" dirty="0" err="1"/>
                        <a:t>lệ</a:t>
                      </a:r>
                      <a:r>
                        <a:rPr lang="en-US" dirty="0"/>
                        <a:t> </a:t>
                      </a:r>
                      <a:r>
                        <a:rPr lang="en-US" dirty="0" err="1"/>
                        <a:t>sống</a:t>
                      </a:r>
                      <a:r>
                        <a:rPr lang="en-US" dirty="0"/>
                        <a:t> </a:t>
                      </a:r>
                      <a:r>
                        <a:rPr lang="en-US" dirty="0" err="1"/>
                        <a:t>cao</a:t>
                      </a:r>
                      <a:r>
                        <a:rPr lang="en-US" dirty="0"/>
                        <a:t> </a:t>
                      </a:r>
                      <a:r>
                        <a:rPr lang="en-US" dirty="0" err="1"/>
                        <a:t>hơn</a:t>
                      </a:r>
                      <a:r>
                        <a:rPr lang="en-US" dirty="0"/>
                        <a:t> do </a:t>
                      </a:r>
                      <a:r>
                        <a:rPr lang="en-US" dirty="0" err="1"/>
                        <a:t>được</a:t>
                      </a:r>
                      <a:r>
                        <a:rPr lang="en-US" dirty="0"/>
                        <a:t> </a:t>
                      </a:r>
                      <a:r>
                        <a:rPr lang="en-US" dirty="0" err="1"/>
                        <a:t>ưu</a:t>
                      </a:r>
                      <a:r>
                        <a:rPr lang="en-US" dirty="0"/>
                        <a:t> </a:t>
                      </a:r>
                      <a:r>
                        <a:rPr lang="en-US" dirty="0" err="1"/>
                        <a:t>tiên</a:t>
                      </a:r>
                      <a:r>
                        <a:rPr lang="en-US" dirty="0"/>
                        <a:t>.</a:t>
                      </a:r>
                    </a:p>
                  </a:txBody>
                  <a:tcPr/>
                </a:tc>
                <a:extLst>
                  <a:ext uri="{0D108BD9-81ED-4DB2-BD59-A6C34878D82A}">
                    <a16:rowId xmlns:a16="http://schemas.microsoft.com/office/drawing/2014/main" val="49821277"/>
                  </a:ext>
                </a:extLst>
              </a:tr>
              <a:tr h="370840">
                <a:tc>
                  <a:txBody>
                    <a:bodyPr/>
                    <a:lstStyle/>
                    <a:p>
                      <a:r>
                        <a:rPr lang="en-US" dirty="0" err="1"/>
                        <a:t>IsMother</a:t>
                      </a:r>
                      <a:endParaRPr lang="en-US" dirty="0"/>
                    </a:p>
                  </a:txBody>
                  <a:tcPr/>
                </a:tc>
                <a:tc>
                  <a:txBody>
                    <a:bodyPr/>
                    <a:lstStyle/>
                    <a:p>
                      <a:r>
                        <a:rPr lang="en-US" dirty="0" err="1"/>
                        <a:t>Phụ</a:t>
                      </a:r>
                      <a:r>
                        <a:rPr lang="en-US" dirty="0"/>
                        <a:t> </a:t>
                      </a:r>
                      <a:r>
                        <a:rPr lang="en-US" dirty="0" err="1"/>
                        <a:t>nữ</a:t>
                      </a:r>
                      <a:r>
                        <a:rPr lang="en-US" dirty="0"/>
                        <a:t> </a:t>
                      </a:r>
                      <a:r>
                        <a:rPr lang="en-US" dirty="0" err="1"/>
                        <a:t>trường</a:t>
                      </a:r>
                      <a:r>
                        <a:rPr lang="en-US" dirty="0"/>
                        <a:t> </a:t>
                      </a:r>
                      <a:r>
                        <a:rPr lang="en-US" dirty="0" err="1"/>
                        <a:t>thành</a:t>
                      </a:r>
                      <a:r>
                        <a:rPr lang="en-US" dirty="0"/>
                        <a:t> </a:t>
                      </a:r>
                      <a:r>
                        <a:rPr lang="en-US" dirty="0" err="1"/>
                        <a:t>và</a:t>
                      </a:r>
                      <a:r>
                        <a:rPr lang="en-US" dirty="0"/>
                        <a:t> </a:t>
                      </a:r>
                      <a:r>
                        <a:rPr lang="en-US" dirty="0" err="1"/>
                        <a:t>có</a:t>
                      </a:r>
                      <a:r>
                        <a:rPr lang="en-US" dirty="0"/>
                        <a:t> con.</a:t>
                      </a:r>
                    </a:p>
                  </a:txBody>
                  <a:tcPr/>
                </a:tc>
                <a:extLst>
                  <a:ext uri="{0D108BD9-81ED-4DB2-BD59-A6C34878D82A}">
                    <a16:rowId xmlns:a16="http://schemas.microsoft.com/office/drawing/2014/main" val="3710872169"/>
                  </a:ext>
                </a:extLst>
              </a:tr>
              <a:tr h="370840">
                <a:tc>
                  <a:txBody>
                    <a:bodyPr/>
                    <a:lstStyle/>
                    <a:p>
                      <a:r>
                        <a:rPr lang="en-US" dirty="0" err="1"/>
                        <a:t>Ticket_Prefix</a:t>
                      </a:r>
                      <a:endParaRPr lang="en-US" dirty="0"/>
                    </a:p>
                  </a:txBody>
                  <a:tcPr/>
                </a:tc>
                <a:tc>
                  <a:txBody>
                    <a:bodyPr/>
                    <a:lstStyle/>
                    <a:p>
                      <a:r>
                        <a:rPr lang="en-US" dirty="0" err="1"/>
                        <a:t>Giúp</a:t>
                      </a:r>
                      <a:r>
                        <a:rPr lang="en-US" dirty="0"/>
                        <a:t> </a:t>
                      </a:r>
                      <a:r>
                        <a:rPr lang="en-US" dirty="0" err="1"/>
                        <a:t>phân</a:t>
                      </a:r>
                      <a:r>
                        <a:rPr lang="en-US" dirty="0"/>
                        <a:t> </a:t>
                      </a:r>
                      <a:r>
                        <a:rPr lang="en-US" dirty="0" err="1"/>
                        <a:t>loại</a:t>
                      </a:r>
                      <a:r>
                        <a:rPr lang="en-US" dirty="0"/>
                        <a:t> </a:t>
                      </a:r>
                      <a:r>
                        <a:rPr lang="en-US" dirty="0" err="1"/>
                        <a:t>hành</a:t>
                      </a:r>
                      <a:r>
                        <a:rPr lang="en-US" dirty="0"/>
                        <a:t> </a:t>
                      </a:r>
                      <a:r>
                        <a:rPr lang="en-US" dirty="0" err="1"/>
                        <a:t>khách</a:t>
                      </a:r>
                      <a:r>
                        <a:rPr lang="en-US" dirty="0"/>
                        <a:t> </a:t>
                      </a:r>
                      <a:r>
                        <a:rPr lang="en-US" dirty="0" err="1"/>
                        <a:t>theo</a:t>
                      </a:r>
                      <a:r>
                        <a:rPr lang="en-US" dirty="0"/>
                        <a:t> </a:t>
                      </a:r>
                      <a:r>
                        <a:rPr lang="en-US" dirty="0" err="1"/>
                        <a:t>loại</a:t>
                      </a:r>
                      <a:r>
                        <a:rPr lang="en-US" dirty="0"/>
                        <a:t> </a:t>
                      </a:r>
                      <a:r>
                        <a:rPr lang="en-US" dirty="0" err="1"/>
                        <a:t>vé</a:t>
                      </a:r>
                      <a:endParaRPr lang="en-US" dirty="0"/>
                    </a:p>
                  </a:txBody>
                  <a:tcPr/>
                </a:tc>
                <a:extLst>
                  <a:ext uri="{0D108BD9-81ED-4DB2-BD59-A6C34878D82A}">
                    <a16:rowId xmlns:a16="http://schemas.microsoft.com/office/drawing/2014/main" val="2613798606"/>
                  </a:ext>
                </a:extLst>
              </a:tr>
            </a:tbl>
          </a:graphicData>
        </a:graphic>
      </p:graphicFrame>
      <p:pic>
        <p:nvPicPr>
          <p:cNvPr id="10" name="Hình ảnh 9">
            <a:extLst>
              <a:ext uri="{FF2B5EF4-FFF2-40B4-BE49-F238E27FC236}">
                <a16:creationId xmlns:a16="http://schemas.microsoft.com/office/drawing/2014/main" id="{11712DB3-E014-9A32-053C-B974C3E39C99}"/>
              </a:ext>
            </a:extLst>
          </p:cNvPr>
          <p:cNvPicPr>
            <a:picLocks noChangeAspect="1"/>
          </p:cNvPicPr>
          <p:nvPr/>
        </p:nvPicPr>
        <p:blipFill>
          <a:blip r:embed="rId2"/>
          <a:stretch>
            <a:fillRect/>
          </a:stretch>
        </p:blipFill>
        <p:spPr>
          <a:xfrm>
            <a:off x="517867" y="5190128"/>
            <a:ext cx="1781424" cy="866896"/>
          </a:xfrm>
          <a:prstGeom prst="rect">
            <a:avLst/>
          </a:prstGeom>
        </p:spPr>
      </p:pic>
      <p:sp>
        <p:nvSpPr>
          <p:cNvPr id="11" name="Hộp Văn bản 10">
            <a:extLst>
              <a:ext uri="{FF2B5EF4-FFF2-40B4-BE49-F238E27FC236}">
                <a16:creationId xmlns:a16="http://schemas.microsoft.com/office/drawing/2014/main" id="{E33B8670-DB51-A471-2EC8-99F8A316679C}"/>
              </a:ext>
            </a:extLst>
          </p:cNvPr>
          <p:cNvSpPr txBox="1"/>
          <p:nvPr/>
        </p:nvSpPr>
        <p:spPr>
          <a:xfrm>
            <a:off x="393192" y="4663440"/>
            <a:ext cx="2856872" cy="369332"/>
          </a:xfrm>
          <a:prstGeom prst="rect">
            <a:avLst/>
          </a:prstGeom>
          <a:noFill/>
        </p:spPr>
        <p:txBody>
          <a:bodyPr wrap="none" rtlCol="0">
            <a:spAutoFit/>
          </a:bodyPr>
          <a:lstStyle/>
          <a:p>
            <a:r>
              <a:rPr lang="en-US" dirty="0" err="1"/>
              <a:t>Tổng</a:t>
            </a:r>
            <a:r>
              <a:rPr lang="en-US" dirty="0"/>
              <a:t> </a:t>
            </a:r>
            <a:r>
              <a:rPr lang="en-US" dirty="0" err="1"/>
              <a:t>đang</a:t>
            </a:r>
            <a:r>
              <a:rPr lang="en-US" dirty="0"/>
              <a:t> </a:t>
            </a:r>
            <a:r>
              <a:rPr lang="en-US" dirty="0" err="1"/>
              <a:t>có</a:t>
            </a:r>
            <a:r>
              <a:rPr lang="en-US" dirty="0"/>
              <a:t> 13 </a:t>
            </a:r>
            <a:r>
              <a:rPr lang="en-US" dirty="0" err="1"/>
              <a:t>đặc</a:t>
            </a:r>
            <a:r>
              <a:rPr lang="en-US" dirty="0"/>
              <a:t> </a:t>
            </a:r>
            <a:r>
              <a:rPr lang="en-US" dirty="0" err="1"/>
              <a:t>trưng</a:t>
            </a:r>
            <a:r>
              <a:rPr lang="en-US" dirty="0"/>
              <a:t>:</a:t>
            </a:r>
          </a:p>
        </p:txBody>
      </p:sp>
    </p:spTree>
    <p:extLst>
      <p:ext uri="{BB962C8B-B14F-4D97-AF65-F5344CB8AC3E}">
        <p14:creationId xmlns:p14="http://schemas.microsoft.com/office/powerpoint/2010/main" val="388152983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C33B4-643E-8A4D-85F0-B5B3CAEF9FA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C6F43C9-3CA6-5918-905F-42A445A1B241}"/>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endParaRPr lang="en-US" sz="2600" u="sng" dirty="0"/>
          </a:p>
        </p:txBody>
      </p:sp>
      <p:sp>
        <p:nvSpPr>
          <p:cNvPr id="4" name="Hộp Văn bản 3">
            <a:extLst>
              <a:ext uri="{FF2B5EF4-FFF2-40B4-BE49-F238E27FC236}">
                <a16:creationId xmlns:a16="http://schemas.microsoft.com/office/drawing/2014/main" id="{C9AE15D4-D11E-C06F-D0E7-5F4C1288E93D}"/>
              </a:ext>
            </a:extLst>
          </p:cNvPr>
          <p:cNvSpPr txBox="1"/>
          <p:nvPr/>
        </p:nvSpPr>
        <p:spPr>
          <a:xfrm>
            <a:off x="517867" y="1350383"/>
            <a:ext cx="6263934" cy="3139321"/>
          </a:xfrm>
          <a:prstGeom prst="rect">
            <a:avLst/>
          </a:prstGeom>
          <a:noFill/>
        </p:spPr>
        <p:txBody>
          <a:bodyPr wrap="square">
            <a:spAutoFit/>
          </a:bodyPr>
          <a:lstStyle/>
          <a:p>
            <a:r>
              <a:rPr lang="en-US" sz="1800" u="sng" dirty="0" err="1"/>
              <a:t>Xử</a:t>
            </a:r>
            <a:r>
              <a:rPr lang="en-US" sz="1800" u="sng" dirty="0"/>
              <a:t> </a:t>
            </a:r>
            <a:r>
              <a:rPr lang="en-US" sz="1800" u="sng" dirty="0" err="1"/>
              <a:t>lý</a:t>
            </a:r>
            <a:r>
              <a:rPr lang="en-US" sz="1800" u="sng" dirty="0"/>
              <a:t> </a:t>
            </a:r>
            <a:r>
              <a:rPr lang="en-US" sz="1800" u="sng" dirty="0" err="1"/>
              <a:t>dữ</a:t>
            </a:r>
            <a:r>
              <a:rPr lang="en-US" sz="1800" u="sng" dirty="0"/>
              <a:t> </a:t>
            </a:r>
            <a:r>
              <a:rPr lang="en-US" sz="1800" u="sng" dirty="0" err="1"/>
              <a:t>liệu</a:t>
            </a:r>
            <a:r>
              <a:rPr lang="en-US" sz="1800" u="sng" dirty="0"/>
              <a:t> </a:t>
            </a:r>
            <a:r>
              <a:rPr lang="en-US" sz="1800" u="sng" dirty="0" err="1"/>
              <a:t>thiếu</a:t>
            </a:r>
            <a:r>
              <a:rPr lang="en-US" sz="1800" u="sng" dirty="0"/>
              <a:t>:</a:t>
            </a:r>
            <a:endParaRPr lang="en-US" sz="1800" b="1" u="sng" dirty="0"/>
          </a:p>
          <a:p>
            <a:r>
              <a:rPr lang="en-US" dirty="0"/>
              <a:t>	- Age (</a:t>
            </a:r>
            <a:r>
              <a:rPr lang="en-US" dirty="0" err="1"/>
              <a:t>thiếu</a:t>
            </a:r>
            <a:r>
              <a:rPr lang="en-US" dirty="0"/>
              <a:t> 177 </a:t>
            </a:r>
            <a:r>
              <a:rPr lang="en-US" dirty="0" err="1"/>
              <a:t>dòng</a:t>
            </a:r>
            <a:r>
              <a:rPr lang="en-US" dirty="0"/>
              <a:t> </a:t>
            </a:r>
            <a:r>
              <a:rPr lang="en-US" dirty="0" err="1"/>
              <a:t>trong</a:t>
            </a:r>
            <a:r>
              <a:rPr lang="en-US" dirty="0"/>
              <a:t> </a:t>
            </a:r>
            <a:r>
              <a:rPr lang="en-US" dirty="0" err="1"/>
              <a:t>tập</a:t>
            </a:r>
            <a:r>
              <a:rPr lang="en-US" dirty="0"/>
              <a:t> Train): </a:t>
            </a:r>
            <a:r>
              <a:rPr lang="en-US" dirty="0" err="1"/>
              <a:t>Điền</a:t>
            </a:r>
            <a:r>
              <a:rPr lang="en-US" dirty="0"/>
              <a:t> </a:t>
            </a:r>
            <a:r>
              <a:rPr lang="en-US" dirty="0" err="1"/>
              <a:t>bằng</a:t>
            </a:r>
            <a:r>
              <a:rPr lang="en-US" dirty="0"/>
              <a:t> 	Median </a:t>
            </a:r>
            <a:r>
              <a:rPr lang="en-US" dirty="0" err="1"/>
              <a:t>dựa</a:t>
            </a:r>
            <a:r>
              <a:rPr lang="en-US" dirty="0"/>
              <a:t> </a:t>
            </a:r>
            <a:r>
              <a:rPr lang="en-US" dirty="0" err="1"/>
              <a:t>trên</a:t>
            </a:r>
            <a:r>
              <a:rPr lang="en-US" dirty="0"/>
              <a:t> </a:t>
            </a:r>
            <a:r>
              <a:rPr lang="en-US" dirty="0" err="1"/>
              <a:t>nhóm</a:t>
            </a:r>
            <a:r>
              <a:rPr lang="en-US" dirty="0"/>
              <a:t> (</a:t>
            </a:r>
            <a:r>
              <a:rPr lang="en-US" dirty="0" err="1"/>
              <a:t>Sex,Pclass,Title</a:t>
            </a:r>
            <a:r>
              <a:rPr lang="en-US" dirty="0"/>
              <a:t>) </a:t>
            </a:r>
            <a:r>
              <a:rPr lang="en-US" dirty="0" err="1"/>
              <a:t>để</a:t>
            </a:r>
            <a:r>
              <a:rPr lang="en-US" dirty="0"/>
              <a:t> </a:t>
            </a:r>
            <a:r>
              <a:rPr lang="en-US" dirty="0" err="1"/>
              <a:t>tính</a:t>
            </a:r>
            <a:r>
              <a:rPr lang="en-US" dirty="0"/>
              <a:t> </a:t>
            </a:r>
            <a:r>
              <a:rPr lang="en-US" dirty="0" err="1"/>
              <a:t>tuổi</a:t>
            </a:r>
            <a:r>
              <a:rPr lang="en-US" dirty="0"/>
              <a:t> 	</a:t>
            </a:r>
            <a:r>
              <a:rPr lang="en-US" dirty="0" err="1"/>
              <a:t>chính</a:t>
            </a:r>
            <a:r>
              <a:rPr lang="en-US" dirty="0"/>
              <a:t> </a:t>
            </a:r>
            <a:r>
              <a:rPr lang="en-US" dirty="0" err="1"/>
              <a:t>xác</a:t>
            </a:r>
            <a:r>
              <a:rPr lang="en-US" dirty="0"/>
              <a:t> </a:t>
            </a:r>
            <a:r>
              <a:rPr lang="en-US" dirty="0" err="1"/>
              <a:t>hơn</a:t>
            </a:r>
            <a:r>
              <a:rPr lang="en-US" dirty="0"/>
              <a:t>. </a:t>
            </a:r>
          </a:p>
          <a:p>
            <a:r>
              <a:rPr lang="en-US" sz="1800" dirty="0"/>
              <a:t>	</a:t>
            </a:r>
            <a:r>
              <a:rPr lang="en-US" dirty="0"/>
              <a:t>- </a:t>
            </a:r>
            <a:r>
              <a:rPr lang="en-US" sz="1800" dirty="0"/>
              <a:t>Age (</a:t>
            </a:r>
            <a:r>
              <a:rPr lang="en-US" sz="1800" dirty="0" err="1"/>
              <a:t>thiếu</a:t>
            </a:r>
            <a:r>
              <a:rPr lang="en-US" sz="1800" dirty="0"/>
              <a:t> 86 </a:t>
            </a:r>
            <a:r>
              <a:rPr lang="en-US" sz="1800" dirty="0" err="1"/>
              <a:t>dòng</a:t>
            </a:r>
            <a:r>
              <a:rPr lang="en-US" sz="1800" dirty="0"/>
              <a:t> </a:t>
            </a:r>
            <a:r>
              <a:rPr lang="en-US" sz="1800" dirty="0" err="1"/>
              <a:t>trong</a:t>
            </a:r>
            <a:r>
              <a:rPr lang="en-US" sz="1800" dirty="0"/>
              <a:t> </a:t>
            </a:r>
            <a:r>
              <a:rPr lang="en-US" sz="1800" dirty="0" err="1"/>
              <a:t>tập</a:t>
            </a:r>
            <a:r>
              <a:rPr lang="en-US" sz="1800" dirty="0"/>
              <a:t> Test): </a:t>
            </a:r>
            <a:r>
              <a:rPr lang="en-US" sz="1800" dirty="0" err="1"/>
              <a:t>Để</a:t>
            </a:r>
            <a:r>
              <a:rPr lang="en-US" sz="1800" dirty="0"/>
              <a:t> </a:t>
            </a:r>
            <a:r>
              <a:rPr lang="en-US" sz="1800" dirty="0" err="1"/>
              <a:t>tránh</a:t>
            </a:r>
            <a:r>
              <a:rPr lang="en-US" sz="1800" dirty="0"/>
              <a:t> data 	</a:t>
            </a:r>
            <a:r>
              <a:rPr lang="en-US" sz="1800" dirty="0" err="1"/>
              <a:t>leekage</a:t>
            </a:r>
            <a:r>
              <a:rPr lang="en-US" sz="1800" dirty="0"/>
              <a:t> ta </a:t>
            </a:r>
            <a:r>
              <a:rPr lang="en-US" sz="1800" dirty="0" err="1"/>
              <a:t>dùng</a:t>
            </a:r>
            <a:r>
              <a:rPr lang="en-US" sz="1800" dirty="0"/>
              <a:t> Median </a:t>
            </a:r>
            <a:r>
              <a:rPr lang="en-US" sz="1800" dirty="0" err="1"/>
              <a:t>tính</a:t>
            </a:r>
            <a:r>
              <a:rPr lang="en-US" sz="1800" dirty="0"/>
              <a:t> </a:t>
            </a:r>
            <a:r>
              <a:rPr lang="en-US" sz="1800" dirty="0" err="1"/>
              <a:t>được</a:t>
            </a:r>
            <a:r>
              <a:rPr lang="en-US" sz="1800" dirty="0"/>
              <a:t> </a:t>
            </a:r>
            <a:r>
              <a:rPr lang="en-US" sz="1800" dirty="0" err="1"/>
              <a:t>từ</a:t>
            </a:r>
            <a:r>
              <a:rPr lang="en-US" sz="1800" dirty="0"/>
              <a:t> </a:t>
            </a:r>
            <a:r>
              <a:rPr lang="en-US" sz="1800" dirty="0" err="1"/>
              <a:t>tập</a:t>
            </a:r>
            <a:r>
              <a:rPr lang="en-US" sz="1800" dirty="0"/>
              <a:t> Train 	</a:t>
            </a:r>
            <a:r>
              <a:rPr lang="en-US" sz="1800" dirty="0" err="1"/>
              <a:t>để</a:t>
            </a:r>
            <a:r>
              <a:rPr lang="en-US" dirty="0"/>
              <a:t> 	</a:t>
            </a:r>
            <a:r>
              <a:rPr lang="en-US" dirty="0" err="1"/>
              <a:t>điền</a:t>
            </a:r>
            <a:r>
              <a:rPr lang="en-US" dirty="0"/>
              <a:t> </a:t>
            </a:r>
            <a:r>
              <a:rPr lang="en-US" dirty="0" err="1"/>
              <a:t>vào</a:t>
            </a:r>
            <a:r>
              <a:rPr lang="en-US" dirty="0"/>
              <a:t> </a:t>
            </a:r>
            <a:r>
              <a:rPr lang="en-US" dirty="0" err="1"/>
              <a:t>tập</a:t>
            </a:r>
            <a:r>
              <a:rPr lang="en-US" dirty="0"/>
              <a:t> test.</a:t>
            </a:r>
          </a:p>
          <a:p>
            <a:r>
              <a:rPr lang="en-US" sz="1800" dirty="0"/>
              <a:t>	</a:t>
            </a:r>
            <a:r>
              <a:rPr lang="en-US" dirty="0"/>
              <a:t>- Embarked (</a:t>
            </a:r>
            <a:r>
              <a:rPr lang="en-US" dirty="0" err="1"/>
              <a:t>thiếu</a:t>
            </a:r>
            <a:r>
              <a:rPr lang="en-US" dirty="0"/>
              <a:t> 2 </a:t>
            </a:r>
            <a:r>
              <a:rPr lang="en-US" dirty="0" err="1"/>
              <a:t>trong</a:t>
            </a:r>
            <a:r>
              <a:rPr lang="en-US" dirty="0"/>
              <a:t> </a:t>
            </a:r>
            <a:r>
              <a:rPr lang="en-US" dirty="0" err="1"/>
              <a:t>tập</a:t>
            </a:r>
            <a:r>
              <a:rPr lang="en-US" dirty="0"/>
              <a:t> Train): </a:t>
            </a:r>
            <a:r>
              <a:rPr lang="en-US" dirty="0" err="1"/>
              <a:t>Điền</a:t>
            </a:r>
            <a:r>
              <a:rPr lang="en-US" dirty="0"/>
              <a:t> </a:t>
            </a:r>
            <a:r>
              <a:rPr lang="en-US" dirty="0" err="1"/>
              <a:t>bằng</a:t>
            </a:r>
            <a:r>
              <a:rPr lang="en-US" dirty="0"/>
              <a:t> </a:t>
            </a:r>
            <a:r>
              <a:rPr lang="en-US" dirty="0" err="1"/>
              <a:t>giá</a:t>
            </a:r>
            <a:r>
              <a:rPr lang="en-US" dirty="0"/>
              <a:t> </a:t>
            </a:r>
            <a:r>
              <a:rPr lang="en-US" dirty="0" err="1"/>
              <a:t>trị</a:t>
            </a:r>
            <a:r>
              <a:rPr lang="en-US" dirty="0"/>
              <a:t> 	</a:t>
            </a:r>
            <a:r>
              <a:rPr lang="en-US" dirty="0" err="1"/>
              <a:t>phổ</a:t>
            </a:r>
            <a:r>
              <a:rPr lang="en-US" dirty="0"/>
              <a:t> </a:t>
            </a:r>
            <a:r>
              <a:rPr lang="en-US" dirty="0" err="1"/>
              <a:t>biến</a:t>
            </a:r>
            <a:r>
              <a:rPr lang="en-US" dirty="0"/>
              <a:t> </a:t>
            </a:r>
            <a:r>
              <a:rPr lang="en-US" dirty="0" err="1"/>
              <a:t>nhất</a:t>
            </a:r>
            <a:r>
              <a:rPr lang="en-US" dirty="0"/>
              <a:t>. </a:t>
            </a:r>
          </a:p>
          <a:p>
            <a:r>
              <a:rPr lang="en-US" sz="1800" dirty="0"/>
              <a:t>	- Fare (</a:t>
            </a:r>
            <a:r>
              <a:rPr lang="en-US" sz="1800" dirty="0" err="1"/>
              <a:t>thiếu</a:t>
            </a:r>
            <a:r>
              <a:rPr lang="en-US" sz="1800" dirty="0"/>
              <a:t> 1 </a:t>
            </a:r>
            <a:r>
              <a:rPr lang="en-US" sz="1800" dirty="0" err="1"/>
              <a:t>trong</a:t>
            </a:r>
            <a:r>
              <a:rPr lang="en-US" sz="1800" dirty="0"/>
              <a:t> </a:t>
            </a:r>
            <a:r>
              <a:rPr lang="en-US" sz="1800" dirty="0" err="1"/>
              <a:t>tập</a:t>
            </a:r>
            <a:r>
              <a:rPr lang="en-US" sz="1800" dirty="0"/>
              <a:t> Test): </a:t>
            </a:r>
            <a:r>
              <a:rPr lang="vi-VN" dirty="0"/>
              <a:t>Điền bằng </a:t>
            </a:r>
            <a:r>
              <a:rPr lang="vi-VN" dirty="0" err="1"/>
              <a:t>median</a:t>
            </a:r>
            <a:r>
              <a:rPr lang="vi-VN" dirty="0"/>
              <a:t> của </a:t>
            </a:r>
            <a:r>
              <a:rPr lang="en-US" dirty="0"/>
              <a:t>	</a:t>
            </a:r>
            <a:r>
              <a:rPr lang="vi-VN" dirty="0"/>
              <a:t>nhóm </a:t>
            </a:r>
            <a:r>
              <a:rPr lang="vi-VN" dirty="0" err="1"/>
              <a:t>Pclass</a:t>
            </a:r>
            <a:r>
              <a:rPr lang="vi-VN" dirty="0"/>
              <a:t> tương ứng.</a:t>
            </a:r>
            <a:endParaRPr lang="en-US" sz="1800" dirty="0"/>
          </a:p>
        </p:txBody>
      </p:sp>
      <p:pic>
        <p:nvPicPr>
          <p:cNvPr id="10" name="Hình ảnh 9">
            <a:extLst>
              <a:ext uri="{FF2B5EF4-FFF2-40B4-BE49-F238E27FC236}">
                <a16:creationId xmlns:a16="http://schemas.microsoft.com/office/drawing/2014/main" id="{ED54314F-E524-59F6-A594-D968F2AA3C94}"/>
              </a:ext>
            </a:extLst>
          </p:cNvPr>
          <p:cNvPicPr>
            <a:picLocks noChangeAspect="1"/>
          </p:cNvPicPr>
          <p:nvPr/>
        </p:nvPicPr>
        <p:blipFill>
          <a:blip r:embed="rId2"/>
          <a:stretch>
            <a:fillRect/>
          </a:stretch>
        </p:blipFill>
        <p:spPr>
          <a:xfrm>
            <a:off x="7118691" y="815980"/>
            <a:ext cx="3225459" cy="4208126"/>
          </a:xfrm>
          <a:prstGeom prst="rect">
            <a:avLst/>
          </a:prstGeom>
        </p:spPr>
      </p:pic>
      <p:pic>
        <p:nvPicPr>
          <p:cNvPr id="12" name="Hình ảnh 11">
            <a:extLst>
              <a:ext uri="{FF2B5EF4-FFF2-40B4-BE49-F238E27FC236}">
                <a16:creationId xmlns:a16="http://schemas.microsoft.com/office/drawing/2014/main" id="{1DFFD783-7DC4-E044-1B67-0BAF405E76C2}"/>
              </a:ext>
            </a:extLst>
          </p:cNvPr>
          <p:cNvPicPr>
            <a:picLocks noChangeAspect="1"/>
          </p:cNvPicPr>
          <p:nvPr/>
        </p:nvPicPr>
        <p:blipFill>
          <a:blip r:embed="rId3"/>
          <a:stretch>
            <a:fillRect/>
          </a:stretch>
        </p:blipFill>
        <p:spPr>
          <a:xfrm>
            <a:off x="517867" y="5126855"/>
            <a:ext cx="6020640" cy="1038370"/>
          </a:xfrm>
          <a:prstGeom prst="rect">
            <a:avLst/>
          </a:prstGeom>
        </p:spPr>
      </p:pic>
    </p:spTree>
    <p:extLst>
      <p:ext uri="{BB962C8B-B14F-4D97-AF65-F5344CB8AC3E}">
        <p14:creationId xmlns:p14="http://schemas.microsoft.com/office/powerpoint/2010/main" val="193547405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70506-4D6A-0FBF-8D9C-472D9F3388F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E4D93B9-F49A-4C4B-2FA7-7E8A8D7388F3}"/>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endParaRPr lang="en-US" sz="2600" u="sng" dirty="0"/>
          </a:p>
        </p:txBody>
      </p:sp>
      <p:sp>
        <p:nvSpPr>
          <p:cNvPr id="4" name="Hộp Văn bản 3">
            <a:extLst>
              <a:ext uri="{FF2B5EF4-FFF2-40B4-BE49-F238E27FC236}">
                <a16:creationId xmlns:a16="http://schemas.microsoft.com/office/drawing/2014/main" id="{36A43FB6-B13D-0F22-00F7-69AA7E5E39AE}"/>
              </a:ext>
            </a:extLst>
          </p:cNvPr>
          <p:cNvSpPr txBox="1"/>
          <p:nvPr/>
        </p:nvSpPr>
        <p:spPr>
          <a:xfrm>
            <a:off x="517867" y="1350383"/>
            <a:ext cx="6263934" cy="3139321"/>
          </a:xfrm>
          <a:prstGeom prst="rect">
            <a:avLst/>
          </a:prstGeom>
          <a:noFill/>
        </p:spPr>
        <p:txBody>
          <a:bodyPr wrap="square">
            <a:spAutoFit/>
          </a:bodyPr>
          <a:lstStyle/>
          <a:p>
            <a:r>
              <a:rPr lang="en-US" sz="1800" u="sng" dirty="0" err="1"/>
              <a:t>Xử</a:t>
            </a:r>
            <a:r>
              <a:rPr lang="en-US" sz="1800" u="sng" dirty="0"/>
              <a:t> </a:t>
            </a:r>
            <a:r>
              <a:rPr lang="en-US" sz="1800" u="sng" dirty="0" err="1"/>
              <a:t>lý</a:t>
            </a:r>
            <a:r>
              <a:rPr lang="en-US" sz="1800" u="sng" dirty="0"/>
              <a:t> </a:t>
            </a:r>
            <a:r>
              <a:rPr lang="en-US" sz="1800" u="sng" dirty="0" err="1"/>
              <a:t>dữ</a:t>
            </a:r>
            <a:r>
              <a:rPr lang="en-US" sz="1800" u="sng" dirty="0"/>
              <a:t> </a:t>
            </a:r>
            <a:r>
              <a:rPr lang="en-US" sz="1800" u="sng" dirty="0" err="1"/>
              <a:t>liệu</a:t>
            </a:r>
            <a:r>
              <a:rPr lang="en-US" sz="1800" u="sng" dirty="0"/>
              <a:t> </a:t>
            </a:r>
            <a:r>
              <a:rPr lang="en-US" sz="1800" u="sng" dirty="0" err="1"/>
              <a:t>thiếu</a:t>
            </a:r>
            <a:r>
              <a:rPr lang="en-US" sz="1800" u="sng" dirty="0"/>
              <a:t> Cabin:</a:t>
            </a:r>
          </a:p>
          <a:p>
            <a:endParaRPr lang="en-US" sz="1800" b="1" u="sng" dirty="0"/>
          </a:p>
          <a:p>
            <a:r>
              <a:rPr lang="vi-VN" dirty="0"/>
              <a:t>Mục đích là chuyển đổi </a:t>
            </a:r>
            <a:r>
              <a:rPr lang="en-US" dirty="0" err="1"/>
              <a:t>đặc</a:t>
            </a:r>
            <a:r>
              <a:rPr lang="en-US" dirty="0"/>
              <a:t> </a:t>
            </a:r>
            <a:r>
              <a:rPr lang="en-US" dirty="0" err="1"/>
              <a:t>trưng</a:t>
            </a:r>
            <a:r>
              <a:rPr lang="vi-VN" dirty="0"/>
              <a:t> </a:t>
            </a:r>
            <a:r>
              <a:rPr lang="en-US" dirty="0"/>
              <a:t>‘</a:t>
            </a:r>
            <a:r>
              <a:rPr lang="vi-VN" dirty="0" err="1"/>
              <a:t>Cabin</a:t>
            </a:r>
            <a:r>
              <a:rPr lang="en-US" dirty="0"/>
              <a:t>’</a:t>
            </a:r>
            <a:r>
              <a:rPr lang="vi-VN" dirty="0"/>
              <a:t> thành một biến phân loại có ý nghĩa hơn. Việc này giúp giảm nhiễu và cung cấp thông tin về vị trí trên tàu, một yếu tố có liên quan đến tỷ lệ sống sót</a:t>
            </a:r>
            <a:endParaRPr lang="en-US" dirty="0"/>
          </a:p>
          <a:p>
            <a:endParaRPr lang="en-US" sz="1800" dirty="0"/>
          </a:p>
          <a:p>
            <a:endParaRPr lang="en-US" dirty="0"/>
          </a:p>
          <a:p>
            <a:endParaRPr lang="en-US" sz="1800" dirty="0"/>
          </a:p>
          <a:p>
            <a:endParaRPr lang="en-US" dirty="0"/>
          </a:p>
          <a:p>
            <a:r>
              <a:rPr lang="en-US" sz="1800" b="1" i="1" dirty="0" err="1"/>
              <a:t>Với</a:t>
            </a:r>
            <a:r>
              <a:rPr lang="en-US" sz="1800" b="1" i="1" dirty="0"/>
              <a:t> U(</a:t>
            </a:r>
            <a:r>
              <a:rPr lang="en-US" sz="1800" b="1" i="1" dirty="0" err="1"/>
              <a:t>Unkown</a:t>
            </a:r>
            <a:r>
              <a:rPr lang="en-US" sz="1800" b="1" i="1" dirty="0"/>
              <a:t>) </a:t>
            </a:r>
            <a:r>
              <a:rPr lang="en-US" sz="1800" b="1" i="1" dirty="0" err="1"/>
              <a:t>là</a:t>
            </a:r>
            <a:r>
              <a:rPr lang="en-US" sz="1800" b="1" i="1" dirty="0"/>
              <a:t> </a:t>
            </a:r>
            <a:r>
              <a:rPr lang="en-US" sz="1800" b="1" i="1" dirty="0" err="1"/>
              <a:t>giá</a:t>
            </a:r>
            <a:r>
              <a:rPr lang="en-US" sz="1800" b="1" i="1" dirty="0"/>
              <a:t> </a:t>
            </a:r>
            <a:r>
              <a:rPr lang="en-US" sz="1800" b="1" i="1" dirty="0" err="1"/>
              <a:t>trị</a:t>
            </a:r>
            <a:r>
              <a:rPr lang="en-US" sz="1800" b="1" i="1" dirty="0"/>
              <a:t> </a:t>
            </a:r>
            <a:r>
              <a:rPr lang="en-US" sz="1800" b="1" i="1" dirty="0" err="1"/>
              <a:t>NaN</a:t>
            </a:r>
            <a:endParaRPr lang="en-US" sz="1800" b="1" i="1" dirty="0"/>
          </a:p>
        </p:txBody>
      </p:sp>
      <p:pic>
        <p:nvPicPr>
          <p:cNvPr id="3" name="Hình ảnh 2">
            <a:extLst>
              <a:ext uri="{FF2B5EF4-FFF2-40B4-BE49-F238E27FC236}">
                <a16:creationId xmlns:a16="http://schemas.microsoft.com/office/drawing/2014/main" id="{FE1EBE11-F12C-1D4D-BA46-132C29AF2365}"/>
              </a:ext>
            </a:extLst>
          </p:cNvPr>
          <p:cNvPicPr>
            <a:picLocks noChangeAspect="1"/>
          </p:cNvPicPr>
          <p:nvPr/>
        </p:nvPicPr>
        <p:blipFill>
          <a:blip r:embed="rId2"/>
          <a:stretch>
            <a:fillRect/>
          </a:stretch>
        </p:blipFill>
        <p:spPr>
          <a:xfrm>
            <a:off x="0" y="4812177"/>
            <a:ext cx="12192000" cy="2045823"/>
          </a:xfrm>
          <a:prstGeom prst="rect">
            <a:avLst/>
          </a:prstGeom>
        </p:spPr>
      </p:pic>
    </p:spTree>
    <p:extLst>
      <p:ext uri="{BB962C8B-B14F-4D97-AF65-F5344CB8AC3E}">
        <p14:creationId xmlns:p14="http://schemas.microsoft.com/office/powerpoint/2010/main" val="214439565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B752C-A873-49E1-9D22-C31157D5BB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2562414-D354-C73D-83F9-74BFE20C7C13}"/>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endParaRPr lang="en-US" sz="2600" u="sng" dirty="0"/>
          </a:p>
        </p:txBody>
      </p:sp>
      <p:sp>
        <p:nvSpPr>
          <p:cNvPr id="4" name="Hộp Văn bản 3">
            <a:extLst>
              <a:ext uri="{FF2B5EF4-FFF2-40B4-BE49-F238E27FC236}">
                <a16:creationId xmlns:a16="http://schemas.microsoft.com/office/drawing/2014/main" id="{B9F07EA1-8F26-4C52-5C78-5243677B24C5}"/>
              </a:ext>
            </a:extLst>
          </p:cNvPr>
          <p:cNvSpPr txBox="1"/>
          <p:nvPr/>
        </p:nvSpPr>
        <p:spPr>
          <a:xfrm>
            <a:off x="517866" y="1350383"/>
            <a:ext cx="7666014" cy="1200329"/>
          </a:xfrm>
          <a:prstGeom prst="rect">
            <a:avLst/>
          </a:prstGeom>
          <a:noFill/>
        </p:spPr>
        <p:txBody>
          <a:bodyPr wrap="square">
            <a:spAutoFit/>
          </a:bodyPr>
          <a:lstStyle/>
          <a:p>
            <a:r>
              <a:rPr lang="en-US" u="sng" dirty="0" err="1"/>
              <a:t>Chuẩn</a:t>
            </a:r>
            <a:r>
              <a:rPr lang="en-US" u="sng" dirty="0"/>
              <a:t> </a:t>
            </a:r>
            <a:r>
              <a:rPr lang="en-US" u="sng" dirty="0" err="1"/>
              <a:t>hóa</a:t>
            </a:r>
            <a:r>
              <a:rPr lang="en-US" u="sng" dirty="0"/>
              <a:t> </a:t>
            </a:r>
            <a:r>
              <a:rPr lang="en-US" u="sng" dirty="0" err="1"/>
              <a:t>dữ</a:t>
            </a:r>
            <a:r>
              <a:rPr lang="en-US" u="sng" dirty="0"/>
              <a:t> </a:t>
            </a:r>
            <a:r>
              <a:rPr lang="en-US" u="sng" dirty="0" err="1"/>
              <a:t>liệu</a:t>
            </a:r>
            <a:r>
              <a:rPr lang="en-US" sz="1800" u="sng" dirty="0"/>
              <a:t>:</a:t>
            </a:r>
          </a:p>
          <a:p>
            <a:r>
              <a:rPr lang="en-US" dirty="0"/>
              <a:t>   </a:t>
            </a:r>
            <a:r>
              <a:rPr lang="en-US" dirty="0" err="1"/>
              <a:t>Áp</a:t>
            </a:r>
            <a:r>
              <a:rPr lang="en-US" dirty="0"/>
              <a:t> </a:t>
            </a:r>
            <a:r>
              <a:rPr lang="en-US" dirty="0" err="1"/>
              <a:t>dụng</a:t>
            </a:r>
            <a:r>
              <a:rPr lang="en-US" dirty="0"/>
              <a:t> Log Transformation </a:t>
            </a:r>
            <a:r>
              <a:rPr lang="en-US" dirty="0" err="1"/>
              <a:t>cho</a:t>
            </a:r>
            <a:r>
              <a:rPr lang="en-US" dirty="0"/>
              <a:t> Fare </a:t>
            </a:r>
            <a:r>
              <a:rPr lang="en-US" dirty="0" err="1"/>
              <a:t>và</a:t>
            </a:r>
            <a:r>
              <a:rPr lang="en-US" dirty="0"/>
              <a:t> Age </a:t>
            </a:r>
            <a:r>
              <a:rPr lang="en-US" dirty="0" err="1"/>
              <a:t>để</a:t>
            </a:r>
            <a:r>
              <a:rPr lang="en-US" dirty="0"/>
              <a:t> </a:t>
            </a:r>
            <a:r>
              <a:rPr lang="en-US" dirty="0" err="1"/>
              <a:t>giảm</a:t>
            </a:r>
            <a:r>
              <a:rPr lang="en-US" dirty="0"/>
              <a:t> </a:t>
            </a:r>
            <a:r>
              <a:rPr lang="en-US" dirty="0" err="1"/>
              <a:t>độ</a:t>
            </a:r>
            <a:r>
              <a:rPr lang="en-US" dirty="0"/>
              <a:t> </a:t>
            </a:r>
            <a:r>
              <a:rPr lang="en-US" dirty="0" err="1"/>
              <a:t>lệch</a:t>
            </a:r>
            <a:r>
              <a:rPr lang="en-US" dirty="0"/>
              <a:t>.</a:t>
            </a:r>
          </a:p>
          <a:p>
            <a:r>
              <a:rPr lang="en-US" dirty="0"/>
              <a:t>   </a:t>
            </a:r>
            <a:r>
              <a:rPr lang="vi-VN" dirty="0"/>
              <a:t>Các đặc trưng số (</a:t>
            </a:r>
            <a:r>
              <a:rPr lang="vi-VN" dirty="0" err="1"/>
              <a:t>Age</a:t>
            </a:r>
            <a:r>
              <a:rPr lang="vi-VN" dirty="0"/>
              <a:t>, </a:t>
            </a:r>
            <a:r>
              <a:rPr lang="vi-VN" dirty="0" err="1"/>
              <a:t>Fare</a:t>
            </a:r>
            <a:r>
              <a:rPr lang="vi-VN" dirty="0"/>
              <a:t>, </a:t>
            </a:r>
            <a:r>
              <a:rPr lang="vi-VN" dirty="0" err="1"/>
              <a:t>FamilySize</a:t>
            </a:r>
            <a:r>
              <a:rPr lang="vi-VN" dirty="0"/>
              <a:t>,...) </a:t>
            </a:r>
            <a:r>
              <a:rPr lang="en-US" dirty="0" err="1"/>
              <a:t>dùng</a:t>
            </a:r>
            <a:r>
              <a:rPr lang="en-US" dirty="0"/>
              <a:t> </a:t>
            </a:r>
            <a:r>
              <a:rPr lang="vi-VN" dirty="0" err="1"/>
              <a:t>StandardScaler</a:t>
            </a:r>
            <a:r>
              <a:rPr lang="en-US" dirty="0"/>
              <a:t>.</a:t>
            </a:r>
          </a:p>
          <a:p>
            <a:r>
              <a:rPr lang="en-US" dirty="0"/>
              <a:t>   </a:t>
            </a:r>
            <a:r>
              <a:rPr lang="vi-VN" dirty="0"/>
              <a:t>Các đặc trưng phân loại (</a:t>
            </a:r>
            <a:r>
              <a:rPr lang="vi-VN" dirty="0" err="1"/>
              <a:t>Pclass</a:t>
            </a:r>
            <a:r>
              <a:rPr lang="vi-VN" dirty="0"/>
              <a:t>, </a:t>
            </a:r>
            <a:r>
              <a:rPr lang="vi-VN" dirty="0" err="1"/>
              <a:t>Sex</a:t>
            </a:r>
            <a:r>
              <a:rPr lang="vi-VN" dirty="0"/>
              <a:t>, </a:t>
            </a:r>
            <a:r>
              <a:rPr lang="vi-VN" dirty="0" err="1"/>
              <a:t>Embarked</a:t>
            </a:r>
            <a:r>
              <a:rPr lang="vi-VN" dirty="0"/>
              <a:t>, ...) </a:t>
            </a:r>
            <a:r>
              <a:rPr lang="en-US" dirty="0" err="1"/>
              <a:t>dùng</a:t>
            </a:r>
            <a:r>
              <a:rPr lang="vi-VN" dirty="0"/>
              <a:t> </a:t>
            </a:r>
            <a:r>
              <a:rPr lang="vi-VN" dirty="0" err="1"/>
              <a:t>OneHotEnc</a:t>
            </a:r>
            <a:r>
              <a:rPr lang="en-US" dirty="0"/>
              <a:t>o</a:t>
            </a:r>
            <a:r>
              <a:rPr lang="vi-VN" dirty="0" err="1"/>
              <a:t>der</a:t>
            </a:r>
            <a:endParaRPr lang="en-US" dirty="0"/>
          </a:p>
        </p:txBody>
      </p:sp>
      <p:pic>
        <p:nvPicPr>
          <p:cNvPr id="5" name="Hình ảnh 4">
            <a:extLst>
              <a:ext uri="{FF2B5EF4-FFF2-40B4-BE49-F238E27FC236}">
                <a16:creationId xmlns:a16="http://schemas.microsoft.com/office/drawing/2014/main" id="{508F02B4-3955-4B1A-B1AB-5708742AC19F}"/>
              </a:ext>
            </a:extLst>
          </p:cNvPr>
          <p:cNvPicPr>
            <a:picLocks noChangeAspect="1"/>
          </p:cNvPicPr>
          <p:nvPr/>
        </p:nvPicPr>
        <p:blipFill>
          <a:blip r:embed="rId2"/>
          <a:stretch>
            <a:fillRect/>
          </a:stretch>
        </p:blipFill>
        <p:spPr>
          <a:xfrm>
            <a:off x="517866" y="2614476"/>
            <a:ext cx="9665208" cy="3297283"/>
          </a:xfrm>
          <a:prstGeom prst="rect">
            <a:avLst/>
          </a:prstGeom>
        </p:spPr>
      </p:pic>
      <p:pic>
        <p:nvPicPr>
          <p:cNvPr id="8" name="Hình ảnh 7">
            <a:extLst>
              <a:ext uri="{FF2B5EF4-FFF2-40B4-BE49-F238E27FC236}">
                <a16:creationId xmlns:a16="http://schemas.microsoft.com/office/drawing/2014/main" id="{703F5959-8398-7D96-852F-861B7A3F5CB8}"/>
              </a:ext>
            </a:extLst>
          </p:cNvPr>
          <p:cNvPicPr>
            <a:picLocks noChangeAspect="1"/>
          </p:cNvPicPr>
          <p:nvPr/>
        </p:nvPicPr>
        <p:blipFill>
          <a:blip r:embed="rId3"/>
          <a:stretch>
            <a:fillRect/>
          </a:stretch>
        </p:blipFill>
        <p:spPr>
          <a:xfrm>
            <a:off x="517866" y="5975523"/>
            <a:ext cx="1387142" cy="814011"/>
          </a:xfrm>
          <a:prstGeom prst="rect">
            <a:avLst/>
          </a:prstGeom>
        </p:spPr>
      </p:pic>
      <p:sp>
        <p:nvSpPr>
          <p:cNvPr id="9" name="Hộp Văn bản 8">
            <a:extLst>
              <a:ext uri="{FF2B5EF4-FFF2-40B4-BE49-F238E27FC236}">
                <a16:creationId xmlns:a16="http://schemas.microsoft.com/office/drawing/2014/main" id="{862839DD-B2B3-8D79-812F-5222F1DF051E}"/>
              </a:ext>
            </a:extLst>
          </p:cNvPr>
          <p:cNvSpPr txBox="1"/>
          <p:nvPr/>
        </p:nvSpPr>
        <p:spPr>
          <a:xfrm>
            <a:off x="2247900" y="6197862"/>
            <a:ext cx="5288627" cy="369332"/>
          </a:xfrm>
          <a:prstGeom prst="rect">
            <a:avLst/>
          </a:prstGeom>
          <a:noFill/>
        </p:spPr>
        <p:txBody>
          <a:bodyPr wrap="none" rtlCol="0">
            <a:spAutoFit/>
          </a:bodyPr>
          <a:lstStyle/>
          <a:p>
            <a:r>
              <a:rPr lang="en-US" i="1" u="sng" dirty="0" err="1"/>
              <a:t>Tổng</a:t>
            </a:r>
            <a:r>
              <a:rPr lang="en-US" i="1" u="sng" dirty="0"/>
              <a:t> </a:t>
            </a:r>
            <a:r>
              <a:rPr lang="en-US" i="1" u="sng" dirty="0" err="1"/>
              <a:t>cộng</a:t>
            </a:r>
            <a:r>
              <a:rPr lang="en-US" i="1" u="sng" dirty="0"/>
              <a:t> </a:t>
            </a:r>
            <a:r>
              <a:rPr lang="en-US" i="1" u="sng" dirty="0" err="1"/>
              <a:t>sẽ</a:t>
            </a:r>
            <a:r>
              <a:rPr lang="en-US" i="1" u="sng" dirty="0"/>
              <a:t> </a:t>
            </a:r>
            <a:r>
              <a:rPr lang="en-US" i="1" u="sng" dirty="0" err="1"/>
              <a:t>có</a:t>
            </a:r>
            <a:r>
              <a:rPr lang="en-US" i="1" u="sng" dirty="0"/>
              <a:t> 69 </a:t>
            </a:r>
            <a:r>
              <a:rPr lang="en-US" i="1" u="sng" dirty="0" err="1"/>
              <a:t>cột</a:t>
            </a:r>
            <a:r>
              <a:rPr lang="en-US" i="1" u="sng" dirty="0"/>
              <a:t> </a:t>
            </a:r>
            <a:r>
              <a:rPr lang="en-US" i="1" u="sng" dirty="0" err="1"/>
              <a:t>đặc</a:t>
            </a:r>
            <a:r>
              <a:rPr lang="en-US" i="1" u="sng" dirty="0"/>
              <a:t> </a:t>
            </a:r>
            <a:r>
              <a:rPr lang="en-US" i="1" u="sng" dirty="0" err="1"/>
              <a:t>trưng</a:t>
            </a:r>
            <a:r>
              <a:rPr lang="en-US" i="1" u="sng" dirty="0"/>
              <a:t> </a:t>
            </a:r>
            <a:r>
              <a:rPr lang="en-US" i="1" u="sng" dirty="0" err="1"/>
              <a:t>sau</a:t>
            </a:r>
            <a:r>
              <a:rPr lang="en-US" i="1" u="sng" dirty="0"/>
              <a:t> </a:t>
            </a:r>
            <a:r>
              <a:rPr lang="en-US" i="1" u="sng" dirty="0" err="1"/>
              <a:t>khi</a:t>
            </a:r>
            <a:r>
              <a:rPr lang="en-US" i="1" u="sng" dirty="0"/>
              <a:t> </a:t>
            </a:r>
            <a:r>
              <a:rPr lang="en-US" i="1" u="sng" dirty="0" err="1"/>
              <a:t>chuẩn</a:t>
            </a:r>
            <a:r>
              <a:rPr lang="en-US" i="1" u="sng" dirty="0"/>
              <a:t> </a:t>
            </a:r>
            <a:r>
              <a:rPr lang="en-US" i="1" u="sng" dirty="0" err="1"/>
              <a:t>hóa</a:t>
            </a:r>
            <a:endParaRPr lang="en-US" i="1" u="sng" dirty="0"/>
          </a:p>
        </p:txBody>
      </p:sp>
    </p:spTree>
    <p:extLst>
      <p:ext uri="{BB962C8B-B14F-4D97-AF65-F5344CB8AC3E}">
        <p14:creationId xmlns:p14="http://schemas.microsoft.com/office/powerpoint/2010/main" val="145882785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F65BB-D35C-B24B-D7BF-9CE2BD21143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706E74E-B864-5E28-FAAD-ACD79DA3CE38}"/>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endParaRPr lang="en-US" sz="2600" u="sng" dirty="0"/>
          </a:p>
        </p:txBody>
      </p:sp>
      <p:sp>
        <p:nvSpPr>
          <p:cNvPr id="4" name="Hộp Văn bản 3">
            <a:extLst>
              <a:ext uri="{FF2B5EF4-FFF2-40B4-BE49-F238E27FC236}">
                <a16:creationId xmlns:a16="http://schemas.microsoft.com/office/drawing/2014/main" id="{ED013419-7F55-A256-2DA3-BDA8D2E833BF}"/>
              </a:ext>
            </a:extLst>
          </p:cNvPr>
          <p:cNvSpPr txBox="1"/>
          <p:nvPr/>
        </p:nvSpPr>
        <p:spPr>
          <a:xfrm>
            <a:off x="517866" y="1350383"/>
            <a:ext cx="7666014" cy="1754326"/>
          </a:xfrm>
          <a:prstGeom prst="rect">
            <a:avLst/>
          </a:prstGeom>
          <a:noFill/>
        </p:spPr>
        <p:txBody>
          <a:bodyPr wrap="square">
            <a:spAutoFit/>
          </a:bodyPr>
          <a:lstStyle/>
          <a:p>
            <a:r>
              <a:rPr lang="en-US" sz="1800" u="sng" dirty="0"/>
              <a:t>Model training:</a:t>
            </a:r>
          </a:p>
          <a:p>
            <a:r>
              <a:rPr lang="en-US" dirty="0"/>
              <a:t> Các </a:t>
            </a:r>
            <a:r>
              <a:rPr lang="en-US" dirty="0" err="1"/>
              <a:t>mô</a:t>
            </a:r>
            <a:r>
              <a:rPr lang="en-US" dirty="0"/>
              <a:t> </a:t>
            </a:r>
            <a:r>
              <a:rPr lang="en-US" dirty="0" err="1"/>
              <a:t>hình</a:t>
            </a:r>
            <a:r>
              <a:rPr lang="en-US" dirty="0"/>
              <a:t> </a:t>
            </a:r>
            <a:r>
              <a:rPr lang="en-US" dirty="0" err="1"/>
              <a:t>sử</a:t>
            </a:r>
            <a:r>
              <a:rPr lang="en-US" dirty="0"/>
              <a:t> </a:t>
            </a:r>
            <a:r>
              <a:rPr lang="en-US" dirty="0" err="1"/>
              <a:t>dụng</a:t>
            </a:r>
            <a:r>
              <a:rPr lang="en-US" dirty="0"/>
              <a:t>:</a:t>
            </a:r>
          </a:p>
          <a:p>
            <a:r>
              <a:rPr lang="en-US" dirty="0"/>
              <a:t>   Logistic Regression</a:t>
            </a:r>
          </a:p>
          <a:p>
            <a:r>
              <a:rPr lang="en-US" dirty="0"/>
              <a:t>   Support Vector Machine (SVM)</a:t>
            </a:r>
          </a:p>
          <a:p>
            <a:r>
              <a:rPr lang="en-US" dirty="0"/>
              <a:t>   Random Forest Classifier</a:t>
            </a:r>
          </a:p>
          <a:p>
            <a:r>
              <a:rPr lang="en-US" dirty="0"/>
              <a:t>   Extreme Gradient Boosting (XGB)</a:t>
            </a:r>
          </a:p>
        </p:txBody>
      </p:sp>
      <p:pic>
        <p:nvPicPr>
          <p:cNvPr id="1026" name="Picture 2" descr="Everything You Need to Know About Logistic Regression - Spiceworks">
            <a:extLst>
              <a:ext uri="{FF2B5EF4-FFF2-40B4-BE49-F238E27FC236}">
                <a16:creationId xmlns:a16="http://schemas.microsoft.com/office/drawing/2014/main" id="{8546997C-67A5-1DE7-54E4-154AD48E92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737794"/>
            <a:ext cx="2619375" cy="174307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upport Vector Machine là gì? Tầm quan trọng của SVM trong ML">
            <a:extLst>
              <a:ext uri="{FF2B5EF4-FFF2-40B4-BE49-F238E27FC236}">
                <a16:creationId xmlns:a16="http://schemas.microsoft.com/office/drawing/2014/main" id="{1F94DE07-E64E-2978-D443-BDD492F9A0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0838" y="3764542"/>
            <a:ext cx="2280304" cy="17430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Random Forest. Random Forest is an ensemble machine… | by Deniz Gunay |  Medium">
            <a:extLst>
              <a:ext uri="{FF2B5EF4-FFF2-40B4-BE49-F238E27FC236}">
                <a16:creationId xmlns:a16="http://schemas.microsoft.com/office/drawing/2014/main" id="{7217ED68-981E-262B-52A4-3DF1C1A596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65312" y="3764542"/>
            <a:ext cx="2458807" cy="1743075"/>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Extreme gradient boosting | Download Scientific Diagram">
            <a:extLst>
              <a:ext uri="{FF2B5EF4-FFF2-40B4-BE49-F238E27FC236}">
                <a16:creationId xmlns:a16="http://schemas.microsoft.com/office/drawing/2014/main" id="{3DAFE182-8E38-ABFA-C09C-FB7E15CC3A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8289" y="3741859"/>
            <a:ext cx="2902248" cy="19359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829218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C4513-306A-1756-167B-D3C01AA2E25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07A7C77-D77B-25BD-AA12-F4A03F33CB95}"/>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 Phương </a:t>
            </a:r>
            <a:r>
              <a:rPr lang="en-US" sz="4400" b="1" dirty="0" err="1"/>
              <a:t>pháp</a:t>
            </a:r>
            <a:r>
              <a:rPr lang="en-US" sz="4400" b="1" dirty="0"/>
              <a:t> </a:t>
            </a:r>
            <a:r>
              <a:rPr lang="en-US" sz="4400" b="1" dirty="0" err="1"/>
              <a:t>đề</a:t>
            </a:r>
            <a:r>
              <a:rPr lang="en-US" sz="4400" b="1" dirty="0"/>
              <a:t> </a:t>
            </a:r>
            <a:r>
              <a:rPr lang="en-US" sz="4400" b="1" dirty="0" err="1"/>
              <a:t>xuất</a:t>
            </a:r>
            <a:br>
              <a:rPr lang="en-US" sz="2600" u="sng" dirty="0"/>
            </a:br>
            <a:endParaRPr lang="en-US" sz="2600" u="sng" dirty="0"/>
          </a:p>
        </p:txBody>
      </p:sp>
      <p:sp>
        <p:nvSpPr>
          <p:cNvPr id="4" name="Hộp Văn bản 3">
            <a:extLst>
              <a:ext uri="{FF2B5EF4-FFF2-40B4-BE49-F238E27FC236}">
                <a16:creationId xmlns:a16="http://schemas.microsoft.com/office/drawing/2014/main" id="{270AF97C-1ED4-C742-8310-F9EBF9C14262}"/>
              </a:ext>
            </a:extLst>
          </p:cNvPr>
          <p:cNvSpPr txBox="1"/>
          <p:nvPr/>
        </p:nvSpPr>
        <p:spPr>
          <a:xfrm>
            <a:off x="517867" y="1359527"/>
            <a:ext cx="6184685" cy="4801314"/>
          </a:xfrm>
          <a:prstGeom prst="rect">
            <a:avLst/>
          </a:prstGeom>
          <a:noFill/>
        </p:spPr>
        <p:txBody>
          <a:bodyPr wrap="square">
            <a:spAutoFit/>
          </a:bodyPr>
          <a:lstStyle/>
          <a:p>
            <a:r>
              <a:rPr lang="en-US" u="sng" dirty="0" err="1"/>
              <a:t>Đánh</a:t>
            </a:r>
            <a:r>
              <a:rPr lang="en-US" u="sng" dirty="0"/>
              <a:t> </a:t>
            </a:r>
            <a:r>
              <a:rPr lang="en-US" u="sng" dirty="0" err="1"/>
              <a:t>giá</a:t>
            </a:r>
            <a:r>
              <a:rPr lang="en-US" u="sng" dirty="0"/>
              <a:t> </a:t>
            </a:r>
            <a:r>
              <a:rPr lang="en-US" u="sng" dirty="0" err="1"/>
              <a:t>mô</a:t>
            </a:r>
            <a:r>
              <a:rPr lang="en-US" u="sng" dirty="0"/>
              <a:t> </a:t>
            </a:r>
            <a:r>
              <a:rPr lang="en-US" u="sng" dirty="0" err="1"/>
              <a:t>hình</a:t>
            </a:r>
            <a:r>
              <a:rPr lang="en-US" u="sng" dirty="0"/>
              <a:t> </a:t>
            </a:r>
            <a:r>
              <a:rPr lang="en-US" u="sng" dirty="0" err="1"/>
              <a:t>bằng</a:t>
            </a:r>
            <a:r>
              <a:rPr lang="en-US" u="sng" dirty="0"/>
              <a:t> cross-validation:</a:t>
            </a:r>
          </a:p>
          <a:p>
            <a:endParaRPr lang="en-US" sz="1800" u="sng" dirty="0"/>
          </a:p>
          <a:p>
            <a:r>
              <a:rPr lang="en-US" dirty="0"/>
              <a:t> </a:t>
            </a:r>
            <a:r>
              <a:rPr lang="en-US" dirty="0" err="1"/>
              <a:t>Sử</a:t>
            </a:r>
            <a:r>
              <a:rPr lang="en-US" dirty="0"/>
              <a:t> </a:t>
            </a:r>
            <a:r>
              <a:rPr lang="en-US" dirty="0" err="1"/>
              <a:t>dụng</a:t>
            </a:r>
            <a:r>
              <a:rPr lang="en-US" dirty="0"/>
              <a:t> 3 </a:t>
            </a:r>
            <a:r>
              <a:rPr lang="en-US" dirty="0" err="1"/>
              <a:t>chỉ</a:t>
            </a:r>
            <a:r>
              <a:rPr lang="en-US" dirty="0"/>
              <a:t> </a:t>
            </a:r>
            <a:r>
              <a:rPr lang="en-US" dirty="0" err="1"/>
              <a:t>số</a:t>
            </a:r>
            <a:r>
              <a:rPr lang="en-US" dirty="0"/>
              <a:t> </a:t>
            </a:r>
            <a:r>
              <a:rPr lang="en-US" dirty="0" err="1"/>
              <a:t>chính</a:t>
            </a:r>
            <a:r>
              <a:rPr lang="en-US" dirty="0"/>
              <a:t>:</a:t>
            </a:r>
          </a:p>
          <a:p>
            <a:r>
              <a:rPr lang="en-US" b="1" dirty="0"/>
              <a:t>Accuracy</a:t>
            </a:r>
            <a:r>
              <a:rPr lang="en-US" dirty="0"/>
              <a:t> (</a:t>
            </a:r>
            <a:r>
              <a:rPr lang="en-US" dirty="0" err="1"/>
              <a:t>Độ</a:t>
            </a:r>
            <a:r>
              <a:rPr lang="en-US" dirty="0"/>
              <a:t> </a:t>
            </a:r>
            <a:r>
              <a:rPr lang="en-US" dirty="0" err="1"/>
              <a:t>chính</a:t>
            </a:r>
            <a:r>
              <a:rPr lang="en-US" dirty="0"/>
              <a:t> </a:t>
            </a:r>
            <a:r>
              <a:rPr lang="en-US" dirty="0" err="1"/>
              <a:t>xác</a:t>
            </a:r>
            <a:r>
              <a:rPr lang="en-US" dirty="0"/>
              <a:t>).</a:t>
            </a:r>
          </a:p>
          <a:p>
            <a:r>
              <a:rPr lang="en-US" b="1" dirty="0"/>
              <a:t>F1 Score</a:t>
            </a:r>
            <a:r>
              <a:rPr lang="en-US" dirty="0"/>
              <a:t> (</a:t>
            </a:r>
            <a:r>
              <a:rPr lang="en-US" dirty="0" err="1"/>
              <a:t>Cân</a:t>
            </a:r>
            <a:r>
              <a:rPr lang="en-US" dirty="0"/>
              <a:t> </a:t>
            </a:r>
            <a:r>
              <a:rPr lang="en-US" dirty="0" err="1"/>
              <a:t>bằng</a:t>
            </a:r>
            <a:r>
              <a:rPr lang="en-US" dirty="0"/>
              <a:t> Precision &amp; Recall)</a:t>
            </a:r>
          </a:p>
          <a:p>
            <a:r>
              <a:rPr lang="en-US" b="1" dirty="0"/>
              <a:t>ROC AUC</a:t>
            </a:r>
            <a:r>
              <a:rPr lang="en-US" dirty="0"/>
              <a:t> (</a:t>
            </a:r>
            <a:r>
              <a:rPr lang="en-US" dirty="0" err="1"/>
              <a:t>Khả</a:t>
            </a:r>
            <a:r>
              <a:rPr lang="en-US" dirty="0"/>
              <a:t> </a:t>
            </a:r>
            <a:r>
              <a:rPr lang="en-US" dirty="0" err="1"/>
              <a:t>năng</a:t>
            </a:r>
            <a:r>
              <a:rPr lang="en-US" dirty="0"/>
              <a:t> </a:t>
            </a:r>
            <a:r>
              <a:rPr lang="en-US" dirty="0" err="1"/>
              <a:t>phân</a:t>
            </a:r>
            <a:r>
              <a:rPr lang="en-US" dirty="0"/>
              <a:t> </a:t>
            </a:r>
            <a:r>
              <a:rPr lang="en-US" dirty="0" err="1"/>
              <a:t>loại</a:t>
            </a:r>
            <a:r>
              <a:rPr lang="en-US" dirty="0"/>
              <a:t> </a:t>
            </a:r>
            <a:r>
              <a:rPr lang="en-US" dirty="0" err="1"/>
              <a:t>tổng</a:t>
            </a:r>
            <a:r>
              <a:rPr lang="en-US" dirty="0"/>
              <a:t> </a:t>
            </a:r>
            <a:r>
              <a:rPr lang="en-US" dirty="0" err="1"/>
              <a:t>thể</a:t>
            </a:r>
            <a:r>
              <a:rPr lang="en-US" dirty="0"/>
              <a:t>)</a:t>
            </a:r>
          </a:p>
          <a:p>
            <a:endParaRPr lang="en-US" dirty="0"/>
          </a:p>
          <a:p>
            <a:r>
              <a:rPr lang="vi-VN" b="1" dirty="0"/>
              <a:t>Mục đích</a:t>
            </a:r>
            <a:r>
              <a:rPr lang="en-US" b="1" dirty="0"/>
              <a:t>:</a:t>
            </a:r>
            <a:endParaRPr lang="vi-VN" b="1" dirty="0"/>
          </a:p>
          <a:p>
            <a:r>
              <a:rPr lang="vi-VN" dirty="0"/>
              <a:t>Kiểm tra tính ổn định và khả năng tổng quát hóa của từng mô hình.</a:t>
            </a:r>
          </a:p>
          <a:p>
            <a:r>
              <a:rPr lang="vi-VN" dirty="0"/>
              <a:t>Chọn mô hình có hiệu suất thực tế tốt nhất trên dữ liệu chưa từng thấy.</a:t>
            </a:r>
          </a:p>
          <a:p>
            <a:endParaRPr lang="en-US" dirty="0"/>
          </a:p>
          <a:p>
            <a:r>
              <a:rPr lang="en-US" b="1" dirty="0" err="1"/>
              <a:t>Thực</a:t>
            </a:r>
            <a:r>
              <a:rPr lang="en-US" b="1" dirty="0"/>
              <a:t> </a:t>
            </a:r>
            <a:r>
              <a:rPr lang="en-US" b="1" dirty="0" err="1"/>
              <a:t>thi</a:t>
            </a:r>
            <a:r>
              <a:rPr lang="en-US" b="1" dirty="0"/>
              <a:t>:</a:t>
            </a:r>
            <a:endParaRPr lang="en-US" dirty="0"/>
          </a:p>
          <a:p>
            <a:r>
              <a:rPr lang="en-US" dirty="0" err="1"/>
              <a:t>Sử</a:t>
            </a:r>
            <a:r>
              <a:rPr lang="en-US" dirty="0"/>
              <a:t> </a:t>
            </a:r>
            <a:r>
              <a:rPr lang="en-US" dirty="0" err="1"/>
              <a:t>dụng</a:t>
            </a:r>
            <a:r>
              <a:rPr lang="en-US" dirty="0"/>
              <a:t> Stratified K-Fold chia </a:t>
            </a:r>
            <a:r>
              <a:rPr lang="en-US" dirty="0" err="1"/>
              <a:t>dữ</a:t>
            </a:r>
            <a:r>
              <a:rPr lang="en-US" dirty="0"/>
              <a:t> </a:t>
            </a:r>
            <a:r>
              <a:rPr lang="en-US" dirty="0" err="1"/>
              <a:t>liệu</a:t>
            </a:r>
            <a:r>
              <a:rPr lang="en-US" dirty="0"/>
              <a:t> </a:t>
            </a:r>
            <a:r>
              <a:rPr lang="en-US" dirty="0" err="1"/>
              <a:t>thành</a:t>
            </a:r>
            <a:r>
              <a:rPr lang="en-US" dirty="0"/>
              <a:t> 15 </a:t>
            </a:r>
            <a:r>
              <a:rPr lang="en-US" dirty="0" err="1"/>
              <a:t>phần</a:t>
            </a:r>
            <a:r>
              <a:rPr lang="en-US" dirty="0"/>
              <a:t>.</a:t>
            </a:r>
          </a:p>
          <a:p>
            <a:r>
              <a:rPr lang="en-US" dirty="0" err="1"/>
              <a:t>Tính</a:t>
            </a:r>
            <a:r>
              <a:rPr lang="en-US" dirty="0"/>
              <a:t> </a:t>
            </a:r>
            <a:r>
              <a:rPr lang="en-US" dirty="0" err="1"/>
              <a:t>điểm</a:t>
            </a:r>
            <a:r>
              <a:rPr lang="en-US" dirty="0"/>
              <a:t> </a:t>
            </a:r>
            <a:r>
              <a:rPr lang="en-US" dirty="0" err="1"/>
              <a:t>trung</a:t>
            </a:r>
            <a:r>
              <a:rPr lang="en-US" dirty="0"/>
              <a:t> </a:t>
            </a:r>
            <a:r>
              <a:rPr lang="en-US" dirty="0" err="1"/>
              <a:t>bình</a:t>
            </a:r>
            <a:r>
              <a:rPr lang="en-US" dirty="0"/>
              <a:t> </a:t>
            </a:r>
            <a:r>
              <a:rPr lang="en-US" dirty="0" err="1"/>
              <a:t>của</a:t>
            </a:r>
            <a:r>
              <a:rPr lang="en-US" dirty="0"/>
              <a:t> 15 </a:t>
            </a:r>
            <a:r>
              <a:rPr lang="en-US" dirty="0" err="1"/>
              <a:t>lần</a:t>
            </a:r>
            <a:r>
              <a:rPr lang="en-US" dirty="0"/>
              <a:t> </a:t>
            </a:r>
            <a:r>
              <a:rPr lang="en-US" dirty="0" err="1"/>
              <a:t>chạy</a:t>
            </a:r>
            <a:r>
              <a:rPr lang="en-US" dirty="0"/>
              <a:t> </a:t>
            </a:r>
            <a:r>
              <a:rPr lang="en-US" dirty="0" err="1"/>
              <a:t>cross_val_score</a:t>
            </a:r>
            <a:r>
              <a:rPr lang="en-US" dirty="0"/>
              <a:t> </a:t>
            </a:r>
            <a:r>
              <a:rPr lang="en-US" dirty="0" err="1"/>
              <a:t>cho</a:t>
            </a:r>
            <a:r>
              <a:rPr lang="en-US" dirty="0"/>
              <a:t> </a:t>
            </a:r>
            <a:r>
              <a:rPr lang="en-US" dirty="0" err="1"/>
              <a:t>từng</a:t>
            </a:r>
            <a:r>
              <a:rPr lang="en-US" dirty="0"/>
              <a:t> </a:t>
            </a:r>
            <a:r>
              <a:rPr lang="en-US" dirty="0" err="1"/>
              <a:t>mô</a:t>
            </a:r>
            <a:r>
              <a:rPr lang="en-US" dirty="0"/>
              <a:t> </a:t>
            </a:r>
            <a:r>
              <a:rPr lang="en-US" dirty="0" err="1"/>
              <a:t>hình</a:t>
            </a:r>
            <a:endParaRPr lang="en-US" dirty="0"/>
          </a:p>
        </p:txBody>
      </p:sp>
      <p:pic>
        <p:nvPicPr>
          <p:cNvPr id="3" name="Hình ảnh 2">
            <a:extLst>
              <a:ext uri="{FF2B5EF4-FFF2-40B4-BE49-F238E27FC236}">
                <a16:creationId xmlns:a16="http://schemas.microsoft.com/office/drawing/2014/main" id="{C2CDC0CF-5B72-CBA2-228F-E5077EF8CCFA}"/>
              </a:ext>
            </a:extLst>
          </p:cNvPr>
          <p:cNvPicPr>
            <a:picLocks noChangeAspect="1"/>
          </p:cNvPicPr>
          <p:nvPr/>
        </p:nvPicPr>
        <p:blipFill>
          <a:blip r:embed="rId2"/>
          <a:stretch>
            <a:fillRect/>
          </a:stretch>
        </p:blipFill>
        <p:spPr>
          <a:xfrm>
            <a:off x="7241277" y="1563624"/>
            <a:ext cx="3712473" cy="4743025"/>
          </a:xfrm>
          <a:prstGeom prst="rect">
            <a:avLst/>
          </a:prstGeom>
        </p:spPr>
      </p:pic>
    </p:spTree>
    <p:extLst>
      <p:ext uri="{BB962C8B-B14F-4D97-AF65-F5344CB8AC3E}">
        <p14:creationId xmlns:p14="http://schemas.microsoft.com/office/powerpoint/2010/main" val="33675845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BE89A-3966-5559-5114-2354B407344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050C81-23AE-DF49-2DC5-5221FDBFF3B3}"/>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III. </a:t>
            </a:r>
            <a:r>
              <a:rPr lang="en-US" sz="4400" b="1" dirty="0" err="1"/>
              <a:t>Chọn</a:t>
            </a:r>
            <a:r>
              <a:rPr lang="en-US" sz="4400" b="1" dirty="0"/>
              <a:t> </a:t>
            </a:r>
            <a:r>
              <a:rPr lang="en-US" sz="4400" b="1" dirty="0" err="1"/>
              <a:t>ra</a:t>
            </a:r>
            <a:r>
              <a:rPr lang="en-US" sz="4400" b="1" dirty="0"/>
              <a:t> model </a:t>
            </a:r>
            <a:r>
              <a:rPr lang="en-US" sz="4400" b="1" dirty="0" err="1"/>
              <a:t>tốt</a:t>
            </a:r>
            <a:r>
              <a:rPr lang="en-US" sz="4400" b="1" dirty="0"/>
              <a:t> </a:t>
            </a:r>
            <a:r>
              <a:rPr lang="en-US" sz="4400" b="1" dirty="0" err="1"/>
              <a:t>nhất</a:t>
            </a:r>
            <a:r>
              <a:rPr lang="en-US" sz="4400" b="1" dirty="0"/>
              <a:t> </a:t>
            </a:r>
            <a:r>
              <a:rPr lang="en-US" sz="4400" b="1" dirty="0" err="1"/>
              <a:t>và</a:t>
            </a:r>
            <a:r>
              <a:rPr lang="en-US" sz="4400" b="1" dirty="0"/>
              <a:t> </a:t>
            </a:r>
            <a:r>
              <a:rPr lang="en-US" sz="4400" b="1" dirty="0" err="1"/>
              <a:t>điều</a:t>
            </a:r>
            <a:r>
              <a:rPr lang="en-US" sz="4400" b="1" dirty="0"/>
              <a:t> </a:t>
            </a:r>
            <a:r>
              <a:rPr lang="en-US" sz="4400" b="1" dirty="0" err="1"/>
              <a:t>chỉnh</a:t>
            </a:r>
            <a:br>
              <a:rPr lang="en-US" sz="2600" u="sng" dirty="0"/>
            </a:br>
            <a:endParaRPr lang="en-US" sz="2600" u="sng" dirty="0"/>
          </a:p>
        </p:txBody>
      </p:sp>
      <p:sp>
        <p:nvSpPr>
          <p:cNvPr id="4" name="Hộp Văn bản 3">
            <a:extLst>
              <a:ext uri="{FF2B5EF4-FFF2-40B4-BE49-F238E27FC236}">
                <a16:creationId xmlns:a16="http://schemas.microsoft.com/office/drawing/2014/main" id="{2D2054D7-8D54-99C5-E545-DF8F1D06DE73}"/>
              </a:ext>
            </a:extLst>
          </p:cNvPr>
          <p:cNvSpPr txBox="1"/>
          <p:nvPr/>
        </p:nvSpPr>
        <p:spPr>
          <a:xfrm>
            <a:off x="517867" y="1359527"/>
            <a:ext cx="6184685" cy="646331"/>
          </a:xfrm>
          <a:prstGeom prst="rect">
            <a:avLst/>
          </a:prstGeom>
          <a:noFill/>
        </p:spPr>
        <p:txBody>
          <a:bodyPr wrap="square">
            <a:spAutoFit/>
          </a:bodyPr>
          <a:lstStyle/>
          <a:p>
            <a:pPr algn="ctr"/>
            <a:r>
              <a:rPr lang="en-US" b="1" dirty="0" err="1"/>
              <a:t>Mô</a:t>
            </a:r>
            <a:r>
              <a:rPr lang="en-US" b="1" dirty="0"/>
              <a:t> </a:t>
            </a:r>
            <a:r>
              <a:rPr lang="en-US" b="1" dirty="0" err="1"/>
              <a:t>hình</a:t>
            </a:r>
            <a:r>
              <a:rPr lang="en-US" b="1" dirty="0"/>
              <a:t> SVM </a:t>
            </a:r>
            <a:r>
              <a:rPr lang="en-US" b="1" dirty="0" err="1"/>
              <a:t>đang</a:t>
            </a:r>
            <a:r>
              <a:rPr lang="en-US" b="1" dirty="0"/>
              <a:t> </a:t>
            </a:r>
            <a:r>
              <a:rPr lang="en-US" b="1" dirty="0" err="1"/>
              <a:t>có</a:t>
            </a:r>
            <a:r>
              <a:rPr lang="en-US" b="1" dirty="0"/>
              <a:t> </a:t>
            </a:r>
            <a:r>
              <a:rPr lang="en-US" b="1" dirty="0" err="1"/>
              <a:t>độ</a:t>
            </a:r>
            <a:r>
              <a:rPr lang="en-US" b="1" dirty="0"/>
              <a:t> </a:t>
            </a:r>
            <a:r>
              <a:rPr lang="en-US" b="1" dirty="0" err="1"/>
              <a:t>chính</a:t>
            </a:r>
            <a:r>
              <a:rPr lang="en-US" b="1" dirty="0"/>
              <a:t> </a:t>
            </a:r>
            <a:r>
              <a:rPr lang="en-US" b="1" dirty="0" err="1"/>
              <a:t>xác</a:t>
            </a:r>
            <a:r>
              <a:rPr lang="en-US" b="1" dirty="0"/>
              <a:t> </a:t>
            </a:r>
            <a:r>
              <a:rPr lang="en-US" b="1" dirty="0" err="1"/>
              <a:t>cao</a:t>
            </a:r>
            <a:r>
              <a:rPr lang="en-US" b="1" dirty="0"/>
              <a:t> </a:t>
            </a:r>
            <a:r>
              <a:rPr lang="en-US" b="1" dirty="0" err="1"/>
              <a:t>nhất</a:t>
            </a:r>
            <a:r>
              <a:rPr lang="en-US" b="1" dirty="0"/>
              <a:t> </a:t>
            </a:r>
            <a:r>
              <a:rPr lang="en-US" b="1" dirty="0" err="1"/>
              <a:t>trong</a:t>
            </a:r>
            <a:r>
              <a:rPr lang="en-US" b="1" dirty="0"/>
              <a:t> </a:t>
            </a:r>
            <a:r>
              <a:rPr lang="en-US" b="1" dirty="0" err="1"/>
              <a:t>các</a:t>
            </a:r>
            <a:r>
              <a:rPr lang="en-US" b="1" dirty="0"/>
              <a:t> models </a:t>
            </a:r>
            <a:r>
              <a:rPr lang="en-US" b="1" dirty="0" err="1"/>
              <a:t>cho</a:t>
            </a:r>
            <a:r>
              <a:rPr lang="en-US" b="1" dirty="0"/>
              <a:t> </a:t>
            </a:r>
            <a:r>
              <a:rPr lang="en-US" b="1" dirty="0" err="1"/>
              <a:t>nên</a:t>
            </a:r>
            <a:r>
              <a:rPr lang="en-US" b="1" dirty="0"/>
              <a:t> </a:t>
            </a:r>
            <a:r>
              <a:rPr lang="en-US" b="1" dirty="0" err="1"/>
              <a:t>sẽ</a:t>
            </a:r>
            <a:r>
              <a:rPr lang="en-US" b="1" dirty="0"/>
              <a:t> </a:t>
            </a:r>
            <a:r>
              <a:rPr lang="en-US" b="1" dirty="0" err="1"/>
              <a:t>dùng</a:t>
            </a:r>
            <a:r>
              <a:rPr lang="en-US" b="1" dirty="0"/>
              <a:t> SVM </a:t>
            </a:r>
            <a:r>
              <a:rPr lang="en-US" b="1" dirty="0" err="1"/>
              <a:t>để</a:t>
            </a:r>
            <a:r>
              <a:rPr lang="en-US" b="1" dirty="0"/>
              <a:t> </a:t>
            </a:r>
            <a:r>
              <a:rPr lang="en-US" b="1" dirty="0" err="1"/>
              <a:t>tinh</a:t>
            </a:r>
            <a:r>
              <a:rPr lang="en-US" b="1" dirty="0"/>
              <a:t> </a:t>
            </a:r>
            <a:r>
              <a:rPr lang="en-US" b="1" dirty="0" err="1"/>
              <a:t>chỉnh</a:t>
            </a:r>
            <a:endParaRPr lang="en-US" b="1" dirty="0"/>
          </a:p>
        </p:txBody>
      </p:sp>
      <p:sp>
        <p:nvSpPr>
          <p:cNvPr id="5" name="Rectangle 2">
            <a:extLst>
              <a:ext uri="{FF2B5EF4-FFF2-40B4-BE49-F238E27FC236}">
                <a16:creationId xmlns:a16="http://schemas.microsoft.com/office/drawing/2014/main" id="{5E2FB41B-0FE5-D5C4-A61E-4E8A4B9B8D1B}"/>
              </a:ext>
            </a:extLst>
          </p:cNvPr>
          <p:cNvSpPr>
            <a:spLocks noChangeArrowheads="1"/>
          </p:cNvSpPr>
          <p:nvPr/>
        </p:nvSpPr>
        <p:spPr bwMode="auto">
          <a:xfrm>
            <a:off x="517867" y="2365475"/>
            <a:ext cx="5730240" cy="14311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Áp</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dụng</a:t>
            </a:r>
            <a:r>
              <a:rPr kumimoji="0" lang="en-US" altLang="en-US" sz="1800" i="0" u="none" strike="noStrike" cap="none" normalizeH="0" baseline="0" dirty="0">
                <a:ln>
                  <a:noFill/>
                </a:ln>
                <a:solidFill>
                  <a:schemeClr val="tx1"/>
                </a:solidFill>
                <a:effectLst/>
                <a:latin typeface="Google Sans Text"/>
              </a:rPr>
              <a:t> Grid Search (</a:t>
            </a:r>
            <a:r>
              <a:rPr kumimoji="0" lang="en-US" altLang="en-US" sz="1800" i="0" u="none" strike="noStrike" cap="none" normalizeH="0" baseline="0" dirty="0" err="1">
                <a:ln>
                  <a:noFill/>
                </a:ln>
                <a:solidFill>
                  <a:schemeClr val="tx1"/>
                </a:solidFill>
                <a:effectLst/>
                <a:latin typeface="Google Sans Text"/>
              </a:rPr>
              <a:t>Tìm</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kiếm</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Lưới</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để</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thử</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nghiệm</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mọi</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sự</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kết</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hợp</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có</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thể</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của</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các</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siêu</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tham</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số</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được</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định</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nghĩa</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trước</a:t>
            </a:r>
            <a:r>
              <a:rPr kumimoji="0" lang="en-US" altLang="en-US" sz="1800" i="0" u="none" strike="noStrike" cap="none" normalizeH="0" baseline="0" dirty="0">
                <a:ln>
                  <a:noFill/>
                </a:ln>
                <a:solidFill>
                  <a:schemeClr val="tx1"/>
                </a:solidFill>
                <a:effectLst/>
                <a:latin typeface="Google Sans Text"/>
              </a:rPr>
              <a:t>.</a:t>
            </a:r>
          </a:p>
          <a:p>
            <a:pPr marL="0" marR="0" lvl="0" indent="0" algn="l" defTabSz="914400" rtl="0" eaLnBrk="0" fontAlgn="base" latinLnBrk="0" hangingPunct="0">
              <a:lnSpc>
                <a:spcPct val="100000"/>
              </a:lnSpc>
              <a:spcBef>
                <a:spcPct val="0"/>
              </a:spcBef>
              <a:spcAft>
                <a:spcPct val="0"/>
              </a:spcAft>
              <a:buClrTx/>
              <a:buSzTx/>
              <a:tabLst/>
            </a:pPr>
            <a:r>
              <a:rPr lang="en-US" altLang="en-US" dirty="0">
                <a:latin typeface="Google Sans Text"/>
              </a:rPr>
              <a:t> </a:t>
            </a:r>
            <a:r>
              <a:rPr kumimoji="0" lang="en-US" altLang="en-US" sz="1800" i="0" u="none" strike="noStrike" cap="none" normalizeH="0" baseline="0" dirty="0" err="1">
                <a:ln>
                  <a:noFill/>
                </a:ln>
                <a:solidFill>
                  <a:schemeClr val="tx1"/>
                </a:solidFill>
                <a:effectLst/>
                <a:latin typeface="Google Sans Text"/>
              </a:rPr>
              <a:t>Đánh</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giá</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Sử</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dụng</a:t>
            </a:r>
            <a:r>
              <a:rPr kumimoji="0" lang="en-US" altLang="en-US" sz="1800" i="0" u="none" strike="noStrike" cap="none" normalizeH="0" baseline="0" dirty="0">
                <a:ln>
                  <a:noFill/>
                </a:ln>
                <a:solidFill>
                  <a:schemeClr val="tx1"/>
                </a:solidFill>
                <a:effectLst/>
                <a:latin typeface="Google Sans Text"/>
              </a:rPr>
              <a:t> Cross-Validation </a:t>
            </a:r>
            <a:r>
              <a:rPr kumimoji="0" lang="en-US" altLang="en-US" sz="1800" i="0" u="none" strike="noStrike" cap="none" normalizeH="0" baseline="0" dirty="0" err="1">
                <a:ln>
                  <a:noFill/>
                </a:ln>
                <a:solidFill>
                  <a:schemeClr val="tx1"/>
                </a:solidFill>
                <a:effectLst/>
                <a:latin typeface="Google Sans Text"/>
              </a:rPr>
              <a:t>và</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chỉ</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số</a:t>
            </a:r>
            <a:r>
              <a:rPr kumimoji="0" lang="en-US" altLang="en-US" sz="1800" i="0" u="none" strike="noStrike" cap="none" normalizeH="0" baseline="0" dirty="0">
                <a:ln>
                  <a:noFill/>
                </a:ln>
                <a:solidFill>
                  <a:schemeClr val="tx1"/>
                </a:solidFill>
                <a:effectLst/>
                <a:latin typeface="Google Sans Text"/>
              </a:rPr>
              <a:t> Accuracy </a:t>
            </a:r>
            <a:r>
              <a:rPr kumimoji="0" lang="en-US" altLang="en-US" sz="1800" i="0" u="none" strike="noStrike" cap="none" normalizeH="0" baseline="0" dirty="0" err="1">
                <a:ln>
                  <a:noFill/>
                </a:ln>
                <a:solidFill>
                  <a:schemeClr val="tx1"/>
                </a:solidFill>
                <a:effectLst/>
                <a:latin typeface="Google Sans Text"/>
              </a:rPr>
              <a:t>để</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đánh</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giá</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từng</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sự</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kết</a:t>
            </a:r>
            <a:r>
              <a:rPr kumimoji="0" lang="en-US" altLang="en-US" sz="1800" i="0" u="none" strike="noStrike" cap="none" normalizeH="0" baseline="0" dirty="0">
                <a:ln>
                  <a:noFill/>
                </a:ln>
                <a:solidFill>
                  <a:schemeClr val="tx1"/>
                </a:solidFill>
                <a:effectLst/>
                <a:latin typeface="Google Sans Text"/>
              </a:rPr>
              <a:t> </a:t>
            </a:r>
            <a:r>
              <a:rPr kumimoji="0" lang="en-US" altLang="en-US" sz="1800" i="0" u="none" strike="noStrike" cap="none" normalizeH="0" baseline="0" dirty="0" err="1">
                <a:ln>
                  <a:noFill/>
                </a:ln>
                <a:solidFill>
                  <a:schemeClr val="tx1"/>
                </a:solidFill>
                <a:effectLst/>
                <a:latin typeface="Google Sans Text"/>
              </a:rPr>
              <a:t>hợp</a:t>
            </a:r>
            <a:r>
              <a:rPr kumimoji="0" lang="en-US" altLang="en-US" sz="1800" i="0" u="none" strike="noStrike" cap="none" normalizeH="0" baseline="0" dirty="0">
                <a:ln>
                  <a:noFill/>
                </a:ln>
                <a:solidFill>
                  <a:schemeClr val="tx1"/>
                </a:solidFill>
                <a:effectLst/>
                <a:latin typeface="Google Sans Text"/>
              </a:rPr>
              <a:t>.</a:t>
            </a:r>
            <a:endParaRPr kumimoji="0" lang="en-US" altLang="en-US" sz="1800" i="0" u="none" strike="noStrike" cap="none" normalizeH="0" baseline="0" dirty="0">
              <a:ln>
                <a:noFill/>
              </a:ln>
              <a:solidFill>
                <a:schemeClr val="tx1"/>
              </a:solidFill>
              <a:effectLst/>
              <a:latin typeface="Arial" panose="020B0604020202020204" pitchFamily="34" charset="0"/>
            </a:endParaRPr>
          </a:p>
        </p:txBody>
      </p:sp>
      <p:pic>
        <p:nvPicPr>
          <p:cNvPr id="8" name="Hình ảnh 7">
            <a:extLst>
              <a:ext uri="{FF2B5EF4-FFF2-40B4-BE49-F238E27FC236}">
                <a16:creationId xmlns:a16="http://schemas.microsoft.com/office/drawing/2014/main" id="{3A7880EE-ED3D-BD48-6D93-BC0C244390C9}"/>
              </a:ext>
            </a:extLst>
          </p:cNvPr>
          <p:cNvPicPr>
            <a:picLocks noChangeAspect="1"/>
          </p:cNvPicPr>
          <p:nvPr/>
        </p:nvPicPr>
        <p:blipFill>
          <a:blip r:embed="rId2"/>
          <a:stretch>
            <a:fillRect/>
          </a:stretch>
        </p:blipFill>
        <p:spPr>
          <a:xfrm>
            <a:off x="517867" y="4061233"/>
            <a:ext cx="4992284" cy="2598185"/>
          </a:xfrm>
          <a:prstGeom prst="rect">
            <a:avLst/>
          </a:prstGeom>
        </p:spPr>
      </p:pic>
      <p:pic>
        <p:nvPicPr>
          <p:cNvPr id="12" name="Hình ảnh 11">
            <a:extLst>
              <a:ext uri="{FF2B5EF4-FFF2-40B4-BE49-F238E27FC236}">
                <a16:creationId xmlns:a16="http://schemas.microsoft.com/office/drawing/2014/main" id="{B7106942-DE0F-D114-2F28-D6BF90A33FB5}"/>
              </a:ext>
            </a:extLst>
          </p:cNvPr>
          <p:cNvPicPr>
            <a:picLocks noChangeAspect="1"/>
          </p:cNvPicPr>
          <p:nvPr/>
        </p:nvPicPr>
        <p:blipFill>
          <a:blip r:embed="rId3"/>
          <a:stretch>
            <a:fillRect/>
          </a:stretch>
        </p:blipFill>
        <p:spPr>
          <a:xfrm>
            <a:off x="6937542" y="2005858"/>
            <a:ext cx="4867954" cy="2600688"/>
          </a:xfrm>
          <a:prstGeom prst="rect">
            <a:avLst/>
          </a:prstGeom>
        </p:spPr>
      </p:pic>
      <p:cxnSp>
        <p:nvCxnSpPr>
          <p:cNvPr id="14" name="Đường nối Thẳng 13">
            <a:extLst>
              <a:ext uri="{FF2B5EF4-FFF2-40B4-BE49-F238E27FC236}">
                <a16:creationId xmlns:a16="http://schemas.microsoft.com/office/drawing/2014/main" id="{AF826FB6-09A3-0097-B10A-06FACBF55992}"/>
              </a:ext>
            </a:extLst>
          </p:cNvPr>
          <p:cNvCxnSpPr/>
          <p:nvPr/>
        </p:nvCxnSpPr>
        <p:spPr>
          <a:xfrm>
            <a:off x="6592824" y="1426464"/>
            <a:ext cx="0" cy="5431536"/>
          </a:xfrm>
          <a:prstGeom prst="line">
            <a:avLst/>
          </a:prstGeom>
        </p:spPr>
        <p:style>
          <a:lnRef idx="2">
            <a:schemeClr val="dk1"/>
          </a:lnRef>
          <a:fillRef idx="0">
            <a:schemeClr val="dk1"/>
          </a:fillRef>
          <a:effectRef idx="1">
            <a:schemeClr val="dk1"/>
          </a:effectRef>
          <a:fontRef idx="minor">
            <a:schemeClr val="tx1"/>
          </a:fontRef>
        </p:style>
      </p:cxnSp>
      <p:sp>
        <p:nvSpPr>
          <p:cNvPr id="16" name="Hộp Văn bản 15">
            <a:extLst>
              <a:ext uri="{FF2B5EF4-FFF2-40B4-BE49-F238E27FC236}">
                <a16:creationId xmlns:a16="http://schemas.microsoft.com/office/drawing/2014/main" id="{F82EF120-1DDB-5C62-655E-CD5F5FEE0454}"/>
              </a:ext>
            </a:extLst>
          </p:cNvPr>
          <p:cNvSpPr txBox="1"/>
          <p:nvPr/>
        </p:nvSpPr>
        <p:spPr>
          <a:xfrm>
            <a:off x="6937542" y="1359527"/>
            <a:ext cx="4136689" cy="646331"/>
          </a:xfrm>
          <a:prstGeom prst="rect">
            <a:avLst/>
          </a:prstGeom>
          <a:noFill/>
        </p:spPr>
        <p:txBody>
          <a:bodyPr wrap="square">
            <a:spAutoFit/>
          </a:bodyPr>
          <a:lstStyle/>
          <a:p>
            <a:r>
              <a:rPr lang="vi-VN" dirty="0"/>
              <a:t>Tìm ra Bộ Siêu Tham số Tối ưu (</a:t>
            </a:r>
            <a:r>
              <a:rPr lang="vi-VN" dirty="0" err="1"/>
              <a:t>Best</a:t>
            </a:r>
            <a:r>
              <a:rPr lang="vi-VN" dirty="0"/>
              <a:t> </a:t>
            </a:r>
            <a:r>
              <a:rPr lang="vi-VN" dirty="0" err="1"/>
              <a:t>Parameters</a:t>
            </a:r>
            <a:r>
              <a:rPr lang="vi-VN" dirty="0"/>
              <a:t>) cho mô hình SVC</a:t>
            </a:r>
            <a:endParaRPr lang="en-US" dirty="0"/>
          </a:p>
        </p:txBody>
      </p:sp>
      <p:sp>
        <p:nvSpPr>
          <p:cNvPr id="17" name="Hộp Văn bản 16">
            <a:extLst>
              <a:ext uri="{FF2B5EF4-FFF2-40B4-BE49-F238E27FC236}">
                <a16:creationId xmlns:a16="http://schemas.microsoft.com/office/drawing/2014/main" id="{5AA08BF1-E34F-D634-2655-0659909FCACB}"/>
              </a:ext>
            </a:extLst>
          </p:cNvPr>
          <p:cNvSpPr txBox="1"/>
          <p:nvPr/>
        </p:nvSpPr>
        <p:spPr>
          <a:xfrm>
            <a:off x="6937541" y="4768858"/>
            <a:ext cx="4136689" cy="369332"/>
          </a:xfrm>
          <a:prstGeom prst="rect">
            <a:avLst/>
          </a:prstGeom>
          <a:noFill/>
        </p:spPr>
        <p:txBody>
          <a:bodyPr wrap="square">
            <a:spAutoFit/>
          </a:bodyPr>
          <a:lstStyle/>
          <a:p>
            <a:r>
              <a:rPr lang="en-US" dirty="0" err="1"/>
              <a:t>Đánh</a:t>
            </a:r>
            <a:r>
              <a:rPr lang="en-US" dirty="0"/>
              <a:t> </a:t>
            </a:r>
            <a:r>
              <a:rPr lang="en-US" dirty="0" err="1"/>
              <a:t>giá</a:t>
            </a:r>
            <a:r>
              <a:rPr lang="en-US" dirty="0"/>
              <a:t> </a:t>
            </a:r>
            <a:r>
              <a:rPr lang="en-US" dirty="0" err="1"/>
              <a:t>lại</a:t>
            </a:r>
            <a:r>
              <a:rPr lang="en-US" dirty="0"/>
              <a:t> </a:t>
            </a:r>
            <a:r>
              <a:rPr lang="en-US" dirty="0" err="1"/>
              <a:t>mô</a:t>
            </a:r>
            <a:r>
              <a:rPr lang="en-US" dirty="0"/>
              <a:t> </a:t>
            </a:r>
            <a:r>
              <a:rPr lang="en-US" dirty="0" err="1"/>
              <a:t>hình</a:t>
            </a:r>
            <a:r>
              <a:rPr lang="en-US" dirty="0"/>
              <a:t>:</a:t>
            </a:r>
          </a:p>
        </p:txBody>
      </p:sp>
      <p:pic>
        <p:nvPicPr>
          <p:cNvPr id="21" name="Hình ảnh 20">
            <a:extLst>
              <a:ext uri="{FF2B5EF4-FFF2-40B4-BE49-F238E27FC236}">
                <a16:creationId xmlns:a16="http://schemas.microsoft.com/office/drawing/2014/main" id="{8399CF18-E6FF-363B-7FD5-5CA4087517B3}"/>
              </a:ext>
            </a:extLst>
          </p:cNvPr>
          <p:cNvPicPr>
            <a:picLocks noChangeAspect="1"/>
          </p:cNvPicPr>
          <p:nvPr/>
        </p:nvPicPr>
        <p:blipFill>
          <a:blip r:embed="rId4"/>
          <a:stretch>
            <a:fillRect/>
          </a:stretch>
        </p:blipFill>
        <p:spPr>
          <a:xfrm>
            <a:off x="6937541" y="5360325"/>
            <a:ext cx="3353343" cy="1182113"/>
          </a:xfrm>
          <a:prstGeom prst="rect">
            <a:avLst/>
          </a:prstGeom>
        </p:spPr>
      </p:pic>
    </p:spTree>
    <p:extLst>
      <p:ext uri="{BB962C8B-B14F-4D97-AF65-F5344CB8AC3E}">
        <p14:creationId xmlns:p14="http://schemas.microsoft.com/office/powerpoint/2010/main" val="270411004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E64AA-DDBF-4626-CB9D-010FDE3DF1B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1141402-8599-BD1A-AA2A-FD4D66533463}"/>
              </a:ext>
            </a:extLst>
          </p:cNvPr>
          <p:cNvSpPr txBox="1"/>
          <p:nvPr/>
        </p:nvSpPr>
        <p:spPr>
          <a:xfrm>
            <a:off x="517867" y="713232"/>
            <a:ext cx="9473692" cy="850392"/>
          </a:xfrm>
          <a:prstGeom prst="rect">
            <a:avLst/>
          </a:prstGeom>
        </p:spPr>
        <p:txBody>
          <a:bodyPr vert="horz" lIns="91440" tIns="45720" rIns="91440" bIns="45720" rtlCol="0" anchor="t">
            <a:normAutofit fontScale="70000" lnSpcReduction="20000"/>
          </a:bodyPr>
          <a:lstStyle/>
          <a:p>
            <a:pPr>
              <a:lnSpc>
                <a:spcPct val="120000"/>
              </a:lnSpc>
              <a:spcBef>
                <a:spcPct val="0"/>
              </a:spcBef>
              <a:spcAft>
                <a:spcPts val="600"/>
              </a:spcAft>
            </a:pPr>
            <a:r>
              <a:rPr lang="en-US" sz="4400" b="1" dirty="0"/>
              <a:t>IV. </a:t>
            </a:r>
            <a:r>
              <a:rPr lang="en-US" sz="4400" b="1" dirty="0" err="1"/>
              <a:t>Nộp</a:t>
            </a:r>
            <a:r>
              <a:rPr lang="en-US" sz="4400" b="1" dirty="0"/>
              <a:t> </a:t>
            </a:r>
            <a:r>
              <a:rPr lang="en-US" sz="4400" b="1" dirty="0" err="1"/>
              <a:t>bài</a:t>
            </a:r>
            <a:r>
              <a:rPr lang="en-US" sz="4400" b="1" dirty="0"/>
              <a:t> </a:t>
            </a:r>
            <a:r>
              <a:rPr lang="en-US" sz="4400" b="1" dirty="0" err="1"/>
              <a:t>lên</a:t>
            </a:r>
            <a:r>
              <a:rPr lang="en-US" sz="4400" b="1" dirty="0"/>
              <a:t> </a:t>
            </a:r>
            <a:r>
              <a:rPr lang="en-US" sz="4400" b="1" dirty="0" err="1"/>
              <a:t>cuộc</a:t>
            </a:r>
            <a:r>
              <a:rPr lang="en-US" sz="4400" b="1" dirty="0"/>
              <a:t> </a:t>
            </a:r>
            <a:r>
              <a:rPr lang="en-US" sz="4400" b="1" dirty="0" err="1"/>
              <a:t>thi</a:t>
            </a:r>
            <a:r>
              <a:rPr lang="en-US" sz="4400" b="1" dirty="0"/>
              <a:t> Kaggle </a:t>
            </a:r>
            <a:r>
              <a:rPr lang="en-US" sz="4400" b="1" dirty="0" err="1"/>
              <a:t>và</a:t>
            </a:r>
            <a:r>
              <a:rPr lang="en-US" sz="4400" b="1" dirty="0"/>
              <a:t> </a:t>
            </a:r>
            <a:r>
              <a:rPr lang="en-US" sz="4400" b="1" dirty="0" err="1"/>
              <a:t>kết</a:t>
            </a:r>
            <a:r>
              <a:rPr lang="en-US" sz="4400" b="1" dirty="0"/>
              <a:t> </a:t>
            </a:r>
            <a:r>
              <a:rPr lang="en-US" sz="4400" b="1" dirty="0" err="1"/>
              <a:t>luận</a:t>
            </a:r>
            <a:br>
              <a:rPr lang="en-US" sz="2600" u="sng" dirty="0"/>
            </a:br>
            <a:endParaRPr lang="en-US" sz="2600" u="sng" dirty="0"/>
          </a:p>
        </p:txBody>
      </p:sp>
      <p:sp>
        <p:nvSpPr>
          <p:cNvPr id="3" name="Hộp Văn bản 2">
            <a:extLst>
              <a:ext uri="{FF2B5EF4-FFF2-40B4-BE49-F238E27FC236}">
                <a16:creationId xmlns:a16="http://schemas.microsoft.com/office/drawing/2014/main" id="{382658A5-81A8-FF75-FB3C-9BD7AAE156F4}"/>
              </a:ext>
            </a:extLst>
          </p:cNvPr>
          <p:cNvSpPr txBox="1"/>
          <p:nvPr/>
        </p:nvSpPr>
        <p:spPr>
          <a:xfrm>
            <a:off x="1947525" y="1563624"/>
            <a:ext cx="8296949" cy="923330"/>
          </a:xfrm>
          <a:prstGeom prst="rect">
            <a:avLst/>
          </a:prstGeom>
          <a:noFill/>
        </p:spPr>
        <p:txBody>
          <a:bodyPr wrap="square">
            <a:spAutoFit/>
          </a:bodyPr>
          <a:lstStyle/>
          <a:p>
            <a:pPr algn="ctr"/>
            <a:r>
              <a:rPr lang="vi-VN" b="1" dirty="0"/>
              <a:t>Kết quả kiểm định cho thấy SVM nổi bật với hiệu suất ổn định và đáng tin cậy. Mô hình này đã đạt được các chỉ số ROC AUC và F1 </a:t>
            </a:r>
            <a:r>
              <a:rPr lang="vi-VN" b="1" dirty="0" err="1"/>
              <a:t>Score</a:t>
            </a:r>
            <a:r>
              <a:rPr lang="vi-VN" b="1" dirty="0"/>
              <a:t> cao nhất, vượt qua các thuật toán khác. SVM là lựa chọn mạnh mẽ và hiệu quả</a:t>
            </a:r>
            <a:r>
              <a:rPr lang="en-US" b="1" dirty="0"/>
              <a:t>.</a:t>
            </a:r>
          </a:p>
        </p:txBody>
      </p:sp>
      <p:pic>
        <p:nvPicPr>
          <p:cNvPr id="9" name="Hình ảnh 8">
            <a:extLst>
              <a:ext uri="{FF2B5EF4-FFF2-40B4-BE49-F238E27FC236}">
                <a16:creationId xmlns:a16="http://schemas.microsoft.com/office/drawing/2014/main" id="{23CE4A5A-4F49-EC67-105B-92D04935A0D0}"/>
              </a:ext>
            </a:extLst>
          </p:cNvPr>
          <p:cNvPicPr>
            <a:picLocks noChangeAspect="1"/>
          </p:cNvPicPr>
          <p:nvPr/>
        </p:nvPicPr>
        <p:blipFill>
          <a:blip r:embed="rId2"/>
          <a:stretch>
            <a:fillRect/>
          </a:stretch>
        </p:blipFill>
        <p:spPr>
          <a:xfrm>
            <a:off x="270648" y="4209760"/>
            <a:ext cx="11650701" cy="1419423"/>
          </a:xfrm>
          <a:prstGeom prst="rect">
            <a:avLst/>
          </a:prstGeom>
        </p:spPr>
      </p:pic>
    </p:spTree>
    <p:extLst>
      <p:ext uri="{BB962C8B-B14F-4D97-AF65-F5344CB8AC3E}">
        <p14:creationId xmlns:p14="http://schemas.microsoft.com/office/powerpoint/2010/main" val="15125992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Hình ảnh 2">
            <a:extLst>
              <a:ext uri="{FF2B5EF4-FFF2-40B4-BE49-F238E27FC236}">
                <a16:creationId xmlns:a16="http://schemas.microsoft.com/office/drawing/2014/main" id="{6D71D0CC-DC6C-3E6A-9718-32175463FB9B}"/>
              </a:ext>
            </a:extLst>
          </p:cNvPr>
          <p:cNvPicPr>
            <a:picLocks noChangeAspect="1"/>
          </p:cNvPicPr>
          <p:nvPr/>
        </p:nvPicPr>
        <p:blipFill>
          <a:blip r:embed="rId2"/>
          <a:srcRect t="4517" b="11213"/>
          <a:stretch>
            <a:fillRect/>
          </a:stretch>
        </p:blipFill>
        <p:spPr>
          <a:xfrm>
            <a:off x="20" y="10"/>
            <a:ext cx="12191980" cy="6857990"/>
          </a:xfrm>
          <a:prstGeom prst="rect">
            <a:avLst/>
          </a:prstGeom>
        </p:spPr>
      </p:pic>
      <p:sp>
        <p:nvSpPr>
          <p:cNvPr id="201" name="Rectangle 200">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FA7594-6CC2-5073-C8B9-DF0CEB2752D4}"/>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lang="en-US" sz="3600">
                <a:solidFill>
                  <a:schemeClr val="tx1">
                    <a:lumMod val="85000"/>
                    <a:lumOff val="15000"/>
                  </a:schemeClr>
                </a:solidFill>
              </a:rPr>
              <a:t>Thanks for Listening</a:t>
            </a:r>
          </a:p>
        </p:txBody>
      </p:sp>
      <p:cxnSp>
        <p:nvCxnSpPr>
          <p:cNvPr id="203" name="Straight Connector 202">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2524519"/>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p15:prstTrans prst="drap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505</TotalTime>
  <Words>1456</Words>
  <Application>Microsoft Office PowerPoint</Application>
  <PresentationFormat>Màn hình rộng</PresentationFormat>
  <Paragraphs>156</Paragraphs>
  <Slides>24</Slides>
  <Notes>2</Notes>
  <HiddenSlides>0</HiddenSlides>
  <MMClips>0</MMClips>
  <ScaleCrop>false</ScaleCrop>
  <HeadingPairs>
    <vt:vector size="6" baseType="variant">
      <vt:variant>
        <vt:lpstr>Phông được Dùng</vt:lpstr>
      </vt:variant>
      <vt:variant>
        <vt:i4>9</vt:i4>
      </vt:variant>
      <vt:variant>
        <vt:lpstr>Chủ đề</vt:lpstr>
      </vt:variant>
      <vt:variant>
        <vt:i4>2</vt:i4>
      </vt:variant>
      <vt:variant>
        <vt:lpstr>Tiêu đề Bản chiếu</vt:lpstr>
      </vt:variant>
      <vt:variant>
        <vt:i4>24</vt:i4>
      </vt:variant>
    </vt:vector>
  </HeadingPairs>
  <TitlesOfParts>
    <vt:vector size="35" baseType="lpstr">
      <vt:lpstr>Aptos</vt:lpstr>
      <vt:lpstr>Aptos Display</vt:lpstr>
      <vt:lpstr>Arial</vt:lpstr>
      <vt:lpstr>Bahnschrift SemiBold SemiConden</vt:lpstr>
      <vt:lpstr>Bierstadt</vt:lpstr>
      <vt:lpstr>Consolas</vt:lpstr>
      <vt:lpstr>Courier New</vt:lpstr>
      <vt:lpstr>Google Sans Text</vt:lpstr>
      <vt:lpstr>Neue Haas Grotesk Text Pro</vt:lpstr>
      <vt:lpstr>GestaltVTI</vt:lpstr>
      <vt:lpstr>Office Theme</vt:lpstr>
      <vt:lpstr>The Titanic: ML From Disaster</vt:lpstr>
      <vt:lpstr>I. Giới thiệu II. Phương pháp đề xuất III. Chọn mô hình tốt nhất IV. Nộp bài lên cuộc thi Kaggle và kết luận </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Thanks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Châu Hải Đăng</dc:creator>
  <cp:lastModifiedBy>Châu Hải Đăng</cp:lastModifiedBy>
  <cp:revision>2</cp:revision>
  <dcterms:created xsi:type="dcterms:W3CDTF">2025-10-10T12:04:11Z</dcterms:created>
  <dcterms:modified xsi:type="dcterms:W3CDTF">2025-10-30T07:14:24Z</dcterms:modified>
</cp:coreProperties>
</file>